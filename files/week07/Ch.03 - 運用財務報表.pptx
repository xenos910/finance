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6" r:id="rId9"/>
    <p:sldId id="304" r:id="rId10"/>
    <p:sldId id="257" r:id="rId11"/>
    <p:sldId id="267" r:id="rId12"/>
    <p:sldId id="305" r:id="rId13"/>
    <p:sldId id="269" r:id="rId14"/>
    <p:sldId id="270" r:id="rId15"/>
    <p:sldId id="271" r:id="rId16"/>
    <p:sldId id="306" r:id="rId17"/>
    <p:sldId id="272" r:id="rId18"/>
    <p:sldId id="273" r:id="rId19"/>
    <p:sldId id="274" r:id="rId20"/>
    <p:sldId id="307" r:id="rId21"/>
    <p:sldId id="275" r:id="rId22"/>
    <p:sldId id="276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</p:sldIdLst>
  <p:sldSz cx="15240000" cy="85725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28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昌碩" userId="f835a9ca-f231-4ac2-9887-24bf7a4c5c81" providerId="ADAL" clId="{29F11A1D-2DF3-489D-9E81-E43322F31BB4}"/>
    <pc:docChg chg="undo custSel addSld delSld modSld">
      <pc:chgData name="林昌碩" userId="f835a9ca-f231-4ac2-9887-24bf7a4c5c81" providerId="ADAL" clId="{29F11A1D-2DF3-489D-9E81-E43322F31BB4}" dt="2026-10-15T15:55:07.180" v="2372" actId="14100"/>
      <pc:docMkLst>
        <pc:docMk/>
      </pc:docMkLst>
      <pc:sldChg chg="delSp mod modNotesTx">
        <pc:chgData name="林昌碩" userId="f835a9ca-f231-4ac2-9887-24bf7a4c5c81" providerId="ADAL" clId="{29F11A1D-2DF3-489D-9E81-E43322F31BB4}" dt="2026-10-15T11:20:45.695" v="1" actId="478"/>
        <pc:sldMkLst>
          <pc:docMk/>
          <pc:sldMk cId="71630270" sldId="256"/>
        </pc:sldMkLst>
        <pc:spChg chg="del">
          <ac:chgData name="林昌碩" userId="f835a9ca-f231-4ac2-9887-24bf7a4c5c81" providerId="ADAL" clId="{29F11A1D-2DF3-489D-9E81-E43322F31BB4}" dt="2026-10-15T11:20:45.695" v="1" actId="478"/>
          <ac:spMkLst>
            <pc:docMk/>
            <pc:sldMk cId="71630270" sldId="256"/>
            <ac:spMk id="4" creationId="{09303CB0-1A2C-44A8-9665-04E540AE6E68}"/>
          </ac:spMkLst>
        </pc:spChg>
      </pc:sldChg>
      <pc:sldChg chg="delSp add mod setBg modNotesTx">
        <pc:chgData name="林昌碩" userId="f835a9ca-f231-4ac2-9887-24bf7a4c5c81" providerId="ADAL" clId="{29F11A1D-2DF3-489D-9E81-E43322F31BB4}" dt="2026-10-15T12:20:45.571" v="341" actId="478"/>
        <pc:sldMkLst>
          <pc:docMk/>
          <pc:sldMk cId="424866830" sldId="257"/>
        </pc:sldMkLst>
        <pc:spChg chg="del">
          <ac:chgData name="林昌碩" userId="f835a9ca-f231-4ac2-9887-24bf7a4c5c81" providerId="ADAL" clId="{29F11A1D-2DF3-489D-9E81-E43322F31BB4}" dt="2026-10-15T12:20:45.571" v="341" actId="478"/>
          <ac:spMkLst>
            <pc:docMk/>
            <pc:sldMk cId="424866830" sldId="257"/>
            <ac:spMk id="6" creationId="{3253EECE-C2ED-422E-B61A-1BC2095AC01E}"/>
          </ac:spMkLst>
        </pc:spChg>
      </pc:sldChg>
      <pc:sldChg chg="del">
        <pc:chgData name="林昌碩" userId="f835a9ca-f231-4ac2-9887-24bf7a4c5c81" providerId="ADAL" clId="{29F11A1D-2DF3-489D-9E81-E43322F31BB4}" dt="2026-10-15T11:21:24.064" v="2" actId="47"/>
        <pc:sldMkLst>
          <pc:docMk/>
          <pc:sldMk cId="2007545538" sldId="257"/>
        </pc:sldMkLst>
      </pc:sldChg>
      <pc:sldChg chg="delSp modSp mod modNotesTx">
        <pc:chgData name="林昌碩" userId="f835a9ca-f231-4ac2-9887-24bf7a4c5c81" providerId="ADAL" clId="{29F11A1D-2DF3-489D-9E81-E43322F31BB4}" dt="2026-10-15T14:46:31.694" v="1665" actId="20577"/>
        <pc:sldMkLst>
          <pc:docMk/>
          <pc:sldMk cId="2007545538" sldId="258"/>
        </pc:sldMkLst>
        <pc:spChg chg="del">
          <ac:chgData name="林昌碩" userId="f835a9ca-f231-4ac2-9887-24bf7a4c5c81" providerId="ADAL" clId="{29F11A1D-2DF3-489D-9E81-E43322F31BB4}" dt="2026-10-15T11:21:30.248" v="4" actId="478"/>
          <ac:spMkLst>
            <pc:docMk/>
            <pc:sldMk cId="2007545538" sldId="258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29F11A1D-2DF3-489D-9E81-E43322F31BB4}" dt="2026-10-15T14:46:31.694" v="1665" actId="20577"/>
          <ac:graphicFrameMkLst>
            <pc:docMk/>
            <pc:sldMk cId="2007545538" sldId="258"/>
            <ac:graphicFrameMk id="17" creationId="{F628D6E7-73C3-4851-B902-D929A462A8B3}"/>
          </ac:graphicFrameMkLst>
        </pc:graphicFrameChg>
      </pc:sldChg>
      <pc:sldChg chg="delSp mod modNotesTx">
        <pc:chgData name="林昌碩" userId="f835a9ca-f231-4ac2-9887-24bf7a4c5c81" providerId="ADAL" clId="{29F11A1D-2DF3-489D-9E81-E43322F31BB4}" dt="2026-10-15T11:24:25.645" v="8" actId="478"/>
        <pc:sldMkLst>
          <pc:docMk/>
          <pc:sldMk cId="2007545538" sldId="259"/>
        </pc:sldMkLst>
        <pc:spChg chg="del">
          <ac:chgData name="林昌碩" userId="f835a9ca-f231-4ac2-9887-24bf7a4c5c81" providerId="ADAL" clId="{29F11A1D-2DF3-489D-9E81-E43322F31BB4}" dt="2026-10-15T11:24:25.645" v="8" actId="478"/>
          <ac:spMkLst>
            <pc:docMk/>
            <pc:sldMk cId="2007545538" sldId="259"/>
            <ac:spMk id="6" creationId="{3253EECE-C2ED-422E-B61A-1BC2095AC01E}"/>
          </ac:spMkLst>
        </pc:spChg>
      </pc:sldChg>
      <pc:sldChg chg="addSp delSp modSp mod modNotesTx">
        <pc:chgData name="林昌碩" userId="f835a9ca-f231-4ac2-9887-24bf7a4c5c81" providerId="ADAL" clId="{29F11A1D-2DF3-489D-9E81-E43322F31BB4}" dt="2026-10-15T11:26:18.259" v="19" actId="732"/>
        <pc:sldMkLst>
          <pc:docMk/>
          <pc:sldMk cId="2007545538" sldId="260"/>
        </pc:sldMkLst>
        <pc:spChg chg="del">
          <ac:chgData name="林昌碩" userId="f835a9ca-f231-4ac2-9887-24bf7a4c5c81" providerId="ADAL" clId="{29F11A1D-2DF3-489D-9E81-E43322F31BB4}" dt="2026-10-15T11:25:39.167" v="10" actId="478"/>
          <ac:spMkLst>
            <pc:docMk/>
            <pc:sldMk cId="2007545538" sldId="260"/>
            <ac:spMk id="6" creationId="{3253EECE-C2ED-422E-B61A-1BC2095AC01E}"/>
          </ac:spMkLst>
        </pc:spChg>
        <pc:spChg chg="del">
          <ac:chgData name="林昌碩" userId="f835a9ca-f231-4ac2-9887-24bf7a4c5c81" providerId="ADAL" clId="{29F11A1D-2DF3-489D-9E81-E43322F31BB4}" dt="2026-10-15T11:25:35.716" v="9" actId="478"/>
          <ac:spMkLst>
            <pc:docMk/>
            <pc:sldMk cId="2007545538" sldId="260"/>
            <ac:spMk id="18" creationId="{306C28B0-0AA7-4E71-86EA-21220A9FFB51}"/>
          </ac:spMkLst>
        </pc:spChg>
        <pc:graphicFrameChg chg="del">
          <ac:chgData name="林昌碩" userId="f835a9ca-f231-4ac2-9887-24bf7a4c5c81" providerId="ADAL" clId="{29F11A1D-2DF3-489D-9E81-E43322F31BB4}" dt="2026-10-15T11:25:45.387" v="12" actId="478"/>
          <ac:graphicFrameMkLst>
            <pc:docMk/>
            <pc:sldMk cId="2007545538" sldId="260"/>
            <ac:graphicFrameMk id="17" creationId="{B8DF9283-2C98-4895-AAC4-7A93AC574E33}"/>
          </ac:graphicFrameMkLst>
        </pc:graphicFrameChg>
        <pc:picChg chg="add mod modCrop">
          <ac:chgData name="林昌碩" userId="f835a9ca-f231-4ac2-9887-24bf7a4c5c81" providerId="ADAL" clId="{29F11A1D-2DF3-489D-9E81-E43322F31BB4}" dt="2026-10-15T11:26:18.259" v="19" actId="732"/>
          <ac:picMkLst>
            <pc:docMk/>
            <pc:sldMk cId="2007545538" sldId="260"/>
            <ac:picMk id="8" creationId="{82DA3825-A22D-F8B7-341D-EAA6361B90EB}"/>
          </ac:picMkLst>
        </pc:picChg>
      </pc:sldChg>
      <pc:sldChg chg="del">
        <pc:chgData name="林昌碩" userId="f835a9ca-f231-4ac2-9887-24bf7a4c5c81" providerId="ADAL" clId="{29F11A1D-2DF3-489D-9E81-E43322F31BB4}" dt="2026-10-15T11:26:50.313" v="20" actId="47"/>
        <pc:sldMkLst>
          <pc:docMk/>
          <pc:sldMk cId="2007545538" sldId="261"/>
        </pc:sldMkLst>
      </pc:sldChg>
      <pc:sldChg chg="addSp delSp modSp mod modNotesTx">
        <pc:chgData name="林昌碩" userId="f835a9ca-f231-4ac2-9887-24bf7a4c5c81" providerId="ADAL" clId="{29F11A1D-2DF3-489D-9E81-E43322F31BB4}" dt="2026-10-15T11:28:37.587" v="36" actId="1076"/>
        <pc:sldMkLst>
          <pc:docMk/>
          <pc:sldMk cId="2007545538" sldId="262"/>
        </pc:sldMkLst>
        <pc:spChg chg="del">
          <ac:chgData name="林昌碩" userId="f835a9ca-f231-4ac2-9887-24bf7a4c5c81" providerId="ADAL" clId="{29F11A1D-2DF3-489D-9E81-E43322F31BB4}" dt="2026-10-15T11:27:10.161" v="22" actId="478"/>
          <ac:spMkLst>
            <pc:docMk/>
            <pc:sldMk cId="2007545538" sldId="262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1:28:37.587" v="36" actId="1076"/>
          <ac:spMkLst>
            <pc:docMk/>
            <pc:sldMk cId="2007545538" sldId="262"/>
            <ac:spMk id="18" creationId="{64048714-5C2A-4AAD-BE3C-6E061BC42E80}"/>
          </ac:spMkLst>
        </pc:spChg>
        <pc:graphicFrameChg chg="del">
          <ac:chgData name="林昌碩" userId="f835a9ca-f231-4ac2-9887-24bf7a4c5c81" providerId="ADAL" clId="{29F11A1D-2DF3-489D-9E81-E43322F31BB4}" dt="2026-10-15T11:27:08.216" v="21" actId="478"/>
          <ac:graphicFrameMkLst>
            <pc:docMk/>
            <pc:sldMk cId="2007545538" sldId="262"/>
            <ac:graphicFrameMk id="17" creationId="{F76DCE98-2740-4572-A59D-13178B05DA39}"/>
          </ac:graphicFrameMkLst>
        </pc:graphicFrameChg>
        <pc:picChg chg="add mod modCrop">
          <ac:chgData name="林昌碩" userId="f835a9ca-f231-4ac2-9887-24bf7a4c5c81" providerId="ADAL" clId="{29F11A1D-2DF3-489D-9E81-E43322F31BB4}" dt="2026-10-15T11:28:25.840" v="34" actId="1076"/>
          <ac:picMkLst>
            <pc:docMk/>
            <pc:sldMk cId="2007545538" sldId="262"/>
            <ac:picMk id="8" creationId="{518869D3-A958-162F-A43A-782F8BD34B03}"/>
          </ac:picMkLst>
        </pc:picChg>
      </pc:sldChg>
      <pc:sldChg chg="addSp delSp modSp mod modNotesTx">
        <pc:chgData name="林昌碩" userId="f835a9ca-f231-4ac2-9887-24bf7a4c5c81" providerId="ADAL" clId="{29F11A1D-2DF3-489D-9E81-E43322F31BB4}" dt="2026-10-15T11:31:47.107" v="60" actId="14100"/>
        <pc:sldMkLst>
          <pc:docMk/>
          <pc:sldMk cId="2007545538" sldId="263"/>
        </pc:sldMkLst>
        <pc:spChg chg="del">
          <ac:chgData name="林昌碩" userId="f835a9ca-f231-4ac2-9887-24bf7a4c5c81" providerId="ADAL" clId="{29F11A1D-2DF3-489D-9E81-E43322F31BB4}" dt="2026-10-15T11:30:24.148" v="39" actId="478"/>
          <ac:spMkLst>
            <pc:docMk/>
            <pc:sldMk cId="2007545538" sldId="263"/>
            <ac:spMk id="6" creationId="{3253EECE-C2ED-422E-B61A-1BC2095AC01E}"/>
          </ac:spMkLst>
        </pc:spChg>
        <pc:graphicFrameChg chg="del">
          <ac:chgData name="林昌碩" userId="f835a9ca-f231-4ac2-9887-24bf7a4c5c81" providerId="ADAL" clId="{29F11A1D-2DF3-489D-9E81-E43322F31BB4}" dt="2026-10-15T11:30:16.837" v="37" actId="478"/>
          <ac:graphicFrameMkLst>
            <pc:docMk/>
            <pc:sldMk cId="2007545538" sldId="263"/>
            <ac:graphicFrameMk id="17" creationId="{C8F8E3B4-4220-4C7E-B856-0307506D0BB7}"/>
          </ac:graphicFrameMkLst>
        </pc:graphicFrameChg>
        <pc:picChg chg="add mod modCrop">
          <ac:chgData name="林昌碩" userId="f835a9ca-f231-4ac2-9887-24bf7a4c5c81" providerId="ADAL" clId="{29F11A1D-2DF3-489D-9E81-E43322F31BB4}" dt="2026-10-15T11:31:36.085" v="54" actId="1076"/>
          <ac:picMkLst>
            <pc:docMk/>
            <pc:sldMk cId="2007545538" sldId="263"/>
            <ac:picMk id="8" creationId="{24BAF48A-92E1-F599-3229-601AB778DB94}"/>
          </ac:picMkLst>
        </pc:picChg>
        <pc:picChg chg="add mod modCrop">
          <ac:chgData name="林昌碩" userId="f835a9ca-f231-4ac2-9887-24bf7a4c5c81" providerId="ADAL" clId="{29F11A1D-2DF3-489D-9E81-E43322F31BB4}" dt="2026-10-15T11:31:47.107" v="60" actId="14100"/>
          <ac:picMkLst>
            <pc:docMk/>
            <pc:sldMk cId="2007545538" sldId="263"/>
            <ac:picMk id="10" creationId="{D43311F5-2817-7F73-2F6B-D3523F6856E0}"/>
          </ac:picMkLst>
        </pc:picChg>
      </pc:sldChg>
      <pc:sldChg chg="delSp modSp mod modNotesTx">
        <pc:chgData name="林昌碩" userId="f835a9ca-f231-4ac2-9887-24bf7a4c5c81" providerId="ADAL" clId="{29F11A1D-2DF3-489D-9E81-E43322F31BB4}" dt="2026-10-15T13:45:03.481" v="1153" actId="6549"/>
        <pc:sldMkLst>
          <pc:docMk/>
          <pc:sldMk cId="2007545538" sldId="264"/>
        </pc:sldMkLst>
        <pc:spChg chg="del">
          <ac:chgData name="林昌碩" userId="f835a9ca-f231-4ac2-9887-24bf7a4c5c81" providerId="ADAL" clId="{29F11A1D-2DF3-489D-9E81-E43322F31BB4}" dt="2026-10-15T11:42:19.761" v="63" actId="478"/>
          <ac:spMkLst>
            <pc:docMk/>
            <pc:sldMk cId="2007545538" sldId="264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29F11A1D-2DF3-489D-9E81-E43322F31BB4}" dt="2026-10-15T13:45:03.481" v="1153" actId="6549"/>
          <ac:graphicFrameMkLst>
            <pc:docMk/>
            <pc:sldMk cId="2007545538" sldId="264"/>
            <ac:graphicFrameMk id="17" creationId="{DC5FC71C-F274-4ABC-95A7-56E5CB7981B1}"/>
          </ac:graphicFrameMkLst>
        </pc:graphicFrameChg>
      </pc:sldChg>
      <pc:sldChg chg="del">
        <pc:chgData name="林昌碩" userId="f835a9ca-f231-4ac2-9887-24bf7a4c5c81" providerId="ADAL" clId="{29F11A1D-2DF3-489D-9E81-E43322F31BB4}" dt="2026-10-15T11:45:42.962" v="162" actId="47"/>
        <pc:sldMkLst>
          <pc:docMk/>
          <pc:sldMk cId="2007545538" sldId="265"/>
        </pc:sldMkLst>
      </pc:sldChg>
      <pc:sldChg chg="delSp modSp mod modNotesTx">
        <pc:chgData name="林昌碩" userId="f835a9ca-f231-4ac2-9887-24bf7a4c5c81" providerId="ADAL" clId="{29F11A1D-2DF3-489D-9E81-E43322F31BB4}" dt="2026-10-15T11:58:51.934" v="336" actId="478"/>
        <pc:sldMkLst>
          <pc:docMk/>
          <pc:sldMk cId="2007545538" sldId="266"/>
        </pc:sldMkLst>
        <pc:spChg chg="del">
          <ac:chgData name="林昌碩" userId="f835a9ca-f231-4ac2-9887-24bf7a4c5c81" providerId="ADAL" clId="{29F11A1D-2DF3-489D-9E81-E43322F31BB4}" dt="2026-10-15T11:58:51.934" v="336" actId="478"/>
          <ac:spMkLst>
            <pc:docMk/>
            <pc:sldMk cId="2007545538" sldId="266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1:48:41.862" v="174" actId="20577"/>
          <ac:spMkLst>
            <pc:docMk/>
            <pc:sldMk cId="2007545538" sldId="266"/>
            <ac:spMk id="20" creationId="{F8236AB2-75BB-4B1A-8F02-093344B2B787}"/>
          </ac:spMkLst>
        </pc:spChg>
        <pc:spChg chg="mod">
          <ac:chgData name="林昌碩" userId="f835a9ca-f231-4ac2-9887-24bf7a4c5c81" providerId="ADAL" clId="{29F11A1D-2DF3-489D-9E81-E43322F31BB4}" dt="2026-10-15T11:58:47.622" v="335" actId="6549"/>
          <ac:spMkLst>
            <pc:docMk/>
            <pc:sldMk cId="2007545538" sldId="266"/>
            <ac:spMk id="22" creationId="{DD284B19-1B30-4EE3-8B30-A273966801ED}"/>
          </ac:spMkLst>
        </pc:spChg>
      </pc:sldChg>
      <pc:sldChg chg="addSp modSp mod modNotesTx">
        <pc:chgData name="林昌碩" userId="f835a9ca-f231-4ac2-9887-24bf7a4c5c81" providerId="ADAL" clId="{29F11A1D-2DF3-489D-9E81-E43322F31BB4}" dt="2026-10-15T13:19:42.393" v="859" actId="20577"/>
        <pc:sldMkLst>
          <pc:docMk/>
          <pc:sldMk cId="2007545538" sldId="267"/>
        </pc:sldMkLst>
        <pc:spChg chg="add mod">
          <ac:chgData name="林昌碩" userId="f835a9ca-f231-4ac2-9887-24bf7a4c5c81" providerId="ADAL" clId="{29F11A1D-2DF3-489D-9E81-E43322F31BB4}" dt="2026-10-15T12:52:32.836" v="510" actId="20577"/>
          <ac:spMkLst>
            <pc:docMk/>
            <pc:sldMk cId="2007545538" sldId="267"/>
            <ac:spMk id="7" creationId="{E8ADEA1A-C3DB-1339-76C3-5C64C686FB4F}"/>
          </ac:spMkLst>
        </pc:spChg>
        <pc:spChg chg="add mod">
          <ac:chgData name="林昌碩" userId="f835a9ca-f231-4ac2-9887-24bf7a4c5c81" providerId="ADAL" clId="{29F11A1D-2DF3-489D-9E81-E43322F31BB4}" dt="2026-10-15T12:53:19.331" v="591" actId="20577"/>
          <ac:spMkLst>
            <pc:docMk/>
            <pc:sldMk cId="2007545538" sldId="267"/>
            <ac:spMk id="8" creationId="{E1E86325-22CB-D131-BBCF-895ADD417938}"/>
          </ac:spMkLst>
        </pc:spChg>
        <pc:spChg chg="mod">
          <ac:chgData name="林昌碩" userId="f835a9ca-f231-4ac2-9887-24bf7a4c5c81" providerId="ADAL" clId="{29F11A1D-2DF3-489D-9E81-E43322F31BB4}" dt="2026-10-15T12:50:07.001" v="480" actId="14100"/>
          <ac:spMkLst>
            <pc:docMk/>
            <pc:sldMk cId="2007545538" sldId="267"/>
            <ac:spMk id="19" creationId="{EC860010-4625-4452-8019-06B20FD4C3CF}"/>
          </ac:spMkLst>
        </pc:spChg>
        <pc:spChg chg="mod">
          <ac:chgData name="林昌碩" userId="f835a9ca-f231-4ac2-9887-24bf7a4c5c81" providerId="ADAL" clId="{29F11A1D-2DF3-489D-9E81-E43322F31BB4}" dt="2026-10-15T12:51:32.025" v="481" actId="1076"/>
          <ac:spMkLst>
            <pc:docMk/>
            <pc:sldMk cId="2007545538" sldId="267"/>
            <ac:spMk id="20" creationId="{05CD79EF-42C3-4BAA-A259-0AFA359650BB}"/>
          </ac:spMkLst>
        </pc:spChg>
        <pc:spChg chg="mod">
          <ac:chgData name="林昌碩" userId="f835a9ca-f231-4ac2-9887-24bf7a4c5c81" providerId="ADAL" clId="{29F11A1D-2DF3-489D-9E81-E43322F31BB4}" dt="2026-10-15T12:51:45.137" v="483" actId="14100"/>
          <ac:spMkLst>
            <pc:docMk/>
            <pc:sldMk cId="2007545538" sldId="267"/>
            <ac:spMk id="21" creationId="{3657D1B4-32E2-4574-BF37-DC0F91371329}"/>
          </ac:spMkLst>
        </pc:spChg>
        <pc:graphicFrameChg chg="modGraphic">
          <ac:chgData name="林昌碩" userId="f835a9ca-f231-4ac2-9887-24bf7a4c5c81" providerId="ADAL" clId="{29F11A1D-2DF3-489D-9E81-E43322F31BB4}" dt="2026-10-15T13:19:42.393" v="859" actId="20577"/>
          <ac:graphicFrameMkLst>
            <pc:docMk/>
            <pc:sldMk cId="2007545538" sldId="267"/>
            <ac:graphicFrameMk id="17" creationId="{2145D0F2-D534-4109-9BDD-FEA8B4B0A123}"/>
          </ac:graphicFrameMkLst>
        </pc:graphicFrameChg>
      </pc:sldChg>
      <pc:sldChg chg="delSp modSp del mod modNotesTx">
        <pc:chgData name="林昌碩" userId="f835a9ca-f231-4ac2-9887-24bf7a4c5c81" providerId="ADAL" clId="{29F11A1D-2DF3-489D-9E81-E43322F31BB4}" dt="2026-10-15T12:49:14.268" v="479" actId="47"/>
        <pc:sldMkLst>
          <pc:docMk/>
          <pc:sldMk cId="2007545538" sldId="268"/>
        </pc:sldMkLst>
        <pc:spChg chg="del">
          <ac:chgData name="林昌碩" userId="f835a9ca-f231-4ac2-9887-24bf7a4c5c81" providerId="ADAL" clId="{29F11A1D-2DF3-489D-9E81-E43322F31BB4}" dt="2026-10-15T12:47:57.507" v="475" actId="478"/>
          <ac:spMkLst>
            <pc:docMk/>
            <pc:sldMk cId="2007545538" sldId="268"/>
            <ac:spMk id="6" creationId="{3253EECE-C2ED-422E-B61A-1BC2095AC01E}"/>
          </ac:spMkLst>
        </pc:spChg>
        <pc:graphicFrameChg chg="modGraphic">
          <ac:chgData name="林昌碩" userId="f835a9ca-f231-4ac2-9887-24bf7a4c5c81" providerId="ADAL" clId="{29F11A1D-2DF3-489D-9E81-E43322F31BB4}" dt="2026-10-15T12:48:07.210" v="478" actId="20577"/>
          <ac:graphicFrameMkLst>
            <pc:docMk/>
            <pc:sldMk cId="2007545538" sldId="268"/>
            <ac:graphicFrameMk id="17" creationId="{A93B6DEE-D5C8-41A9-A162-69E5E9752EAC}"/>
          </ac:graphicFrameMkLst>
        </pc:graphicFrameChg>
      </pc:sldChg>
      <pc:sldChg chg="addSp delSp modSp mod modNotesTx">
        <pc:chgData name="林昌碩" userId="f835a9ca-f231-4ac2-9887-24bf7a4c5c81" providerId="ADAL" clId="{29F11A1D-2DF3-489D-9E81-E43322F31BB4}" dt="2026-10-15T14:21:10.285" v="1519"/>
        <pc:sldMkLst>
          <pc:docMk/>
          <pc:sldMk cId="2007545538" sldId="269"/>
        </pc:sldMkLst>
        <pc:spChg chg="mod">
          <ac:chgData name="林昌碩" userId="f835a9ca-f231-4ac2-9887-24bf7a4c5c81" providerId="ADAL" clId="{29F11A1D-2DF3-489D-9E81-E43322F31BB4}" dt="2026-10-15T14:21:10.285" v="1519"/>
          <ac:spMkLst>
            <pc:docMk/>
            <pc:sldMk cId="2007545538" sldId="269"/>
            <ac:spMk id="3" creationId="{83F2EB77-78B7-490B-A3DC-9479D65B96AF}"/>
          </ac:spMkLst>
        </pc:spChg>
        <pc:spChg chg="del">
          <ac:chgData name="林昌碩" userId="f835a9ca-f231-4ac2-9887-24bf7a4c5c81" providerId="ADAL" clId="{29F11A1D-2DF3-489D-9E81-E43322F31BB4}" dt="2026-10-15T12:58:14.371" v="597" actId="478"/>
          <ac:spMkLst>
            <pc:docMk/>
            <pc:sldMk cId="2007545538" sldId="269"/>
            <ac:spMk id="6" creationId="{3253EECE-C2ED-422E-B61A-1BC2095AC01E}"/>
          </ac:spMkLst>
        </pc:spChg>
        <pc:spChg chg="add mod">
          <ac:chgData name="林昌碩" userId="f835a9ca-f231-4ac2-9887-24bf7a4c5c81" providerId="ADAL" clId="{29F11A1D-2DF3-489D-9E81-E43322F31BB4}" dt="2026-10-15T13:04:23.003" v="754" actId="113"/>
          <ac:spMkLst>
            <pc:docMk/>
            <pc:sldMk cId="2007545538" sldId="269"/>
            <ac:spMk id="7" creationId="{35FF9AE6-BFA8-491E-2AC4-36B00A67865A}"/>
          </ac:spMkLst>
        </pc:spChg>
        <pc:spChg chg="add mod">
          <ac:chgData name="林昌碩" userId="f835a9ca-f231-4ac2-9887-24bf7a4c5c81" providerId="ADAL" clId="{29F11A1D-2DF3-489D-9E81-E43322F31BB4}" dt="2026-10-15T13:27:52.995" v="1009" actId="20577"/>
          <ac:spMkLst>
            <pc:docMk/>
            <pc:sldMk cId="2007545538" sldId="269"/>
            <ac:spMk id="8" creationId="{C0B7E91A-564C-4E13-029A-7A5206100389}"/>
          </ac:spMkLst>
        </pc:spChg>
        <pc:spChg chg="mod">
          <ac:chgData name="林昌碩" userId="f835a9ca-f231-4ac2-9887-24bf7a4c5c81" providerId="ADAL" clId="{29F11A1D-2DF3-489D-9E81-E43322F31BB4}" dt="2026-10-15T13:11:33.441" v="803" actId="20577"/>
          <ac:spMkLst>
            <pc:docMk/>
            <pc:sldMk cId="2007545538" sldId="269"/>
            <ac:spMk id="18" creationId="{94A88F13-5FEB-46D2-ADCF-A4A5844731FE}"/>
          </ac:spMkLst>
        </pc:spChg>
        <pc:graphicFrameChg chg="mod modGraphic">
          <ac:chgData name="林昌碩" userId="f835a9ca-f231-4ac2-9887-24bf7a4c5c81" providerId="ADAL" clId="{29F11A1D-2DF3-489D-9E81-E43322F31BB4}" dt="2026-10-15T13:35:26.145" v="1055" actId="20577"/>
          <ac:graphicFrameMkLst>
            <pc:docMk/>
            <pc:sldMk cId="2007545538" sldId="269"/>
            <ac:graphicFrameMk id="17" creationId="{F6B0C7CD-41D0-4E99-B9BF-EE2ABA83A57A}"/>
          </ac:graphicFrameMkLst>
        </pc:graphicFrameChg>
      </pc:sldChg>
      <pc:sldChg chg="addSp delSp modSp mod modNotesTx">
        <pc:chgData name="林昌碩" userId="f835a9ca-f231-4ac2-9887-24bf7a4c5c81" providerId="ADAL" clId="{29F11A1D-2DF3-489D-9E81-E43322F31BB4}" dt="2026-10-15T13:40:17.785" v="1116" actId="478"/>
        <pc:sldMkLst>
          <pc:docMk/>
          <pc:sldMk cId="2007545538" sldId="270"/>
        </pc:sldMkLst>
        <pc:spChg chg="del">
          <ac:chgData name="林昌碩" userId="f835a9ca-f231-4ac2-9887-24bf7a4c5c81" providerId="ADAL" clId="{29F11A1D-2DF3-489D-9E81-E43322F31BB4}" dt="2026-10-15T13:40:17.785" v="1116" actId="478"/>
          <ac:spMkLst>
            <pc:docMk/>
            <pc:sldMk cId="2007545538" sldId="270"/>
            <ac:spMk id="6" creationId="{3253EECE-C2ED-422E-B61A-1BC2095AC01E}"/>
          </ac:spMkLst>
        </pc:spChg>
        <pc:spChg chg="add mod">
          <ac:chgData name="林昌碩" userId="f835a9ca-f231-4ac2-9887-24bf7a4c5c81" providerId="ADAL" clId="{29F11A1D-2DF3-489D-9E81-E43322F31BB4}" dt="2026-10-15T13:33:39.537" v="1014" actId="14100"/>
          <ac:spMkLst>
            <pc:docMk/>
            <pc:sldMk cId="2007545538" sldId="270"/>
            <ac:spMk id="7" creationId="{64D8337F-C9AE-FD95-63BF-4804B73DED69}"/>
          </ac:spMkLst>
        </pc:spChg>
        <pc:spChg chg="add mod">
          <ac:chgData name="林昌碩" userId="f835a9ca-f231-4ac2-9887-24bf7a4c5c81" providerId="ADAL" clId="{29F11A1D-2DF3-489D-9E81-E43322F31BB4}" dt="2026-10-15T13:40:15.010" v="1115" actId="14100"/>
          <ac:spMkLst>
            <pc:docMk/>
            <pc:sldMk cId="2007545538" sldId="270"/>
            <ac:spMk id="8" creationId="{C075EF02-FA76-3C1D-84D9-7E0BAE712004}"/>
          </ac:spMkLst>
        </pc:spChg>
        <pc:spChg chg="mod">
          <ac:chgData name="林昌碩" userId="f835a9ca-f231-4ac2-9887-24bf7a4c5c81" providerId="ADAL" clId="{29F11A1D-2DF3-489D-9E81-E43322F31BB4}" dt="2026-10-15T13:34:03.792" v="1018" actId="1076"/>
          <ac:spMkLst>
            <pc:docMk/>
            <pc:sldMk cId="2007545538" sldId="270"/>
            <ac:spMk id="18" creationId="{7DF8C901-FE66-4CB9-B51A-553777940C21}"/>
          </ac:spMkLst>
        </pc:spChg>
        <pc:spChg chg="mod">
          <ac:chgData name="林昌碩" userId="f835a9ca-f231-4ac2-9887-24bf7a4c5c81" providerId="ADAL" clId="{29F11A1D-2DF3-489D-9E81-E43322F31BB4}" dt="2026-10-15T13:39:10.529" v="1111" actId="14100"/>
          <ac:spMkLst>
            <pc:docMk/>
            <pc:sldMk cId="2007545538" sldId="270"/>
            <ac:spMk id="19" creationId="{4A64DA00-FE94-4779-9683-896A2BD40E5A}"/>
          </ac:spMkLst>
        </pc:spChg>
        <pc:spChg chg="mod">
          <ac:chgData name="林昌碩" userId="f835a9ca-f231-4ac2-9887-24bf7a4c5c81" providerId="ADAL" clId="{29F11A1D-2DF3-489D-9E81-E43322F31BB4}" dt="2026-10-15T13:33:56.256" v="1016" actId="14100"/>
          <ac:spMkLst>
            <pc:docMk/>
            <pc:sldMk cId="2007545538" sldId="270"/>
            <ac:spMk id="21" creationId="{7AF58B11-ED81-47E3-9266-ABA99F429590}"/>
          </ac:spMkLst>
        </pc:spChg>
        <pc:graphicFrameChg chg="mod modGraphic">
          <ac:chgData name="林昌碩" userId="f835a9ca-f231-4ac2-9887-24bf7a4c5c81" providerId="ADAL" clId="{29F11A1D-2DF3-489D-9E81-E43322F31BB4}" dt="2026-10-15T13:37:51.097" v="1109" actId="20577"/>
          <ac:graphicFrameMkLst>
            <pc:docMk/>
            <pc:sldMk cId="2007545538" sldId="270"/>
            <ac:graphicFrameMk id="17" creationId="{F84BAD95-BBE8-49D4-ACB9-496379E243D5}"/>
          </ac:graphicFrameMkLst>
        </pc:graphicFrameChg>
      </pc:sldChg>
      <pc:sldChg chg="delSp modSp mod modNotesTx">
        <pc:chgData name="林昌碩" userId="f835a9ca-f231-4ac2-9887-24bf7a4c5c81" providerId="ADAL" clId="{29F11A1D-2DF3-489D-9E81-E43322F31BB4}" dt="2026-10-15T14:22:14.501" v="1525"/>
        <pc:sldMkLst>
          <pc:docMk/>
          <pc:sldMk cId="2007545538" sldId="271"/>
        </pc:sldMkLst>
        <pc:spChg chg="mod">
          <ac:chgData name="林昌碩" userId="f835a9ca-f231-4ac2-9887-24bf7a4c5c81" providerId="ADAL" clId="{29F11A1D-2DF3-489D-9E81-E43322F31BB4}" dt="2026-10-15T14:22:14.501" v="1525"/>
          <ac:spMkLst>
            <pc:docMk/>
            <pc:sldMk cId="2007545538" sldId="271"/>
            <ac:spMk id="3" creationId="{83F2EB77-78B7-490B-A3DC-9479D65B96AF}"/>
          </ac:spMkLst>
        </pc:spChg>
        <pc:spChg chg="del">
          <ac:chgData name="林昌碩" userId="f835a9ca-f231-4ac2-9887-24bf7a4c5c81" providerId="ADAL" clId="{29F11A1D-2DF3-489D-9E81-E43322F31BB4}" dt="2026-10-15T13:50:51.880" v="1214" actId="478"/>
          <ac:spMkLst>
            <pc:docMk/>
            <pc:sldMk cId="2007545538" sldId="271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3:46:51.961" v="1173" actId="6549"/>
          <ac:spMkLst>
            <pc:docMk/>
            <pc:sldMk cId="2007545538" sldId="271"/>
            <ac:spMk id="17" creationId="{4155D314-9643-4972-8CF3-8618695DFE83}"/>
          </ac:spMkLst>
        </pc:spChg>
        <pc:spChg chg="mod">
          <ac:chgData name="林昌碩" userId="f835a9ca-f231-4ac2-9887-24bf7a4c5c81" providerId="ADAL" clId="{29F11A1D-2DF3-489D-9E81-E43322F31BB4}" dt="2026-10-15T13:46:59.489" v="1183" actId="6549"/>
          <ac:spMkLst>
            <pc:docMk/>
            <pc:sldMk cId="2007545538" sldId="271"/>
            <ac:spMk id="20" creationId="{E4F8410F-8FC5-4E10-B36C-145D39C7B34F}"/>
          </ac:spMkLst>
        </pc:spChg>
        <pc:spChg chg="mod">
          <ac:chgData name="林昌碩" userId="f835a9ca-f231-4ac2-9887-24bf7a4c5c81" providerId="ADAL" clId="{29F11A1D-2DF3-489D-9E81-E43322F31BB4}" dt="2026-10-15T13:47:33.353" v="1212" actId="20577"/>
          <ac:spMkLst>
            <pc:docMk/>
            <pc:sldMk cId="2007545538" sldId="271"/>
            <ac:spMk id="22" creationId="{2577C8A9-46D9-4A27-84D7-80E4EA5D08A3}"/>
          </ac:spMkLst>
        </pc:spChg>
      </pc:sldChg>
      <pc:sldChg chg="delSp modSp mod modNotesTx">
        <pc:chgData name="林昌碩" userId="f835a9ca-f231-4ac2-9887-24bf7a4c5c81" providerId="ADAL" clId="{29F11A1D-2DF3-489D-9E81-E43322F31BB4}" dt="2026-10-15T14:05:58.802" v="1306" actId="20577"/>
        <pc:sldMkLst>
          <pc:docMk/>
          <pc:sldMk cId="2007545538" sldId="272"/>
        </pc:sldMkLst>
        <pc:spChg chg="del">
          <ac:chgData name="林昌碩" userId="f835a9ca-f231-4ac2-9887-24bf7a4c5c81" providerId="ADAL" clId="{29F11A1D-2DF3-489D-9E81-E43322F31BB4}" dt="2026-10-15T13:50:47.920" v="1213" actId="478"/>
          <ac:spMkLst>
            <pc:docMk/>
            <pc:sldMk cId="2007545538" sldId="272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3:56:54.520" v="1229" actId="20577"/>
          <ac:spMkLst>
            <pc:docMk/>
            <pc:sldMk cId="2007545538" sldId="272"/>
            <ac:spMk id="17" creationId="{1E8B4CDA-C23B-4A79-B3DC-91C0E1DF4988}"/>
          </ac:spMkLst>
        </pc:spChg>
        <pc:spChg chg="mod">
          <ac:chgData name="林昌碩" userId="f835a9ca-f231-4ac2-9887-24bf7a4c5c81" providerId="ADAL" clId="{29F11A1D-2DF3-489D-9E81-E43322F31BB4}" dt="2026-10-15T14:04:49.080" v="1277" actId="20577"/>
          <ac:spMkLst>
            <pc:docMk/>
            <pc:sldMk cId="2007545538" sldId="272"/>
            <ac:spMk id="20" creationId="{072FBF3A-DB6E-4FAF-886E-EFF5065BC798}"/>
          </ac:spMkLst>
        </pc:spChg>
        <pc:spChg chg="mod">
          <ac:chgData name="林昌碩" userId="f835a9ca-f231-4ac2-9887-24bf7a4c5c81" providerId="ADAL" clId="{29F11A1D-2DF3-489D-9E81-E43322F31BB4}" dt="2026-10-15T14:05:58.802" v="1306" actId="20577"/>
          <ac:spMkLst>
            <pc:docMk/>
            <pc:sldMk cId="2007545538" sldId="272"/>
            <ac:spMk id="22" creationId="{E916091B-D79A-43AE-A0F6-8015F3CB8BF0}"/>
          </ac:spMkLst>
        </pc:spChg>
      </pc:sldChg>
      <pc:sldChg chg="delSp modSp mod modNotesTx">
        <pc:chgData name="林昌碩" userId="f835a9ca-f231-4ac2-9887-24bf7a4c5c81" providerId="ADAL" clId="{29F11A1D-2DF3-489D-9E81-E43322F31BB4}" dt="2026-10-15T14:08:42.229" v="1373" actId="6549"/>
        <pc:sldMkLst>
          <pc:docMk/>
          <pc:sldMk cId="2007545538" sldId="273"/>
        </pc:sldMkLst>
        <pc:spChg chg="mod">
          <ac:chgData name="林昌碩" userId="f835a9ca-f231-4ac2-9887-24bf7a4c5c81" providerId="ADAL" clId="{29F11A1D-2DF3-489D-9E81-E43322F31BB4}" dt="2026-10-15T14:08:09.631" v="1357" actId="20577"/>
          <ac:spMkLst>
            <pc:docMk/>
            <pc:sldMk cId="2007545538" sldId="273"/>
            <ac:spMk id="3" creationId="{83F2EB77-78B7-490B-A3DC-9479D65B96AF}"/>
          </ac:spMkLst>
        </pc:spChg>
        <pc:spChg chg="del">
          <ac:chgData name="林昌碩" userId="f835a9ca-f231-4ac2-9887-24bf7a4c5c81" providerId="ADAL" clId="{29F11A1D-2DF3-489D-9E81-E43322F31BB4}" dt="2026-10-15T14:06:59.560" v="1308" actId="478"/>
          <ac:spMkLst>
            <pc:docMk/>
            <pc:sldMk cId="2007545538" sldId="273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4:08:00.105" v="1350" actId="20577"/>
          <ac:spMkLst>
            <pc:docMk/>
            <pc:sldMk cId="2007545538" sldId="273"/>
            <ac:spMk id="17" creationId="{C218724A-ABF0-4AA8-9B1B-2A72693C4388}"/>
          </ac:spMkLst>
        </pc:spChg>
        <pc:spChg chg="mod">
          <ac:chgData name="林昌碩" userId="f835a9ca-f231-4ac2-9887-24bf7a4c5c81" providerId="ADAL" clId="{29F11A1D-2DF3-489D-9E81-E43322F31BB4}" dt="2026-10-15T14:08:22.128" v="1372" actId="20577"/>
          <ac:spMkLst>
            <pc:docMk/>
            <pc:sldMk cId="2007545538" sldId="273"/>
            <ac:spMk id="20" creationId="{CD7BDDD0-4800-4092-A4B8-B394D5E623C5}"/>
          </ac:spMkLst>
        </pc:spChg>
        <pc:spChg chg="mod">
          <ac:chgData name="林昌碩" userId="f835a9ca-f231-4ac2-9887-24bf7a4c5c81" providerId="ADAL" clId="{29F11A1D-2DF3-489D-9E81-E43322F31BB4}" dt="2026-10-15T14:08:42.229" v="1373" actId="6549"/>
          <ac:spMkLst>
            <pc:docMk/>
            <pc:sldMk cId="2007545538" sldId="273"/>
            <ac:spMk id="22" creationId="{330003AE-BE03-43F0-A863-33ECA823FA47}"/>
          </ac:spMkLst>
        </pc:spChg>
      </pc:sldChg>
      <pc:sldChg chg="modSp mod modNotesTx">
        <pc:chgData name="林昌碩" userId="f835a9ca-f231-4ac2-9887-24bf7a4c5c81" providerId="ADAL" clId="{29F11A1D-2DF3-489D-9E81-E43322F31BB4}" dt="2026-10-15T14:13:09.218" v="1476" actId="20577"/>
        <pc:sldMkLst>
          <pc:docMk/>
          <pc:sldMk cId="2007545538" sldId="274"/>
        </pc:sldMkLst>
        <pc:spChg chg="mod">
          <ac:chgData name="林昌碩" userId="f835a9ca-f231-4ac2-9887-24bf7a4c5c81" providerId="ADAL" clId="{29F11A1D-2DF3-489D-9E81-E43322F31BB4}" dt="2026-10-15T14:10:06.425" v="1407" actId="20577"/>
          <ac:spMkLst>
            <pc:docMk/>
            <pc:sldMk cId="2007545538" sldId="274"/>
            <ac:spMk id="3" creationId="{83F2EB77-78B7-490B-A3DC-9479D65B96AF}"/>
          </ac:spMkLst>
        </pc:spChg>
        <pc:spChg chg="mod">
          <ac:chgData name="林昌碩" userId="f835a9ca-f231-4ac2-9887-24bf7a4c5c81" providerId="ADAL" clId="{29F11A1D-2DF3-489D-9E81-E43322F31BB4}" dt="2026-10-15T14:10:11.505" v="1412" actId="20577"/>
          <ac:spMkLst>
            <pc:docMk/>
            <pc:sldMk cId="2007545538" sldId="274"/>
            <ac:spMk id="17" creationId="{0C9A5E51-5918-40F3-A0B2-3EE82F344F02}"/>
          </ac:spMkLst>
        </pc:spChg>
        <pc:spChg chg="mod">
          <ac:chgData name="林昌碩" userId="f835a9ca-f231-4ac2-9887-24bf7a4c5c81" providerId="ADAL" clId="{29F11A1D-2DF3-489D-9E81-E43322F31BB4}" dt="2026-10-15T14:10:16.233" v="1417" actId="20577"/>
          <ac:spMkLst>
            <pc:docMk/>
            <pc:sldMk cId="2007545538" sldId="274"/>
            <ac:spMk id="19" creationId="{CB770851-ECE5-4760-8FAB-13FF2B781222}"/>
          </ac:spMkLst>
        </pc:spChg>
        <pc:spChg chg="mod">
          <ac:chgData name="林昌碩" userId="f835a9ca-f231-4ac2-9887-24bf7a4c5c81" providerId="ADAL" clId="{29F11A1D-2DF3-489D-9E81-E43322F31BB4}" dt="2026-10-15T14:13:09.218" v="1476" actId="20577"/>
          <ac:spMkLst>
            <pc:docMk/>
            <pc:sldMk cId="2007545538" sldId="274"/>
            <ac:spMk id="22" creationId="{35EDB585-8016-44F2-9C11-67238ABFD9B6}"/>
          </ac:spMkLst>
        </pc:spChg>
      </pc:sldChg>
      <pc:sldChg chg="addSp delSp modSp mod modNotesTx">
        <pc:chgData name="林昌碩" userId="f835a9ca-f231-4ac2-9887-24bf7a4c5c81" providerId="ADAL" clId="{29F11A1D-2DF3-489D-9E81-E43322F31BB4}" dt="2026-10-15T14:50:50.150" v="1767" actId="6549"/>
        <pc:sldMkLst>
          <pc:docMk/>
          <pc:sldMk cId="2007545538" sldId="275"/>
        </pc:sldMkLst>
        <pc:spChg chg="mod">
          <ac:chgData name="林昌碩" userId="f835a9ca-f231-4ac2-9887-24bf7a4c5c81" providerId="ADAL" clId="{29F11A1D-2DF3-489D-9E81-E43322F31BB4}" dt="2026-10-15T14:47:31.990" v="1680" actId="6549"/>
          <ac:spMkLst>
            <pc:docMk/>
            <pc:sldMk cId="2007545538" sldId="275"/>
            <ac:spMk id="3" creationId="{83F2EB77-78B7-490B-A3DC-9479D65B96AF}"/>
          </ac:spMkLst>
        </pc:spChg>
        <pc:spChg chg="del">
          <ac:chgData name="林昌碩" userId="f835a9ca-f231-4ac2-9887-24bf7a4c5c81" providerId="ADAL" clId="{29F11A1D-2DF3-489D-9E81-E43322F31BB4}" dt="2026-10-15T14:30:36.360" v="1595" actId="478"/>
          <ac:spMkLst>
            <pc:docMk/>
            <pc:sldMk cId="2007545538" sldId="275"/>
            <ac:spMk id="6" creationId="{3253EECE-C2ED-422E-B61A-1BC2095AC01E}"/>
          </ac:spMkLst>
        </pc:spChg>
        <pc:spChg chg="add mod">
          <ac:chgData name="林昌碩" userId="f835a9ca-f231-4ac2-9887-24bf7a4c5c81" providerId="ADAL" clId="{29F11A1D-2DF3-489D-9E81-E43322F31BB4}" dt="2026-10-15T14:50:50.150" v="1767" actId="6549"/>
          <ac:spMkLst>
            <pc:docMk/>
            <pc:sldMk cId="2007545538" sldId="275"/>
            <ac:spMk id="8" creationId="{6CCA6671-5CC5-21C7-543E-917D2133EDB5}"/>
          </ac:spMkLst>
        </pc:spChg>
        <pc:spChg chg="add mod">
          <ac:chgData name="林昌碩" userId="f835a9ca-f231-4ac2-9887-24bf7a4c5c81" providerId="ADAL" clId="{29F11A1D-2DF3-489D-9E81-E43322F31BB4}" dt="2026-10-15T14:50:09.475" v="1750" actId="6549"/>
          <ac:spMkLst>
            <pc:docMk/>
            <pc:sldMk cId="2007545538" sldId="275"/>
            <ac:spMk id="9" creationId="{7527F636-5138-9F5E-0797-A26DC171E07B}"/>
          </ac:spMkLst>
        </pc:spChg>
        <pc:spChg chg="del">
          <ac:chgData name="林昌碩" userId="f835a9ca-f231-4ac2-9887-24bf7a4c5c81" providerId="ADAL" clId="{29F11A1D-2DF3-489D-9E81-E43322F31BB4}" dt="2026-10-15T14:38:08.102" v="1647" actId="478"/>
          <ac:spMkLst>
            <pc:docMk/>
            <pc:sldMk cId="2007545538" sldId="275"/>
            <ac:spMk id="18" creationId="{DC5230CC-12D0-4882-BDEA-D82C49AAD006}"/>
          </ac:spMkLst>
        </pc:spChg>
        <pc:graphicFrameChg chg="mod modGraphic">
          <ac:chgData name="林昌碩" userId="f835a9ca-f231-4ac2-9887-24bf7a4c5c81" providerId="ADAL" clId="{29F11A1D-2DF3-489D-9E81-E43322F31BB4}" dt="2026-10-15T14:48:04.183" v="1709" actId="20577"/>
          <ac:graphicFrameMkLst>
            <pc:docMk/>
            <pc:sldMk cId="2007545538" sldId="275"/>
            <ac:graphicFrameMk id="17" creationId="{4640101A-AE62-4282-AAEA-95FE27DB3D08}"/>
          </ac:graphicFrameMkLst>
        </pc:graphicFrameChg>
      </pc:sldChg>
      <pc:sldChg chg="delSp mod modNotesTx">
        <pc:chgData name="林昌碩" userId="f835a9ca-f231-4ac2-9887-24bf7a4c5c81" providerId="ADAL" clId="{29F11A1D-2DF3-489D-9E81-E43322F31BB4}" dt="2026-10-15T14:44:25.242" v="1650" actId="6549"/>
        <pc:sldMkLst>
          <pc:docMk/>
          <pc:sldMk cId="2007545538" sldId="276"/>
        </pc:sldMkLst>
        <pc:spChg chg="del">
          <ac:chgData name="林昌碩" userId="f835a9ca-f231-4ac2-9887-24bf7a4c5c81" providerId="ADAL" clId="{29F11A1D-2DF3-489D-9E81-E43322F31BB4}" dt="2026-10-15T14:44:21.062" v="1648" actId="478"/>
          <ac:spMkLst>
            <pc:docMk/>
            <pc:sldMk cId="2007545538" sldId="276"/>
            <ac:spMk id="6" creationId="{3253EECE-C2ED-422E-B61A-1BC2095AC01E}"/>
          </ac:spMkLst>
        </pc:spChg>
      </pc:sldChg>
      <pc:sldChg chg="del">
        <pc:chgData name="林昌碩" userId="f835a9ca-f231-4ac2-9887-24bf7a4c5c81" providerId="ADAL" clId="{29F11A1D-2DF3-489D-9E81-E43322F31BB4}" dt="2026-10-15T14:51:37.901" v="1768" actId="47"/>
        <pc:sldMkLst>
          <pc:docMk/>
          <pc:sldMk cId="2007545538" sldId="277"/>
        </pc:sldMkLst>
      </pc:sldChg>
      <pc:sldChg chg="del">
        <pc:chgData name="林昌碩" userId="f835a9ca-f231-4ac2-9887-24bf7a4c5c81" providerId="ADAL" clId="{29F11A1D-2DF3-489D-9E81-E43322F31BB4}" dt="2026-10-15T14:51:42.429" v="1769" actId="47"/>
        <pc:sldMkLst>
          <pc:docMk/>
          <pc:sldMk cId="2007545538" sldId="278"/>
        </pc:sldMkLst>
      </pc:sldChg>
      <pc:sldChg chg="modSp mod modNotesTx">
        <pc:chgData name="林昌碩" userId="f835a9ca-f231-4ac2-9887-24bf7a4c5c81" providerId="ADAL" clId="{29F11A1D-2DF3-489D-9E81-E43322F31BB4}" dt="2026-10-15T14:53:50.038" v="1822" actId="20577"/>
        <pc:sldMkLst>
          <pc:docMk/>
          <pc:sldMk cId="2007545538" sldId="279"/>
        </pc:sldMkLst>
        <pc:spChg chg="mod">
          <ac:chgData name="林昌碩" userId="f835a9ca-f231-4ac2-9887-24bf7a4c5c81" providerId="ADAL" clId="{29F11A1D-2DF3-489D-9E81-E43322F31BB4}" dt="2026-10-15T14:53:50.038" v="1822" actId="20577"/>
          <ac:spMkLst>
            <pc:docMk/>
            <pc:sldMk cId="2007545538" sldId="279"/>
            <ac:spMk id="17" creationId="{004CAA73-734F-4A06-A090-139F5885E2D1}"/>
          </ac:spMkLst>
        </pc:spChg>
      </pc:sldChg>
      <pc:sldChg chg="delSp modSp mod modNotesTx">
        <pc:chgData name="林昌碩" userId="f835a9ca-f231-4ac2-9887-24bf7a4c5c81" providerId="ADAL" clId="{29F11A1D-2DF3-489D-9E81-E43322F31BB4}" dt="2026-10-15T15:18:58.469" v="1899"/>
        <pc:sldMkLst>
          <pc:docMk/>
          <pc:sldMk cId="2007545538" sldId="280"/>
        </pc:sldMkLst>
        <pc:spChg chg="del">
          <ac:chgData name="林昌碩" userId="f835a9ca-f231-4ac2-9887-24bf7a4c5c81" providerId="ADAL" clId="{29F11A1D-2DF3-489D-9E81-E43322F31BB4}" dt="2026-10-15T14:56:15.855" v="1824" actId="478"/>
          <ac:spMkLst>
            <pc:docMk/>
            <pc:sldMk cId="2007545538" sldId="280"/>
            <ac:spMk id="6" creationId="{3253EECE-C2ED-422E-B61A-1BC2095AC01E}"/>
          </ac:spMkLst>
        </pc:spChg>
        <pc:graphicFrameChg chg="mod modGraphic">
          <ac:chgData name="林昌碩" userId="f835a9ca-f231-4ac2-9887-24bf7a4c5c81" providerId="ADAL" clId="{29F11A1D-2DF3-489D-9E81-E43322F31BB4}" dt="2026-10-15T15:18:58.469" v="1899"/>
          <ac:graphicFrameMkLst>
            <pc:docMk/>
            <pc:sldMk cId="2007545538" sldId="280"/>
            <ac:graphicFrameMk id="17" creationId="{EFAE5B9E-7961-4A7B-B3DE-7BBED289C1B4}"/>
          </ac:graphicFrameMkLst>
        </pc:graphicFrameChg>
      </pc:sldChg>
      <pc:sldChg chg="addSp delSp modSp mod modNotesTx">
        <pc:chgData name="林昌碩" userId="f835a9ca-f231-4ac2-9887-24bf7a4c5c81" providerId="ADAL" clId="{29F11A1D-2DF3-489D-9E81-E43322F31BB4}" dt="2026-10-15T15:40:07.709" v="2141" actId="20577"/>
        <pc:sldMkLst>
          <pc:docMk/>
          <pc:sldMk cId="2007545538" sldId="281"/>
        </pc:sldMkLst>
        <pc:spChg chg="del">
          <ac:chgData name="林昌碩" userId="f835a9ca-f231-4ac2-9887-24bf7a4c5c81" providerId="ADAL" clId="{29F11A1D-2DF3-489D-9E81-E43322F31BB4}" dt="2026-10-15T15:20:57.981" v="1904" actId="478"/>
          <ac:spMkLst>
            <pc:docMk/>
            <pc:sldMk cId="2007545538" sldId="281"/>
            <ac:spMk id="6" creationId="{3253EECE-C2ED-422E-B61A-1BC2095AC01E}"/>
          </ac:spMkLst>
        </pc:spChg>
        <pc:spChg chg="add mod">
          <ac:chgData name="林昌碩" userId="f835a9ca-f231-4ac2-9887-24bf7a4c5c81" providerId="ADAL" clId="{29F11A1D-2DF3-489D-9E81-E43322F31BB4}" dt="2026-10-15T15:30:53.597" v="1951" actId="20577"/>
          <ac:spMkLst>
            <pc:docMk/>
            <pc:sldMk cId="2007545538" sldId="281"/>
            <ac:spMk id="7" creationId="{627AF45D-831C-DD03-7C11-4AF9380D26DA}"/>
          </ac:spMkLst>
        </pc:spChg>
        <pc:spChg chg="add mod">
          <ac:chgData name="林昌碩" userId="f835a9ca-f231-4ac2-9887-24bf7a4c5c81" providerId="ADAL" clId="{29F11A1D-2DF3-489D-9E81-E43322F31BB4}" dt="2026-10-15T15:40:07.709" v="2141" actId="20577"/>
          <ac:spMkLst>
            <pc:docMk/>
            <pc:sldMk cId="2007545538" sldId="281"/>
            <ac:spMk id="8" creationId="{1FD18784-7E3D-4F96-F376-E24073F340A3}"/>
          </ac:spMkLst>
        </pc:spChg>
        <pc:spChg chg="add del mod">
          <ac:chgData name="林昌碩" userId="f835a9ca-f231-4ac2-9887-24bf7a4c5c81" providerId="ADAL" clId="{29F11A1D-2DF3-489D-9E81-E43322F31BB4}" dt="2026-10-15T15:32:18.175" v="1967" actId="478"/>
          <ac:spMkLst>
            <pc:docMk/>
            <pc:sldMk cId="2007545538" sldId="281"/>
            <ac:spMk id="9" creationId="{6CBC06E5-976A-851F-4E9C-31376D3D0DF6}"/>
          </ac:spMkLst>
        </pc:spChg>
        <pc:spChg chg="add del mod">
          <ac:chgData name="林昌碩" userId="f835a9ca-f231-4ac2-9887-24bf7a4c5c81" providerId="ADAL" clId="{29F11A1D-2DF3-489D-9E81-E43322F31BB4}" dt="2026-10-15T15:34:00.765" v="1969" actId="478"/>
          <ac:spMkLst>
            <pc:docMk/>
            <pc:sldMk cId="2007545538" sldId="281"/>
            <ac:spMk id="10" creationId="{4897032F-A1D6-D941-D1F7-B89761EFB54B}"/>
          </ac:spMkLst>
        </pc:spChg>
        <pc:spChg chg="mod">
          <ac:chgData name="林昌碩" userId="f835a9ca-f231-4ac2-9887-24bf7a4c5c81" providerId="ADAL" clId="{29F11A1D-2DF3-489D-9E81-E43322F31BB4}" dt="2026-10-15T15:23:13.898" v="1913" actId="20577"/>
          <ac:spMkLst>
            <pc:docMk/>
            <pc:sldMk cId="2007545538" sldId="281"/>
            <ac:spMk id="17" creationId="{8CE15283-EE08-4D5C-817B-09E2706F2342}"/>
          </ac:spMkLst>
        </pc:spChg>
        <pc:spChg chg="mod">
          <ac:chgData name="林昌碩" userId="f835a9ca-f231-4ac2-9887-24bf7a4c5c81" providerId="ADAL" clId="{29F11A1D-2DF3-489D-9E81-E43322F31BB4}" dt="2026-10-15T15:25:09.191" v="1929" actId="20577"/>
          <ac:spMkLst>
            <pc:docMk/>
            <pc:sldMk cId="2007545538" sldId="281"/>
            <ac:spMk id="18" creationId="{58FDA668-EA4D-4849-AFDC-6B631C6CAF36}"/>
          </ac:spMkLst>
        </pc:spChg>
        <pc:spChg chg="mod">
          <ac:chgData name="林昌碩" userId="f835a9ca-f231-4ac2-9887-24bf7a4c5c81" providerId="ADAL" clId="{29F11A1D-2DF3-489D-9E81-E43322F31BB4}" dt="2026-10-15T15:20:13.878" v="1901" actId="20577"/>
          <ac:spMkLst>
            <pc:docMk/>
            <pc:sldMk cId="2007545538" sldId="281"/>
            <ac:spMk id="19" creationId="{E015C068-9FF4-41DE-BB59-1AB1841DF466}"/>
          </ac:spMkLst>
        </pc:spChg>
        <pc:spChg chg="mod">
          <ac:chgData name="林昌碩" userId="f835a9ca-f231-4ac2-9887-24bf7a4c5c81" providerId="ADAL" clId="{29F11A1D-2DF3-489D-9E81-E43322F31BB4}" dt="2026-10-15T15:31:37.884" v="1960" actId="14100"/>
          <ac:spMkLst>
            <pc:docMk/>
            <pc:sldMk cId="2007545538" sldId="281"/>
            <ac:spMk id="20" creationId="{FA7491E3-59D9-46E9-A0E1-1271D40E282D}"/>
          </ac:spMkLst>
        </pc:spChg>
        <pc:spChg chg="del">
          <ac:chgData name="林昌碩" userId="f835a9ca-f231-4ac2-9887-24bf7a4c5c81" providerId="ADAL" clId="{29F11A1D-2DF3-489D-9E81-E43322F31BB4}" dt="2026-10-15T15:20:54.063" v="1902" actId="478"/>
          <ac:spMkLst>
            <pc:docMk/>
            <pc:sldMk cId="2007545538" sldId="281"/>
            <ac:spMk id="21" creationId="{45B2D35C-E8AD-4A28-8A74-DC5756068546}"/>
          </ac:spMkLst>
        </pc:spChg>
        <pc:spChg chg="del">
          <ac:chgData name="林昌碩" userId="f835a9ca-f231-4ac2-9887-24bf7a4c5c81" providerId="ADAL" clId="{29F11A1D-2DF3-489D-9E81-E43322F31BB4}" dt="2026-10-15T15:20:55.614" v="1903" actId="478"/>
          <ac:spMkLst>
            <pc:docMk/>
            <pc:sldMk cId="2007545538" sldId="281"/>
            <ac:spMk id="22" creationId="{D1F40942-35C6-488F-BF79-779C946B0C17}"/>
          </ac:spMkLst>
        </pc:spChg>
      </pc:sldChg>
      <pc:sldChg chg="del modNotesTx">
        <pc:chgData name="林昌碩" userId="f835a9ca-f231-4ac2-9887-24bf7a4c5c81" providerId="ADAL" clId="{29F11A1D-2DF3-489D-9E81-E43322F31BB4}" dt="2026-10-15T15:40:32.253" v="2142" actId="47"/>
        <pc:sldMkLst>
          <pc:docMk/>
          <pc:sldMk cId="2007545538" sldId="282"/>
        </pc:sldMkLst>
      </pc:sldChg>
      <pc:sldChg chg="delSp modSp mod modNotesTx">
        <pc:chgData name="林昌碩" userId="f835a9ca-f231-4ac2-9887-24bf7a4c5c81" providerId="ADAL" clId="{29F11A1D-2DF3-489D-9E81-E43322F31BB4}" dt="2026-10-15T15:55:07.180" v="2372" actId="14100"/>
        <pc:sldMkLst>
          <pc:docMk/>
          <pc:sldMk cId="2007545538" sldId="283"/>
        </pc:sldMkLst>
        <pc:spChg chg="del">
          <ac:chgData name="林昌碩" userId="f835a9ca-f231-4ac2-9887-24bf7a4c5c81" providerId="ADAL" clId="{29F11A1D-2DF3-489D-9E81-E43322F31BB4}" dt="2026-10-15T15:40:59.461" v="2144" actId="478"/>
          <ac:spMkLst>
            <pc:docMk/>
            <pc:sldMk cId="2007545538" sldId="283"/>
            <ac:spMk id="6" creationId="{3253EECE-C2ED-422E-B61A-1BC2095AC01E}"/>
          </ac:spMkLst>
        </pc:spChg>
        <pc:spChg chg="mod">
          <ac:chgData name="林昌碩" userId="f835a9ca-f231-4ac2-9887-24bf7a4c5c81" providerId="ADAL" clId="{29F11A1D-2DF3-489D-9E81-E43322F31BB4}" dt="2026-10-15T15:53:23.316" v="2338" actId="14100"/>
          <ac:spMkLst>
            <pc:docMk/>
            <pc:sldMk cId="2007545538" sldId="283"/>
            <ac:spMk id="20" creationId="{32B64FCC-1494-4B32-90E8-5DAB5EDAF23F}"/>
          </ac:spMkLst>
        </pc:spChg>
        <pc:spChg chg="mod">
          <ac:chgData name="林昌碩" userId="f835a9ca-f231-4ac2-9887-24bf7a4c5c81" providerId="ADAL" clId="{29F11A1D-2DF3-489D-9E81-E43322F31BB4}" dt="2026-10-15T15:53:11.820" v="2336" actId="1076"/>
          <ac:spMkLst>
            <pc:docMk/>
            <pc:sldMk cId="2007545538" sldId="283"/>
            <ac:spMk id="21" creationId="{95B88235-9430-4B7C-9F6A-4A1302491C85}"/>
          </ac:spMkLst>
        </pc:spChg>
        <pc:spChg chg="mod">
          <ac:chgData name="林昌碩" userId="f835a9ca-f231-4ac2-9887-24bf7a4c5c81" providerId="ADAL" clId="{29F11A1D-2DF3-489D-9E81-E43322F31BB4}" dt="2026-10-15T15:55:07.180" v="2372" actId="14100"/>
          <ac:spMkLst>
            <pc:docMk/>
            <pc:sldMk cId="2007545538" sldId="283"/>
            <ac:spMk id="22" creationId="{01AB2F9C-1C82-4C8A-9775-E7BFB42151E9}"/>
          </ac:spMkLst>
        </pc:spChg>
      </pc:sldChg>
      <pc:sldChg chg="delSp add mod setBg modNotesTx">
        <pc:chgData name="林昌碩" userId="f835a9ca-f231-4ac2-9887-24bf7a4c5c81" providerId="ADAL" clId="{29F11A1D-2DF3-489D-9E81-E43322F31BB4}" dt="2026-10-15T12:06:44.334" v="339" actId="478"/>
        <pc:sldMkLst>
          <pc:docMk/>
          <pc:sldMk cId="2662852311" sldId="304"/>
        </pc:sldMkLst>
        <pc:spChg chg="del">
          <ac:chgData name="林昌碩" userId="f835a9ca-f231-4ac2-9887-24bf7a4c5c81" providerId="ADAL" clId="{29F11A1D-2DF3-489D-9E81-E43322F31BB4}" dt="2026-10-15T12:06:44.334" v="339" actId="478"/>
          <ac:spMkLst>
            <pc:docMk/>
            <pc:sldMk cId="2662852311" sldId="304"/>
            <ac:spMk id="6" creationId="{3253EECE-C2ED-422E-B61A-1BC2095AC01E}"/>
          </ac:spMkLst>
        </pc:spChg>
      </pc:sldChg>
      <pc:sldChg chg="delSp add mod setBg modNotesTx">
        <pc:chgData name="林昌碩" userId="f835a9ca-f231-4ac2-9887-24bf7a4c5c81" providerId="ADAL" clId="{29F11A1D-2DF3-489D-9E81-E43322F31BB4}" dt="2026-10-15T12:55:26.458" v="595" actId="478"/>
        <pc:sldMkLst>
          <pc:docMk/>
          <pc:sldMk cId="3575919044" sldId="305"/>
        </pc:sldMkLst>
        <pc:spChg chg="del">
          <ac:chgData name="林昌碩" userId="f835a9ca-f231-4ac2-9887-24bf7a4c5c81" providerId="ADAL" clId="{29F11A1D-2DF3-489D-9E81-E43322F31BB4}" dt="2026-10-15T12:55:26.458" v="595" actId="478"/>
          <ac:spMkLst>
            <pc:docMk/>
            <pc:sldMk cId="3575919044" sldId="305"/>
            <ac:spMk id="6" creationId="{3253EECE-C2ED-422E-B61A-1BC2095AC01E}"/>
          </ac:spMkLst>
        </pc:spChg>
        <pc:spChg chg="del">
          <ac:chgData name="林昌碩" userId="f835a9ca-f231-4ac2-9887-24bf7a4c5c81" providerId="ADAL" clId="{29F11A1D-2DF3-489D-9E81-E43322F31BB4}" dt="2026-10-15T12:55:23.914" v="594" actId="478"/>
          <ac:spMkLst>
            <pc:docMk/>
            <pc:sldMk cId="3575919044" sldId="305"/>
            <ac:spMk id="23" creationId="{4D0AB463-EBC8-465D-8836-79D17D43924D}"/>
          </ac:spMkLst>
        </pc:spChg>
      </pc:sldChg>
      <pc:sldChg chg="delSp add mod setBg modNotesTx">
        <pc:chgData name="林昌碩" userId="f835a9ca-f231-4ac2-9887-24bf7a4c5c81" providerId="ADAL" clId="{29F11A1D-2DF3-489D-9E81-E43322F31BB4}" dt="2026-10-15T14:00:26.631" v="1233" actId="478"/>
        <pc:sldMkLst>
          <pc:docMk/>
          <pc:sldMk cId="89940476" sldId="306"/>
        </pc:sldMkLst>
        <pc:spChg chg="del">
          <ac:chgData name="林昌碩" userId="f835a9ca-f231-4ac2-9887-24bf7a4c5c81" providerId="ADAL" clId="{29F11A1D-2DF3-489D-9E81-E43322F31BB4}" dt="2026-10-15T14:00:26.631" v="1233" actId="478"/>
          <ac:spMkLst>
            <pc:docMk/>
            <pc:sldMk cId="89940476" sldId="306"/>
            <ac:spMk id="6" creationId="{3253EECE-C2ED-422E-B61A-1BC2095AC01E}"/>
          </ac:spMkLst>
        </pc:spChg>
        <pc:spChg chg="del">
          <ac:chgData name="林昌碩" userId="f835a9ca-f231-4ac2-9887-24bf7a4c5c81" providerId="ADAL" clId="{29F11A1D-2DF3-489D-9E81-E43322F31BB4}" dt="2026-10-15T14:00:24.112" v="1232" actId="478"/>
          <ac:spMkLst>
            <pc:docMk/>
            <pc:sldMk cId="89940476" sldId="306"/>
            <ac:spMk id="23" creationId="{97DC7E91-AB21-4670-A138-E04FE34B3080}"/>
          </ac:spMkLst>
        </pc:spChg>
      </pc:sldChg>
      <pc:sldChg chg="delSp add mod setBg modNotesTx">
        <pc:chgData name="林昌碩" userId="f835a9ca-f231-4ac2-9887-24bf7a4c5c81" providerId="ADAL" clId="{29F11A1D-2DF3-489D-9E81-E43322F31BB4}" dt="2026-10-15T14:24:27.792" v="1528" actId="6549"/>
        <pc:sldMkLst>
          <pc:docMk/>
          <pc:sldMk cId="3517643123" sldId="307"/>
        </pc:sldMkLst>
        <pc:spChg chg="del">
          <ac:chgData name="林昌碩" userId="f835a9ca-f231-4ac2-9887-24bf7a4c5c81" providerId="ADAL" clId="{29F11A1D-2DF3-489D-9E81-E43322F31BB4}" dt="2026-10-15T14:23:05.609" v="1527" actId="478"/>
          <ac:spMkLst>
            <pc:docMk/>
            <pc:sldMk cId="3517643123" sldId="307"/>
            <ac:spMk id="6" creationId="{3253EECE-C2ED-422E-B61A-1BC2095AC0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3 分鐘，課程累計 56–59 分鐘。</a:t>
            </a:r>
          </a:p>
          <a:p>
            <a:r>
              <a:t>來源：式3.23。用約分說明Sales與TA消去，剩NI/TE。ROA=PM×TAT，ROE=ROA×EM。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59–61 分鐘。</a:t>
            </a:r>
          </a:p>
          <a:p>
            <a:r>
              <a:t>所有運算用原始474、2361、3630、2625，畫面僅顯示近似值。NI為正時ROE&gt;ROA；若虧損，正權益下槓桿也會放大負報酬。提高借款不保證淨利保持不變。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61–63 分鐘。</a:t>
            </a:r>
          </a:p>
          <a:p>
            <a:r>
              <a:t>教學自編比較，三家ROE都為20%。引導學生問資產與產業是否可比、槓桿風險是否不同。相同ROE不代表品質、風險或企業價值相同。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63–65 分鐘。</a:t>
            </a:r>
          </a:p>
          <a:p>
            <a:r>
              <a:t>先停留在數字，請學生用杜邦逐項解釋。去年0.08×1.5×2=.24，今年.06×1.5×3=.27。本頁含參考答案，可用按頁講解或先口頭提問。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65–67 分鐘。</a:t>
            </a:r>
          </a:p>
          <a:p>
            <a:r>
              <a:t>來源：式3.24與3.25。本題NI=股利+新增保留盈餘。虧損、過往盈餘分配、其他權益調整等情況，簡單比率可能失去一般解釋，模型使用時需先檢查。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3 分鐘，課程累計 67–70 分鐘。</a:t>
            </a:r>
          </a:p>
          <a:p>
            <a:r>
              <a:t>來源：式3.26。用未四捨五入值ROA=474/3630、b=316/474，乘積316/3630；IGR=316/3314=9.5353%。期末數公式的意義稍後專頁說明。這是模型推算，不是未來成長預測。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3 分鐘，課程累計 70–73 分鐘。</a:t>
            </a:r>
          </a:p>
          <a:p>
            <a:r>
              <a:t>來源：式3.27。SGR=316/(2625-316)=13.6856%。財務政策、資產效率、利潤與保留率假設維持。新增借款使可用資金較IGR多。不要把可持續誤讀成不用任何外部資金。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73–75 分鐘。</a:t>
            </a:r>
          </a:p>
          <a:p>
            <a:r>
              <a:t>來源：課本Table3.10。一般正獲利、正權益、有負債案例下ROE&gt;ROA，因此SGR&gt;IGR；零負債時可能相同。不是不受限制的無限成長。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75–77 分鐘。</a:t>
            </a:r>
          </a:p>
          <a:p>
            <a:r>
              <a:t>來源：課本3.4四項成長因素。SGR是政策一致性的檢查工具，不是要求企業一律增加借款或減少股利。新增投資仍應創造價值。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77–79 分鐘。</a:t>
            </a:r>
          </a:p>
          <a:p>
            <a:r>
              <a:t>改編課本3.4期初期末討論，假設無新增權益、無其他權益調整，E1=80+20×.6=92。這裡不要用Prufrock期初2299核對，因其另有新增股本10。平均權益需另用相應公式，不能直接套本章期末式。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1 分鐘，課程累計 79–80 分鐘。</a:t>
            </a:r>
          </a:p>
          <a:p>
            <a:r>
              <a:t>來源：課本3.5。分析目的決定關注的比率。績效指標可能影響管理者行為，因此避免只用單一比率評估全部表現。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80–82 分鐘。</a:t>
            </a:r>
          </a:p>
          <a:p>
            <a:r>
              <a:t>來源：課本3.5。避免直接拿銀行和製造業比流動比率。產業平均亦可能受樣本、規模與極端值影響，必要時比較中位數與分布。分類制度為課本內容，未提供最新代碼表。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82–84 分鐘。</a:t>
            </a:r>
          </a:p>
          <a:p>
            <a:r>
              <a:t>來源：課本3.5。權益很小或為負時，ROE及D/E可能極大或失去通常意義。資料品質與計算定義也會影響可比性。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3 分鐘，課程累計 84–87 分鐘。</a:t>
            </a:r>
          </a:p>
          <a:p>
            <a:r>
              <a:t>學生兩人討論。所有存量採期末，假設維持利潤、周轉與股利政策，SGR維持固定D/E。要求學生除數值外，說明是否允許新增債務。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2 分鐘，課程累計 87–89 分鐘。</a:t>
            </a:r>
          </a:p>
          <a:p>
            <a:r>
              <a:t>目標超過SGR時，不能只說多借款即可且仍固定D/E。在原政策下資金不足，可提高保留率、改善PM或TAT、提高允許槓桿、發行新股或下修成長目標。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 1 分鐘，課程累計 89–90 分鐘。</a:t>
            </a:r>
          </a:p>
          <a:p>
            <a:r>
              <a:t>請學生各用一句話解釋：流動比率、ROE、SGR。最後提醒本章是企業診斷工具，下一階段可連結財務規劃與未來現金流量。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附錄，依課堂時間補充。</a:t>
            </a:r>
          </a:p>
          <a:p>
            <a:r>
              <a:t>附錄，不計入90分鐘。來源：課本3.2。CL流動負債、CA流動資產、TD總負債、TA總資產、TE總權益、AR應收帳款、AP應付帳款。實務定義可能不同。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附錄，依課堂時間補充。</a:t>
            </a:r>
          </a:p>
          <a:p>
            <a:r>
              <a:t>附錄，不計入90分鐘。來源：課本3.2至3.4。成長公式適用於模型假設與分母為正等可解釋情況。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附錄，依課堂時間補充。</a:t>
            </a:r>
          </a:p>
          <a:p>
            <a:r>
              <a:t>來源：課本3.2市場價值衡量，PDF第238頁。以精確PE=(115×33)/474再除6，得1.3344，四捨五入兩位為1.33。避免中間先把PE取成8.01造成尾差。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附錄，依課堂時間補充。</a:t>
            </a:r>
          </a:p>
          <a:p>
            <a:r>
              <a:t>各頁備忘稿另列章節、表與公式來源。附件不同版本年份及少數中間取近似結果不一致，已以指定第11版原始數字統一。</a:t>
            </a:r>
          </a:p>
          <a:p>
            <a:r>
              <a:t>主要來源：Ross, Westerfield &amp; Jordan, Essentials of Corporate Finance, 11th ed., Chapter 3。整合附件2025R投影片及Instructor Manual；以第11版概念與原始數值為準。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41A0D09-752E-4019-8AD5-CB474F8628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3335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D2B783"/>
                </a:solidFill>
                <a:latin typeface="Noto Sans CJK TC"/>
                <a:ea typeface="Noto Sans CJK TC"/>
                <a:cs typeface="Noto Sans CJK TC"/>
              </a:rPr>
              <a:t>CHAPTER 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B2638F-EDCC-4576-963C-3EF6CC246759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4B6275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1CB87B-28B0-4C15-9AB1-FF2C2D58618A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D2DCE3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C947C4-8EFF-460B-ADA6-78BBF97C9F7B}"/>
              </a:ext>
            </a:extLst>
          </p:cNvPr>
          <p:cNvSpPr>
            <a:spLocks noGrp="1"/>
          </p:cNvSpPr>
          <p:nvPr/>
        </p:nvSpPr>
        <p:spPr>
          <a:xfrm>
            <a:off x="685800" y="2257425"/>
            <a:ext cx="138684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9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運用財務報表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854907-CE7A-4F62-8D3D-FF63687BAD90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37636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9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Working with Financial Statements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4DAE81-4F64-4566-8D1E-D3AFA0F76783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13792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925" b="0">
                <a:solidFill>
                  <a:srgbClr val="D3B582"/>
                </a:solidFill>
                <a:latin typeface="Noto Sans CJK TC"/>
                <a:ea typeface="Noto Sans CJK TC"/>
                <a:cs typeface="Noto Sans CJK TC"/>
              </a:rPr>
              <a:t>從報表數字，理解經營表現與成長能力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9A3ED2-D069-47ED-AFFE-281E9A5F8409}"/>
              </a:ext>
            </a:extLst>
          </p:cNvPr>
          <p:cNvSpPr>
            <a:spLocks noGrp="1"/>
          </p:cNvSpPr>
          <p:nvPr/>
        </p:nvSpPr>
        <p:spPr>
          <a:xfrm>
            <a:off x="723900" y="6848475"/>
            <a:ext cx="13620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Ross, Westerfield &amp; Jordan</a:t>
            </a:r>
          </a:p>
          <a:p>
            <a:pPr>
              <a:buNone/>
              <a:def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025" b="0">
                <a:solidFill>
                  <a:srgbClr val="D9E1E8"/>
                </a:solidFill>
                <a:latin typeface="Noto Sans CJK TC"/>
                <a:ea typeface="Noto Sans CJK TC"/>
                <a:cs typeface="Noto Sans CJK TC"/>
              </a:rPr>
              <a:t>Essentials of Corporate Finance, 11th Edition</a:t>
            </a:r>
          </a:p>
        </p:txBody>
      </p:sp>
    </p:spTree>
    <p:extLst>
      <p:ext uri="{BB962C8B-B14F-4D97-AF65-F5344CB8AC3E}">
        <p14:creationId xmlns:p14="http://schemas.microsoft.com/office/powerpoint/2010/main" val="7163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Opening Discussion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獲利較高的公司，表現一定較好嗎？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628D6E7-73C3-4851-B902-D929A462A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9181446"/>
              </p:ext>
            </p:extLst>
          </p:nvPr>
        </p:nvGraphicFramePr>
        <p:xfrm>
          <a:off x="685800" y="1943100"/>
          <a:ext cx="13868400" cy="2762252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案例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甲公司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乙公司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銷貨收入 Sales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1,000 萬元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5,000 萬元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 Net Income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萬元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200 萬元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淨利率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Profit Margin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-乙公司的淨利較高，甲公司每 1 元營">
            <a:extLst>
              <a:ext uri="{FF2B5EF4-FFF2-40B4-BE49-F238E27FC236}">
                <a16:creationId xmlns:a16="http://schemas.microsoft.com/office/drawing/2014/main" id="{6695A879-91D6-46C5-A480-AEEB62AF1748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乙公司的淨利較高，甲公司每 1 元營收留下的淨利較多。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3.1　Standardized Financial Statements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共同比財務報表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為何標準化？">
            <a:extLst>
              <a:ext uri="{FF2B5EF4-FFF2-40B4-BE49-F238E27FC236}">
                <a16:creationId xmlns:a16="http://schemas.microsoft.com/office/drawing/2014/main" id="{95442777-7949-4223-84FE-70D2E5DF8AAB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為何標準化？</a:t>
            </a:r>
          </a:p>
        </p:txBody>
      </p:sp>
      <p:sp>
        <p:nvSpPr>
          <p:cNvPr id="18" name="text-公司規模、成長階段與報表幣別不同，直">
            <a:extLst>
              <a:ext uri="{FF2B5EF4-FFF2-40B4-BE49-F238E27FC236}">
                <a16:creationId xmlns:a16="http://schemas.microsoft.com/office/drawing/2014/main" id="{88A19ADF-8EA7-4F2A-BB86-238D10E203E4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公司規模、成長階段與報表幣別不同，直接比較金額容易失焦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19" name="text-共同比資產負債表 Common-Si">
            <a:extLst>
              <a:ext uri="{FF2B5EF4-FFF2-40B4-BE49-F238E27FC236}">
                <a16:creationId xmlns:a16="http://schemas.microsoft.com/office/drawing/2014/main" id="{C3D4EDA5-37A0-4085-8C75-F599A708087D}"/>
              </a:ext>
            </a:extLst>
          </p:cNvPr>
          <p:cNvSpPr>
            <a:spLocks noGrp="1"/>
          </p:cNvSpPr>
          <p:nvPr/>
        </p:nvSpPr>
        <p:spPr>
          <a:xfrm>
            <a:off x="685800" y="3860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共同比資產負債表 Common-Size Balance Sheet</a:t>
            </a:r>
          </a:p>
        </p:txBody>
      </p:sp>
      <p:sp>
        <p:nvSpPr>
          <p:cNvPr id="20" name="text-每個項目 ÷ 總資產 × 100%，">
            <a:extLst>
              <a:ext uri="{FF2B5EF4-FFF2-40B4-BE49-F238E27FC236}">
                <a16:creationId xmlns:a16="http://schemas.microsoft.com/office/drawing/2014/main" id="{B39321F7-EF1A-4C10-8A9D-B6F602C0B59D}"/>
              </a:ext>
            </a:extLst>
          </p:cNvPr>
          <p:cNvSpPr>
            <a:spLocks noGrp="1"/>
          </p:cNvSpPr>
          <p:nvPr/>
        </p:nvSpPr>
        <p:spPr>
          <a:xfrm>
            <a:off x="685800" y="43275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每個項目 ÷ 總資產 × 100%，觀察資產配置與資金來源。</a:t>
            </a:r>
          </a:p>
        </p:txBody>
      </p:sp>
      <p:sp>
        <p:nvSpPr>
          <p:cNvPr id="21" name="text-共同比損益表 Common-Size">
            <a:extLst>
              <a:ext uri="{FF2B5EF4-FFF2-40B4-BE49-F238E27FC236}">
                <a16:creationId xmlns:a16="http://schemas.microsoft.com/office/drawing/2014/main" id="{D55E2920-5366-45A4-9BC4-2BDDC8CEAEDC}"/>
              </a:ext>
            </a:extLst>
          </p:cNvPr>
          <p:cNvSpPr>
            <a:spLocks noGrp="1"/>
          </p:cNvSpPr>
          <p:nvPr/>
        </p:nvSpPr>
        <p:spPr>
          <a:xfrm>
            <a:off x="685800" y="57785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共同比損益表 Common-Size Income Statement</a:t>
            </a:r>
          </a:p>
        </p:txBody>
      </p:sp>
      <p:sp>
        <p:nvSpPr>
          <p:cNvPr id="22" name="text-每個項目 ÷ 銷貨收入 × 100%">
            <a:extLst>
              <a:ext uri="{FF2B5EF4-FFF2-40B4-BE49-F238E27FC236}">
                <a16:creationId xmlns:a16="http://schemas.microsoft.com/office/drawing/2014/main" id="{33D03D06-ACE4-453F-B03C-1BCA06A60A89}"/>
              </a:ext>
            </a:extLst>
          </p:cNvPr>
          <p:cNvSpPr>
            <a:spLocks noGrp="1"/>
          </p:cNvSpPr>
          <p:nvPr/>
        </p:nvSpPr>
        <p:spPr>
          <a:xfrm>
            <a:off x="685800" y="62452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每個項目 ÷ 銷貨收入 × 100%，觀察每 1 元營收的成本與獲利。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3.1　Case Data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Prufrock：資產端資料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DA3825-A22D-F8B7-341D-EAA6361B9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4" b="1595"/>
          <a:stretch/>
        </p:blipFill>
        <p:spPr>
          <a:xfrm>
            <a:off x="3458375" y="1685925"/>
            <a:ext cx="8323249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3.1　Common-Size Balance Sheets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共同比資產負債表的判讀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8" name="text-權益比重提高、負債比重降低，仍須搭配">
            <a:extLst>
              <a:ext uri="{FF2B5EF4-FFF2-40B4-BE49-F238E27FC236}">
                <a16:creationId xmlns:a16="http://schemas.microsoft.com/office/drawing/2014/main" id="{64048714-5C2A-4AAD-BE3C-6E061BC42E80}"/>
              </a:ext>
            </a:extLst>
          </p:cNvPr>
          <p:cNvSpPr>
            <a:spLocks noGrp="1"/>
          </p:cNvSpPr>
          <p:nvPr/>
        </p:nvSpPr>
        <p:spPr>
          <a:xfrm>
            <a:off x="465082" y="4094505"/>
            <a:ext cx="586477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dirty="0" err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權益比重提高、負債比重降低，仍須搭配獲利與現金流量判斷</a:t>
            </a:r>
            <a:r>
              <a:rPr sz="2175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18869D3-A958-162F-A43A-782F8BD34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" b="1267"/>
          <a:stretch/>
        </p:blipFill>
        <p:spPr>
          <a:xfrm>
            <a:off x="6589986" y="1731060"/>
            <a:ext cx="8263759" cy="609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3.1　Common-Size Income Statements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共同比損益表：每 1 元營收留下多少？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8" name="text-每 1 元銷貨收入，約有 0.201">
            <a:extLst>
              <a:ext uri="{FF2B5EF4-FFF2-40B4-BE49-F238E27FC236}">
                <a16:creationId xmlns:a16="http://schemas.microsoft.com/office/drawing/2014/main" id="{66945946-3FEC-4AB5-9506-3A8B1D6BAA00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每 1 元銷貨收入，約有 0.201 元成為淨利。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4BAF48A-92E1-F599-3229-601AB778D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5" b="2015"/>
          <a:stretch/>
        </p:blipFill>
        <p:spPr>
          <a:xfrm>
            <a:off x="1168749" y="2284711"/>
            <a:ext cx="6300189" cy="37613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43311F5-2817-7F73-2F6B-D3523F685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2" b="3534"/>
          <a:stretch/>
        </p:blipFill>
        <p:spPr>
          <a:xfrm>
            <a:off x="7873911" y="2284711"/>
            <a:ext cx="6300189" cy="361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Ratio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五大類財務比率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C5FC71C-F274-4ABC-95A7-56E5CB798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2686731"/>
              </p:ext>
            </p:extLst>
          </p:nvPr>
        </p:nvGraphicFramePr>
        <p:xfrm>
          <a:off x="685800" y="1943100"/>
          <a:ext cx="13868400" cy="3543300"/>
        </p:xfrm>
        <a:graphic>
          <a:graphicData uri="http://schemas.openxmlformats.org/drawingml/2006/table">
            <a:tbl>
              <a:tblPr/>
              <a:tblGrid>
                <a:gridCol w="237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6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9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關鍵名詞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核心問題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短期償債能力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Liquidity Ratios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流動比率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近期帳款付得出來嗎？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長期償債與槓桿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Financial Leverage Ratios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財務槓桿比率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負債壓力有多大？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資產管理與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週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轉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Asset Management / Turnover Ratios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週轉率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資產運用是否有效率？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獲利能力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Profitability Ratios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獲利率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營收與投入產生多少淨利？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市場價值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Market Value Ratios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市場價值比率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市場如何評價公司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Current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流動比率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流動比率 = 流動資產 CA ÷ 流">
            <a:extLst>
              <a:ext uri="{FF2B5EF4-FFF2-40B4-BE49-F238E27FC236}">
                <a16:creationId xmlns:a16="http://schemas.microsoft.com/office/drawing/2014/main" id="{887676B1-EE32-413A-B615-664688BB4215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流動比率 = 流動資產 CA ÷ 流動負債 CL</a:t>
            </a:r>
          </a:p>
        </p:txBody>
      </p:sp>
      <p:sp>
        <p:nvSpPr>
          <p:cNvPr id="18" name="text-708 ÷ 548 = 1.29 倍">
            <a:extLst>
              <a:ext uri="{FF2B5EF4-FFF2-40B4-BE49-F238E27FC236}">
                <a16:creationId xmlns:a16="http://schemas.microsoft.com/office/drawing/2014/main" id="{97DB43BD-58CD-4A13-B8B9-2F883C6FBBC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708 ÷ 548 = 1.29 倍</a:t>
            </a:r>
          </a:p>
        </p:txBody>
      </p:sp>
      <p:sp>
        <p:nvSpPr>
          <p:cNvPr id="19" name="text-數值意義">
            <a:extLst>
              <a:ext uri="{FF2B5EF4-FFF2-40B4-BE49-F238E27FC236}">
                <a16:creationId xmlns:a16="http://schemas.microsoft.com/office/drawing/2014/main" id="{1ECEFE36-3D6F-4AF9-8FD5-60731ECA17E7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數值意義</a:t>
            </a:r>
          </a:p>
        </p:txBody>
      </p:sp>
      <p:sp>
        <p:nvSpPr>
          <p:cNvPr id="20" name="text-每 1 元流動負債，對應約 1.29">
            <a:extLst>
              <a:ext uri="{FF2B5EF4-FFF2-40B4-BE49-F238E27FC236}">
                <a16:creationId xmlns:a16="http://schemas.microsoft.com/office/drawing/2014/main" id="{F8236AB2-75BB-4B1A-8F02-093344B2B787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 1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元流動負債，對應約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1.29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元流動資產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可以支付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淨營運資本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NWC = 708 − 548 = 160。</a:t>
            </a:r>
          </a:p>
        </p:txBody>
      </p:sp>
      <p:sp>
        <p:nvSpPr>
          <p:cNvPr id="21" name="text-判讀重點">
            <a:extLst>
              <a:ext uri="{FF2B5EF4-FFF2-40B4-BE49-F238E27FC236}">
                <a16:creationId xmlns:a16="http://schemas.microsoft.com/office/drawing/2014/main" id="{8E667779-A265-46E2-AE22-F628A4CC130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判讀重點</a:t>
            </a:r>
          </a:p>
        </p:txBody>
      </p:sp>
      <p:sp>
        <p:nvSpPr>
          <p:cNvPr id="22" name="text-較高通常代表短期緩衝較多，也可能來自">
            <a:extLst>
              <a:ext uri="{FF2B5EF4-FFF2-40B4-BE49-F238E27FC236}">
                <a16:creationId xmlns:a16="http://schemas.microsoft.com/office/drawing/2014/main" id="{DD284B19-1B30-4EE3-8B30-A273966801E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較高通常代表短期緩衝較多，也可能來自過多存貨或收不回的應收帳款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lang="en-US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公司以長期舉債方式募集資金，使得現金增加，流動負債不受影響，提高流動比率。</a:t>
            </a:r>
            <a:endParaRPr lang="en-US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是否足夠，還要看產業、收付款時間及可動用額度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Example 3.1: Current Events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交易對流動比率的影響：償還短期負債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問題：公司償還部分供應商貨款及短期債權人">
            <a:extLst>
              <a:ext uri="{FF2B5EF4-FFF2-40B4-BE49-F238E27FC236}">
                <a16:creationId xmlns:a16="http://schemas.microsoft.com/office/drawing/2014/main" id="{18183327-BFA0-4E1B-88EF-8CD35FE7665D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問題：公司償還部分供應商貨款及短期債權人的款項，流動比率會如何變化？</a:t>
            </a:r>
          </a:p>
        </p:txBody>
      </p:sp>
      <p:sp>
        <p:nvSpPr>
          <p:cNvPr id="18" name="以現金償還流動負債時，流動資產與流動負債">
            <a:extLst>
              <a:ext uri="{FF2B5EF4-FFF2-40B4-BE49-F238E27FC236}">
                <a16:creationId xmlns:a16="http://schemas.microsoft.com/office/drawing/2014/main" id="{6C45AF76-E6D2-4F71-9F65-CED01FECAC43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13868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以現金償還流動負債時，流動資產與流動負債會同額減少。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DBD6286-27E1-4FCA-BB96-9A67445E1ED7}"/>
              </a:ext>
            </a:extLst>
          </p:cNvPr>
          <p:cNvGraphicFramePr/>
          <p:nvPr/>
        </p:nvGraphicFramePr>
        <p:xfrm>
          <a:off x="685800" y="3714750"/>
          <a:ext cx="13868400" cy="2322830"/>
        </p:xfrm>
        <a:graphic>
          <a:graphicData uri="http://schemas.openxmlformats.org/drawingml/2006/table">
            <a:tbl>
              <a:tblPr/>
              <a:tblGrid>
                <a:gridCol w="6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原本的情況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償還現金 1 元之前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償還現金 1 元之後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4 元，流動負債 2 元</a:t>
                      </a:r>
                    </a:p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原本流動比率 &gt; 1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 ÷ 2 = 2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(4 − 1) ÷ (2 − 1)</a:t>
                      </a:r>
                    </a:p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 3 倍，上升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流動資產 2 元，流動負債 4 元</a:t>
                      </a:r>
                    </a:p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原本流動比率 &lt; 1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 ÷ 4 = 1/2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(2 − 1) ÷ (4 − 1)</a:t>
                      </a:r>
                    </a:p>
                    <a:p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 1/3 倍，下降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結論：流動比率會朝「遠離 1」的方向變動">
            <a:extLst>
              <a:ext uri="{FF2B5EF4-FFF2-40B4-BE49-F238E27FC236}">
                <a16:creationId xmlns:a16="http://schemas.microsoft.com/office/drawing/2014/main" id="{5BAB8F61-0B14-478D-B0D9-CF8F881DC49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結論：流動比率會朝「遠離 1」的方向變動。</a:t>
            </a:r>
          </a:p>
        </p:txBody>
      </p:sp>
      <p:sp>
        <p:nvSpPr>
          <p:cNvPr id="21" name="原本大於 1，償還後會更大。原本小於 1">
            <a:extLst>
              <a:ext uri="{FF2B5EF4-FFF2-40B4-BE49-F238E27FC236}">
                <a16:creationId xmlns:a16="http://schemas.microsoft.com/office/drawing/2014/main" id="{DC6F57CD-6C61-4354-91A7-87BAC1B12190}"/>
              </a:ext>
            </a:extLst>
          </p:cNvPr>
          <p:cNvSpPr>
            <a:spLocks noGrp="1"/>
          </p:cNvSpPr>
          <p:nvPr/>
        </p:nvSpPr>
        <p:spPr>
          <a:xfrm>
            <a:off x="685800" y="7086600"/>
            <a:ext cx="138684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原本大於 1，償還後會更大。原本小於 1，償還後會更小。</a:t>
            </a:r>
          </a:p>
        </p:txBody>
      </p:sp>
    </p:spTree>
    <p:extLst>
      <p:ext uri="{BB962C8B-B14F-4D97-AF65-F5344CB8AC3E}">
        <p14:creationId xmlns:p14="http://schemas.microsoft.com/office/powerpoint/2010/main" val="266285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Example 3.1: Current Events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交易對流動比率的影響：買進與賣出存貨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情況二：公司以現金購買存貨，流動比率會如">
            <a:extLst>
              <a:ext uri="{FF2B5EF4-FFF2-40B4-BE49-F238E27FC236}">
                <a16:creationId xmlns:a16="http://schemas.microsoft.com/office/drawing/2014/main" id="{0F77C26A-33CB-41B4-9238-B6967D16BAF9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情況二：公司以現金購買存貨，流動比率會如何變化？</a:t>
            </a:r>
          </a:p>
        </p:txBody>
      </p:sp>
      <p:sp>
        <p:nvSpPr>
          <p:cNvPr id="18" name="現金減少，存貨增加，兩者金額相同。&#10;流動">
            <a:extLst>
              <a:ext uri="{FF2B5EF4-FFF2-40B4-BE49-F238E27FC236}">
                <a16:creationId xmlns:a16="http://schemas.microsoft.com/office/drawing/2014/main" id="{57D5FA15-7EC6-45BE-91C6-B03426E36AFF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38684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現金減少，存貨增加，兩者金額相同。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流動資產總額不變，流動負債也不變，因此流動比率不變。</a:t>
            </a:r>
          </a:p>
        </p:txBody>
      </p:sp>
      <p:sp>
        <p:nvSpPr>
          <p:cNvPr id="19" name="情況三：公司出售商品，流動比率會如何變化">
            <a:extLst>
              <a:ext uri="{FF2B5EF4-FFF2-40B4-BE49-F238E27FC236}">
                <a16:creationId xmlns:a16="http://schemas.microsoft.com/office/drawing/2014/main" id="{CF30E9CE-A13F-4E80-A02D-9030F7F43EF4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情況三：公司出售商品，流動比率會如何變化？</a:t>
            </a:r>
          </a:p>
        </p:txBody>
      </p:sp>
      <p:sp>
        <p:nvSpPr>
          <p:cNvPr id="20" name="存貨通常按成本入帳，售價通常高於成本，兩">
            <a:extLst>
              <a:ext uri="{FF2B5EF4-FFF2-40B4-BE49-F238E27FC236}">
                <a16:creationId xmlns:a16="http://schemas.microsoft.com/office/drawing/2014/main" id="{260D5CD3-2BAD-4CC8-B5F9-1E43383CF5B1}"/>
              </a:ext>
            </a:extLst>
          </p:cNvPr>
          <p:cNvSpPr>
            <a:spLocks noGrp="1"/>
          </p:cNvSpPr>
          <p:nvPr/>
        </p:nvSpPr>
        <p:spPr>
          <a:xfrm>
            <a:off x="685800" y="4733925"/>
            <a:ext cx="138684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存貨通常按成本入帳，售價通常高於成本，兩者差額為加價。</a:t>
            </a:r>
          </a:p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收到的現金或增加的應收帳款，大於減少的存貨帳面金額。</a:t>
            </a:r>
          </a:p>
        </p:txBody>
      </p:sp>
      <p:sp>
        <p:nvSpPr>
          <p:cNvPr id="21" name="流動資產增加，流動負債不變，因此流動比率">
            <a:extLst>
              <a:ext uri="{FF2B5EF4-FFF2-40B4-BE49-F238E27FC236}">
                <a16:creationId xmlns:a16="http://schemas.microsoft.com/office/drawing/2014/main" id="{B5DAAC34-F2E8-43DB-A9E0-3697BC2D4526}"/>
              </a:ext>
            </a:extLst>
          </p:cNvPr>
          <p:cNvSpPr>
            <a:spLocks noGrp="1"/>
          </p:cNvSpPr>
          <p:nvPr/>
        </p:nvSpPr>
        <p:spPr>
          <a:xfrm>
            <a:off x="685800" y="5972175"/>
            <a:ext cx="13868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流動資產增加，流動負債不變，因此流動比率通常上升。</a:t>
            </a:r>
          </a:p>
        </p:txBody>
      </p:sp>
      <p:sp>
        <p:nvSpPr>
          <p:cNvPr id="22" name="上述判讀假設其他項目不變，且出售存貨的售">
            <a:extLst>
              <a:ext uri="{FF2B5EF4-FFF2-40B4-BE49-F238E27FC236}">
                <a16:creationId xmlns:a16="http://schemas.microsoft.com/office/drawing/2014/main" id="{9F22CFD7-7755-4CD0-B349-BD677DB5DC49}"/>
              </a:ext>
            </a:extLst>
          </p:cNvPr>
          <p:cNvSpPr>
            <a:spLocks noGrp="1"/>
          </p:cNvSpPr>
          <p:nvPr/>
        </p:nvSpPr>
        <p:spPr>
          <a:xfrm>
            <a:off x="685800" y="7134225"/>
            <a:ext cx="1386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上述判讀假設其他項目不變，且出售存貨的售價高於成本。</a:t>
            </a:r>
          </a:p>
        </p:txBody>
      </p:sp>
    </p:spTree>
    <p:extLst>
      <p:ext uri="{BB962C8B-B14F-4D97-AF65-F5344CB8AC3E}">
        <p14:creationId xmlns:p14="http://schemas.microsoft.com/office/powerpoint/2010/main" val="424866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Quick Ratio / Cash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速動比率與現金比率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145D0F2-D534-4109-9BDD-FEA8B4B0A1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88075"/>
              </p:ext>
            </p:extLst>
          </p:nvPr>
        </p:nvGraphicFramePr>
        <p:xfrm>
          <a:off x="685800" y="1943100"/>
          <a:ext cx="13868400" cy="2177415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公式與計算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結果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速動比率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Quick / Acid-Test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(CA − Inventory) ÷ CL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(708 − 422) ÷ 548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0.52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現金比率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Cash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Cash ÷ CL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98 ÷ 548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0.18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-為何排除存貨？">
            <a:extLst>
              <a:ext uri="{FF2B5EF4-FFF2-40B4-BE49-F238E27FC236}">
                <a16:creationId xmlns:a16="http://schemas.microsoft.com/office/drawing/2014/main" id="{89F47E1F-CC14-4995-BECB-ECE5867FFB7F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為何排除存貨</a:t>
            </a:r>
            <a:r>
              <a:rPr sz="23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19" name="text-存貨需要出售才能變現，可能有滯銷、過">
            <a:extLst>
              <a:ext uri="{FF2B5EF4-FFF2-40B4-BE49-F238E27FC236}">
                <a16:creationId xmlns:a16="http://schemas.microsoft.com/office/drawing/2014/main" id="{EC860010-4625-4452-8019-06B20FD4C3CF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存貨需要出售才能變現，可能有滯銷、過時或跌價問題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0" name="text-本案例的訊息">
            <a:extLst>
              <a:ext uri="{FF2B5EF4-FFF2-40B4-BE49-F238E27FC236}">
                <a16:creationId xmlns:a16="http://schemas.microsoft.com/office/drawing/2014/main" id="{05CD79EF-42C3-4BAA-A259-0AFA359650BB}"/>
              </a:ext>
            </a:extLst>
          </p:cNvPr>
          <p:cNvSpPr>
            <a:spLocks noGrp="1"/>
          </p:cNvSpPr>
          <p:nvPr/>
        </p:nvSpPr>
        <p:spPr>
          <a:xfrm>
            <a:off x="676275" y="5286375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本案例的訊息</a:t>
            </a:r>
            <a:endParaRPr sz="232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1" name="text-流動比率 1.29 倍，但排除存貨後">
            <a:extLst>
              <a:ext uri="{FF2B5EF4-FFF2-40B4-BE49-F238E27FC236}">
                <a16:creationId xmlns:a16="http://schemas.microsoft.com/office/drawing/2014/main" id="{3657D1B4-32E2-4574-BF37-DC0F91371329}"/>
              </a:ext>
            </a:extLst>
          </p:cNvPr>
          <p:cNvSpPr>
            <a:spLocks noGrp="1"/>
          </p:cNvSpPr>
          <p:nvPr/>
        </p:nvSpPr>
        <p:spPr>
          <a:xfrm>
            <a:off x="676275" y="5772150"/>
            <a:ext cx="138684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流動比率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1.29 </a:t>
            </a: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倍，但排除存貨後降到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0.52 </a:t>
            </a: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倍，短期償債能力依賴存貨變現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7" name="text-為何排除存貨？">
            <a:extLst>
              <a:ext uri="{FF2B5EF4-FFF2-40B4-BE49-F238E27FC236}">
                <a16:creationId xmlns:a16="http://schemas.microsoft.com/office/drawing/2014/main" id="{E8ADEA1A-C3DB-1339-76C3-5C64C686FB4F}"/>
              </a:ext>
            </a:extLst>
          </p:cNvPr>
          <p:cNvSpPr>
            <a:spLocks noGrp="1"/>
          </p:cNvSpPr>
          <p:nvPr/>
        </p:nvSpPr>
        <p:spPr>
          <a:xfrm>
            <a:off x="685800" y="6934200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再</a:t>
            </a:r>
            <a:r>
              <a:rPr sz="232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排除</a:t>
            </a:r>
            <a:r>
              <a:rPr lang="zh-TW" altLang="en-US" sz="2325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應收帳款</a:t>
            </a:r>
            <a:endParaRPr sz="232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-存貨需要出售才能變現，可能有滯銷、過">
            <a:extLst>
              <a:ext uri="{FF2B5EF4-FFF2-40B4-BE49-F238E27FC236}">
                <a16:creationId xmlns:a16="http://schemas.microsoft.com/office/drawing/2014/main" id="{E1E86325-22CB-D131-BBCF-895ADD417938}"/>
              </a:ext>
            </a:extLst>
          </p:cNvPr>
          <p:cNvSpPr>
            <a:spLocks noGrp="1"/>
          </p:cNvSpPr>
          <p:nvPr/>
        </p:nvSpPr>
        <p:spPr>
          <a:xfrm>
            <a:off x="685800" y="7381875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現金比率對於非常短期限的債權人會有興趣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Current Ratio versus Quick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流動比率與速動比率：公司比較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D7CF520-BDE1-4ACA-85B7-E150DBA55C7E}"/>
              </a:ext>
            </a:extLst>
          </p:cNvPr>
          <p:cNvGraphicFramePr/>
          <p:nvPr/>
        </p:nvGraphicFramePr>
        <p:xfrm>
          <a:off x="685800" y="2000250"/>
          <a:ext cx="13868400" cy="2476500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流動比率</a:t>
                      </a:r>
                    </a:p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Current Ratio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速動比率</a:t>
                      </a:r>
                    </a:p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Quick Ratio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沃爾瑪 Walmart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0.80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0.23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4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萬寶華</a:t>
                      </a:r>
                      <a:r>
                        <a:rPr sz="24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ManpowerGroup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1.44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1.44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Walmart：流動資產中的存貨占比較高">
            <a:extLst>
              <a:ext uri="{FF2B5EF4-FFF2-40B4-BE49-F238E27FC236}">
                <a16:creationId xmlns:a16="http://schemas.microsoft.com/office/drawing/2014/main" id="{066AF650-A9C0-478A-984A-84F1848F16F9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1386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Walmart：流動資產中的存貨占比較高</a:t>
            </a:r>
            <a:endParaRPr sz="2475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9" name="流動比率為 0.80 倍，扣除存貨後的速動比率僅 ">
            <a:extLst>
              <a:ext uri="{FF2B5EF4-FFF2-40B4-BE49-F238E27FC236}">
                <a16:creationId xmlns:a16="http://schemas.microsoft.com/office/drawing/2014/main" id="{30CEF311-3220-400C-90BF-C9673AC6422A}"/>
              </a:ext>
            </a:extLst>
          </p:cNvPr>
          <p:cNvSpPr>
            <a:spLocks noGrp="1"/>
          </p:cNvSpPr>
          <p:nvPr/>
        </p:nvSpPr>
        <p:spPr>
          <a:xfrm>
            <a:off x="685800" y="5343525"/>
            <a:ext cx="13868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流動比率為 0.80 倍，扣除存貨後的速動比率僅 0.23 倍。</a:t>
            </a:r>
          </a:p>
        </p:txBody>
      </p:sp>
      <p:sp>
        <p:nvSpPr>
          <p:cNvPr id="20" name="ManpowerGroup：幾乎沒有存貨">
            <a:extLst>
              <a:ext uri="{FF2B5EF4-FFF2-40B4-BE49-F238E27FC236}">
                <a16:creationId xmlns:a16="http://schemas.microsoft.com/office/drawing/2014/main" id="{78F9A31B-89F7-40CB-A0D3-0D8CA9E81E2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ManpowerGroup：幾乎沒有存貨</a:t>
            </a:r>
          </a:p>
        </p:txBody>
      </p:sp>
      <p:sp>
        <p:nvSpPr>
          <p:cNvPr id="21" name="扣除存貨前後差異很小，因此流動比率與速動比率皆為 ">
            <a:extLst>
              <a:ext uri="{FF2B5EF4-FFF2-40B4-BE49-F238E27FC236}">
                <a16:creationId xmlns:a16="http://schemas.microsoft.com/office/drawing/2014/main" id="{49889F39-CEEB-4581-AB7C-017F4B550DC4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13868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扣除存貨前後差異很小，因此流動比率與速動比率皆為 1.44 倍。</a:t>
            </a:r>
          </a:p>
        </p:txBody>
      </p:sp>
      <p:sp>
        <p:nvSpPr>
          <p:cNvPr id="22" name="重點：搭配速動比率，觀察短期償債能力對存貨變現的依">
            <a:extLst>
              <a:ext uri="{FF2B5EF4-FFF2-40B4-BE49-F238E27FC236}">
                <a16:creationId xmlns:a16="http://schemas.microsoft.com/office/drawing/2014/main" id="{71D20A38-522A-4D6C-A960-BB69DC6C220B}"/>
              </a:ext>
            </a:extLst>
          </p:cNvPr>
          <p:cNvSpPr>
            <a:spLocks noGrp="1"/>
          </p:cNvSpPr>
          <p:nvPr/>
        </p:nvSpPr>
        <p:spPr>
          <a:xfrm>
            <a:off x="685800" y="7315200"/>
            <a:ext cx="13868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3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重點：搭配速動比率，觀察短期償債能力對存貨變現的依賴。</a:t>
            </a:r>
          </a:p>
        </p:txBody>
      </p:sp>
    </p:spTree>
    <p:extLst>
      <p:ext uri="{BB962C8B-B14F-4D97-AF65-F5344CB8AC3E}">
        <p14:creationId xmlns:p14="http://schemas.microsoft.com/office/powerpoint/2010/main" val="3575919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Financial Leverage Ratios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總負債比率、負債權益比、權益乘數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6B0C7CD-41D0-4E99-B9BF-EE2ABA83A5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954320"/>
              </p:ext>
            </p:extLst>
          </p:nvPr>
        </p:nvGraphicFramePr>
        <p:xfrm>
          <a:off x="685800" y="3180693"/>
          <a:ext cx="13868400" cy="2762252"/>
        </p:xfrm>
        <a:graphic>
          <a:graphicData uri="http://schemas.openxmlformats.org/drawingml/2006/table">
            <a:tbl>
              <a:tblPr/>
              <a:tblGrid>
                <a:gridCol w="3720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7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公式與計算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解釋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總負債比率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Total Debt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÷ TA = 1,005 ÷ 3,630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27.69%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公司每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元資產中，有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27.69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元由負債支應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負債權益比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Debt–Equity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TD ÷ TE = 1,005 ÷ 2,625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0.38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股東每提供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元資金，公司就搭配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0.38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元負債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權益乘數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Equity Multiplier, EM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TA ÷ TE = 3,630 ÷ 2,625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1.38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股東每提供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元資金，公司就能支撐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1.38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元資產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-EM = 1 + D/E。本章 TD">
            <a:extLst>
              <a:ext uri="{FF2B5EF4-FFF2-40B4-BE49-F238E27FC236}">
                <a16:creationId xmlns:a16="http://schemas.microsoft.com/office/drawing/2014/main" id="{94A88F13-5FEB-46D2-ADCF-A4A5844731FE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TD </a:t>
            </a:r>
            <a:r>
              <a:rPr sz="2175" b="1" dirty="0" err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包含流動負債與長期負債</a:t>
            </a:r>
            <a:r>
              <a:rPr sz="2175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7" name="text-折舊減少帳面盈餘，但當期不因認列折舊">
            <a:extLst>
              <a:ext uri="{FF2B5EF4-FFF2-40B4-BE49-F238E27FC236}">
                <a16:creationId xmlns:a16="http://schemas.microsoft.com/office/drawing/2014/main" id="{35FF9AE6-BFA8-491E-2AC4-36B00A67865A}"/>
              </a:ext>
            </a:extLst>
          </p:cNvPr>
          <p:cNvSpPr>
            <a:spLocks noGrp="1"/>
          </p:cNvSpPr>
          <p:nvPr/>
        </p:nvSpPr>
        <p:spPr>
          <a:xfrm>
            <a:off x="685800" y="1828143"/>
            <a:ext cx="13868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用以接露公司償還長期債務的能力</a:t>
            </a:r>
            <a:r>
              <a:rPr sz="24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lang="en-US" sz="240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這類比率稱為</a:t>
            </a:r>
            <a:r>
              <a:rPr lang="zh-TW" altLang="en-US"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財務槓桿比率 </a:t>
            </a:r>
            <a:r>
              <a:rPr lang="en-US" altLang="zh-TW" sz="240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(Financial Leverage Ratio)</a:t>
            </a:r>
            <a:r>
              <a:rPr lang="zh-TW" altLang="en-US" sz="24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sz="240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-EM = 1 + D/E。本章 TD">
            <a:extLst>
              <a:ext uri="{FF2B5EF4-FFF2-40B4-BE49-F238E27FC236}">
                <a16:creationId xmlns:a16="http://schemas.microsoft.com/office/drawing/2014/main" id="{C0B7E91A-564C-4E13-029A-7A520610038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EM</a:t>
            </a:r>
            <a:r>
              <a:rPr lang="zh-TW" altLang="en-US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=</a:t>
            </a:r>
            <a:r>
              <a:rPr lang="zh-TW" altLang="en-US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1</a:t>
            </a:r>
            <a:r>
              <a:rPr lang="zh-TW" altLang="en-US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+</a:t>
            </a:r>
            <a:r>
              <a:rPr lang="zh-TW" altLang="en-US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TD ÷ TE</a:t>
            </a:r>
            <a:r>
              <a:rPr lang="zh-TW" altLang="en-US" sz="2100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  </a:t>
            </a:r>
            <a:r>
              <a:rPr lang="zh-TW" altLang="en-US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股東的 </a:t>
            </a:r>
            <a:r>
              <a:rPr lang="en-US" altLang="zh-TW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1 </a:t>
            </a:r>
            <a:r>
              <a:rPr lang="zh-TW" altLang="en-US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元，加上負債的 </a:t>
            </a:r>
            <a:r>
              <a:rPr lang="en-US" altLang="zh-TW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0.38 </a:t>
            </a:r>
            <a:r>
              <a:rPr lang="zh-TW" altLang="en-US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元，合計支撐 </a:t>
            </a:r>
            <a:r>
              <a:rPr lang="en-US" altLang="zh-TW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1.38 </a:t>
            </a:r>
            <a:r>
              <a:rPr lang="zh-TW" altLang="en-US" sz="21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元資產</a:t>
            </a:r>
            <a:endParaRPr lang="en-US" altLang="zh-TW" sz="2100" dirty="0">
              <a:solidFill>
                <a:srgbClr val="102C46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Interest and Cash Coverage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利息保障倍數與現金保障倍數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F84BAD95-BBE8-49D4-ACB9-496379E243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037731"/>
              </p:ext>
            </p:extLst>
          </p:nvPr>
        </p:nvGraphicFramePr>
        <p:xfrm>
          <a:off x="685800" y="2384107"/>
          <a:ext cx="13868400" cy="2177415"/>
        </p:xfrm>
        <a:graphic>
          <a:graphicData uri="http://schemas.openxmlformats.org/drawingml/2006/table">
            <a:tbl>
              <a:tblPr/>
              <a:tblGrid>
                <a:gridCol w="312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8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公式與計算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解釋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利息保障倍數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Times Interest Earned, TIE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 ÷ Interest</a:t>
                      </a:r>
                    </a:p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741 ÷ 141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5.26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每需要支付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元利息，公司有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5.26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元的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作為支應基礎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現金保障倍數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Cash Coverage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(EBIT + Depreciation) ÷ Interest</a:t>
                      </a:r>
                    </a:p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(741 + 276) ÷ 141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7.21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每需要支付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元利息，公司有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7.21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元折舊前的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作為支應基礎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-為何加回折舊？">
            <a:extLst>
              <a:ext uri="{FF2B5EF4-FFF2-40B4-BE49-F238E27FC236}">
                <a16:creationId xmlns:a16="http://schemas.microsoft.com/office/drawing/2014/main" id="{7DF8C901-FE66-4CB9-B51A-553777940C21}"/>
              </a:ext>
            </a:extLst>
          </p:cNvPr>
          <p:cNvSpPr>
            <a:spLocks noGrp="1"/>
          </p:cNvSpPr>
          <p:nvPr/>
        </p:nvSpPr>
        <p:spPr>
          <a:xfrm>
            <a:off x="676275" y="4733925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為何加回折舊？</a:t>
            </a:r>
          </a:p>
        </p:txBody>
      </p:sp>
      <p:sp>
        <p:nvSpPr>
          <p:cNvPr id="19" name="text-折舊減少帳面盈餘，但當期不因認列折舊">
            <a:extLst>
              <a:ext uri="{FF2B5EF4-FFF2-40B4-BE49-F238E27FC236}">
                <a16:creationId xmlns:a16="http://schemas.microsoft.com/office/drawing/2014/main" id="{4A64DA00-FE94-4779-9683-896A2BD40E5A}"/>
              </a:ext>
            </a:extLst>
          </p:cNvPr>
          <p:cNvSpPr>
            <a:spLocks noGrp="1"/>
          </p:cNvSpPr>
          <p:nvPr/>
        </p:nvSpPr>
        <p:spPr>
          <a:xfrm>
            <a:off x="676275" y="5191124"/>
            <a:ext cx="1386840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折舊會減少帳面盈餘，但公司當期不會因為「認列折舊」而支付現金，因此加回折舊，可以較接近觀察公司支應利息的現金產生能力。</a:t>
            </a:r>
            <a:endParaRPr sz="225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0" name="text-保障倍數的限制">
            <a:extLst>
              <a:ext uri="{FF2B5EF4-FFF2-40B4-BE49-F238E27FC236}">
                <a16:creationId xmlns:a16="http://schemas.microsoft.com/office/drawing/2014/main" id="{8CB0A0A2-AA20-406B-B299-E1849782FE79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保障倍數的限制</a:t>
            </a:r>
          </a:p>
        </p:txBody>
      </p:sp>
      <p:sp>
        <p:nvSpPr>
          <p:cNvPr id="21" name="text-加回折舊後仍未扣稅、營運資本投入與資">
            <a:extLst>
              <a:ext uri="{FF2B5EF4-FFF2-40B4-BE49-F238E27FC236}">
                <a16:creationId xmlns:a16="http://schemas.microsoft.com/office/drawing/2014/main" id="{7AF58B11-ED81-47E3-9266-ABA99F42959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加回折舊後仍未扣稅、營運資本投入與資本支出，不能直接視為實際可支配現金</a:t>
            </a:r>
            <a:r>
              <a:rPr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7" name="text-折舊減少帳面盈餘，但當期不因認列折舊">
            <a:extLst>
              <a:ext uri="{FF2B5EF4-FFF2-40B4-BE49-F238E27FC236}">
                <a16:creationId xmlns:a16="http://schemas.microsoft.com/office/drawing/2014/main" id="{64D8337F-C9AE-FD95-63BF-4804B73DED69}"/>
              </a:ext>
            </a:extLst>
          </p:cNvPr>
          <p:cNvSpPr>
            <a:spLocks noGrp="1"/>
          </p:cNvSpPr>
          <p:nvPr/>
        </p:nvSpPr>
        <p:spPr>
          <a:xfrm>
            <a:off x="685800" y="1828143"/>
            <a:ext cx="13868400" cy="4702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0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公司用來支應利息的獲利，相當於利息費用的幾倍？</a:t>
            </a:r>
            <a:endParaRPr sz="240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8" name="text-加回折舊後仍未扣稅、營運資本投入與資">
            <a:extLst>
              <a:ext uri="{FF2B5EF4-FFF2-40B4-BE49-F238E27FC236}">
                <a16:creationId xmlns:a16="http://schemas.microsoft.com/office/drawing/2014/main" id="{C075EF02-FA76-3C1D-84D9-7E0BAE712004}"/>
              </a:ext>
            </a:extLst>
          </p:cNvPr>
          <p:cNvSpPr>
            <a:spLocks noGrp="1"/>
          </p:cNvSpPr>
          <p:nvPr/>
        </p:nvSpPr>
        <p:spPr>
          <a:xfrm>
            <a:off x="676275" y="7230427"/>
            <a:ext cx="13868400" cy="752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250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一般而言，倍數愈高，支付利息的緩衝愈大；但這兩項指標都只衡量利息的保障，仍需另外評估到期本金的償還能力。</a:t>
            </a:r>
            <a:endParaRPr sz="2250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Inventory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存貨週轉率與存貨天數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存貨周轉率 = COGS ÷ Inv">
            <a:extLst>
              <a:ext uri="{FF2B5EF4-FFF2-40B4-BE49-F238E27FC236}">
                <a16:creationId xmlns:a16="http://schemas.microsoft.com/office/drawing/2014/main" id="{4155D314-9643-4972-8CF3-8618695DFE8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轉率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Inventory Turnover 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= COGS ÷ Inventory</a:t>
            </a:r>
          </a:p>
        </p:txBody>
      </p:sp>
      <p:sp>
        <p:nvSpPr>
          <p:cNvPr id="18" name="text-1,344 ÷ 422 = 3.18">
            <a:extLst>
              <a:ext uri="{FF2B5EF4-FFF2-40B4-BE49-F238E27FC236}">
                <a16:creationId xmlns:a16="http://schemas.microsoft.com/office/drawing/2014/main" id="{AAD906D6-7C89-4EDD-A74E-72FFA9B183DE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1,344 ÷ 422 = 3.18 次</a:t>
            </a:r>
          </a:p>
        </p:txBody>
      </p:sp>
      <p:sp>
        <p:nvSpPr>
          <p:cNvPr id="19" name="text-存貨天數 Days’ Sales i">
            <a:extLst>
              <a:ext uri="{FF2B5EF4-FFF2-40B4-BE49-F238E27FC236}">
                <a16:creationId xmlns:a16="http://schemas.microsoft.com/office/drawing/2014/main" id="{A6CE1CDD-E8DA-4BA3-B4D2-539CF23D74E5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存貨天數</a:t>
            </a:r>
            <a:r>
              <a:rPr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Days’ Sales in Inventory, DSI</a:t>
            </a:r>
          </a:p>
        </p:txBody>
      </p:sp>
      <p:sp>
        <p:nvSpPr>
          <p:cNvPr id="20" name="text-365 ÷ 存貨周轉率 = 365 ">
            <a:extLst>
              <a:ext uri="{FF2B5EF4-FFF2-40B4-BE49-F238E27FC236}">
                <a16:creationId xmlns:a16="http://schemas.microsoft.com/office/drawing/2014/main" id="{E4F8410F-8FC5-4E10-B36C-145D39C7B34F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365 ÷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轉率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365 × 422 ÷ 1,344 = 114.61 天。</a:t>
            </a:r>
          </a:p>
        </p:txBody>
      </p:sp>
      <p:sp>
        <p:nvSpPr>
          <p:cNvPr id="21" name="text-判讀重點">
            <a:extLst>
              <a:ext uri="{FF2B5EF4-FFF2-40B4-BE49-F238E27FC236}">
                <a16:creationId xmlns:a16="http://schemas.microsoft.com/office/drawing/2014/main" id="{CE365B20-882A-4377-B241-ED78D8D174B5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判讀重點</a:t>
            </a:r>
          </a:p>
        </p:txBody>
      </p:sp>
      <p:sp>
        <p:nvSpPr>
          <p:cNvPr id="22" name="text-周轉加快可能減少積壓與資金占用，但過">
            <a:extLst>
              <a:ext uri="{FF2B5EF4-FFF2-40B4-BE49-F238E27FC236}">
                <a16:creationId xmlns:a16="http://schemas.microsoft.com/office/drawing/2014/main" id="{2577C8A9-46D9-4A27-84D7-80E4EA5D08A3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轉加快可能減少積壓與資金占用，但過低的存貨也可能造成缺貨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Days’ Sales in Inventory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存貨天數：汽車業的例子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存貨天數表示：按當時的銷售速度，現有庫存可支應幾天">
            <a:extLst>
              <a:ext uri="{FF2B5EF4-FFF2-40B4-BE49-F238E27FC236}">
                <a16:creationId xmlns:a16="http://schemas.microsoft.com/office/drawing/2014/main" id="{2C0D06E1-A65B-462A-8D3C-CCB99697F0CD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存貨天數表示：按當時的銷售速度，現有庫存可支應幾天的銷售？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39A5F13-DD17-4EEE-BA77-B239168AA51C}"/>
              </a:ext>
            </a:extLst>
          </p:cNvPr>
          <p:cNvGraphicFramePr/>
          <p:nvPr/>
        </p:nvGraphicFramePr>
        <p:xfrm>
          <a:off x="685800" y="2857500"/>
          <a:ext cx="13868400" cy="2476500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產業、公司或車型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2020 年初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2021 年初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汽車產業整體（汽車與卡車）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70 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通用汽車 General Motors, GM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57 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福特 Ford：F-150 車型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108 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57 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GM 的 57 天代表什麼？">
            <a:extLst>
              <a:ext uri="{FF2B5EF4-FFF2-40B4-BE49-F238E27FC236}">
                <a16:creationId xmlns:a16="http://schemas.microsoft.com/office/drawing/2014/main" id="{987906E9-39A3-415E-83DB-A339E2162B8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GM 的 57 天代表什麼？</a:t>
            </a:r>
          </a:p>
        </p:txBody>
      </p:sp>
      <p:sp>
        <p:nvSpPr>
          <p:cNvPr id="20" name="假設不再補貨，且維持當時的銷售速度，現有庫存約需 ">
            <a:extLst>
              <a:ext uri="{FF2B5EF4-FFF2-40B4-BE49-F238E27FC236}">
                <a16:creationId xmlns:a16="http://schemas.microsoft.com/office/drawing/2014/main" id="{05A1A9BF-5435-481B-BFCB-52D225745991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3868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假設不再補貨，且維持當時的銷售速度，現有庫存約需 57 天售完。</a:t>
            </a:r>
          </a:p>
        </p:txBody>
      </p:sp>
      <p:sp>
        <p:nvSpPr>
          <p:cNvPr id="21" name="歷史參考：汽車業過去通常將約 60 天的庫存供應量">
            <a:extLst>
              <a:ext uri="{FF2B5EF4-FFF2-40B4-BE49-F238E27FC236}">
                <a16:creationId xmlns:a16="http://schemas.microsoft.com/office/drawing/2014/main" id="{F3300F05-C6D7-47BA-8CB8-DB0F36B6C0B1}"/>
              </a:ext>
            </a:extLst>
          </p:cNvPr>
          <p:cNvSpPr>
            <a:spLocks noGrp="1"/>
          </p:cNvSpPr>
          <p:nvPr/>
        </p:nvSpPr>
        <p:spPr>
          <a:xfrm>
            <a:off x="685800" y="6905625"/>
            <a:ext cx="138684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歷史參考：汽車業過去通常將約 60 天的庫存供應量視為正常水準。</a:t>
            </a:r>
          </a:p>
        </p:txBody>
      </p:sp>
      <p:sp>
        <p:nvSpPr>
          <p:cNvPr id="22" name="用途：協助車廠規劃行銷活動、生產數量與庫存。">
            <a:extLst>
              <a:ext uri="{FF2B5EF4-FFF2-40B4-BE49-F238E27FC236}">
                <a16:creationId xmlns:a16="http://schemas.microsoft.com/office/drawing/2014/main" id="{6D82E2AC-FB39-4733-93A3-456CC443C394}"/>
              </a:ext>
            </a:extLst>
          </p:cNvPr>
          <p:cNvSpPr>
            <a:spLocks noGrp="1"/>
          </p:cNvSpPr>
          <p:nvPr/>
        </p:nvSpPr>
        <p:spPr>
          <a:xfrm>
            <a:off x="685800" y="748665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用途：協助車廠規劃行銷活動、生產數量與庫存。</a:t>
            </a:r>
          </a:p>
        </p:txBody>
      </p:sp>
    </p:spTree>
    <p:extLst>
      <p:ext uri="{BB962C8B-B14F-4D97-AF65-F5344CB8AC3E}">
        <p14:creationId xmlns:p14="http://schemas.microsoft.com/office/powerpoint/2010/main" val="89940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Receivables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應收帳款周轉率與收款天數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應收帳款周轉率 = Sales ÷ ">
            <a:extLst>
              <a:ext uri="{FF2B5EF4-FFF2-40B4-BE49-F238E27FC236}">
                <a16:creationId xmlns:a16="http://schemas.microsoft.com/office/drawing/2014/main" id="{1E8B4CDA-C23B-4A79-B3DC-91C0E1DF498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應收帳款周轉率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Receivables Turnover 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= Sales ÷ Accounts Receivable</a:t>
            </a:r>
          </a:p>
        </p:txBody>
      </p:sp>
      <p:sp>
        <p:nvSpPr>
          <p:cNvPr id="18" name="text-2,361 ÷ 188 = 12.5">
            <a:extLst>
              <a:ext uri="{FF2B5EF4-FFF2-40B4-BE49-F238E27FC236}">
                <a16:creationId xmlns:a16="http://schemas.microsoft.com/office/drawing/2014/main" id="{45A39B37-4900-44A0-901D-F1DCCD30DDCA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2,361 ÷ 188 = 12.56 次</a:t>
            </a:r>
          </a:p>
        </p:txBody>
      </p:sp>
      <p:sp>
        <p:nvSpPr>
          <p:cNvPr id="19" name="text-應收帳款天數 Days’ Sales">
            <a:extLst>
              <a:ext uri="{FF2B5EF4-FFF2-40B4-BE49-F238E27FC236}">
                <a16:creationId xmlns:a16="http://schemas.microsoft.com/office/drawing/2014/main" id="{3156D8D4-F292-4E15-A1A5-595C315AD1AA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應收帳款天數</a:t>
            </a:r>
            <a:r>
              <a:rPr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Days’ Sales in Receivables, DSO</a:t>
            </a:r>
          </a:p>
        </p:txBody>
      </p:sp>
      <p:sp>
        <p:nvSpPr>
          <p:cNvPr id="20" name="text-365 × 188 ÷ 2,361 ">
            <a:extLst>
              <a:ext uri="{FF2B5EF4-FFF2-40B4-BE49-F238E27FC236}">
                <a16:creationId xmlns:a16="http://schemas.microsoft.com/office/drawing/2014/main" id="{072FBF3A-DB6E-4FAF-886E-EFF5065BC798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365 ÷ </a:t>
            </a:r>
            <a:r>
              <a:rPr 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12.56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29.06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天，亦稱平均收款期間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(Average Collect Period, 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ACP</a:t>
            </a:r>
            <a:r>
              <a:rPr 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21" name="text-判讀重點">
            <a:extLst>
              <a:ext uri="{FF2B5EF4-FFF2-40B4-BE49-F238E27FC236}">
                <a16:creationId xmlns:a16="http://schemas.microsoft.com/office/drawing/2014/main" id="{879ACAEF-6129-412E-8328-D7A4D32C80FF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判讀重點</a:t>
            </a:r>
          </a:p>
        </p:txBody>
      </p:sp>
      <p:sp>
        <p:nvSpPr>
          <p:cNvPr id="22" name="text-若信用條件為 30 天，約 29 天">
            <a:extLst>
              <a:ext uri="{FF2B5EF4-FFF2-40B4-BE49-F238E27FC236}">
                <a16:creationId xmlns:a16="http://schemas.microsoft.com/office/drawing/2014/main" id="{E916091B-D79A-43AE-A0F6-8015F3CB8BF0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一般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信用條件為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30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天，約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29 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天可作為初步觀察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比較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Payables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應付帳款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轉與付款天數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應付帳款周轉率 ≈ COGS ÷ A">
            <a:extLst>
              <a:ext uri="{FF2B5EF4-FFF2-40B4-BE49-F238E27FC236}">
                <a16:creationId xmlns:a16="http://schemas.microsoft.com/office/drawing/2014/main" id="{C218724A-ABF0-4AA8-9B1B-2A72693C438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應付帳款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轉率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Payables</a:t>
            </a:r>
            <a:r>
              <a:rPr 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Turnover =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COGS ÷ Accounts Payable</a:t>
            </a:r>
          </a:p>
        </p:txBody>
      </p:sp>
      <p:sp>
        <p:nvSpPr>
          <p:cNvPr id="18" name="text-1,344 ÷ 344 = 3.91">
            <a:extLst>
              <a:ext uri="{FF2B5EF4-FFF2-40B4-BE49-F238E27FC236}">
                <a16:creationId xmlns:a16="http://schemas.microsoft.com/office/drawing/2014/main" id="{7251E032-F754-4BEC-9A36-7478344DDBB0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1,344 ÷ 344 = 3.91 次</a:t>
            </a:r>
          </a:p>
        </p:txBody>
      </p:sp>
      <p:sp>
        <p:nvSpPr>
          <p:cNvPr id="19" name="text-應付帳款天數 Days’ Costs">
            <a:extLst>
              <a:ext uri="{FF2B5EF4-FFF2-40B4-BE49-F238E27FC236}">
                <a16:creationId xmlns:a16="http://schemas.microsoft.com/office/drawing/2014/main" id="{4655088A-3E7F-4C30-BDDF-66C81CDC2D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應付帳款天數 Days’ Costs in Payables</a:t>
            </a:r>
          </a:p>
        </p:txBody>
      </p:sp>
      <p:sp>
        <p:nvSpPr>
          <p:cNvPr id="20" name="text-365 × 344 ÷ 1,344 ">
            <a:extLst>
              <a:ext uri="{FF2B5EF4-FFF2-40B4-BE49-F238E27FC236}">
                <a16:creationId xmlns:a16="http://schemas.microsoft.com/office/drawing/2014/main" id="{CD7BDDD0-4800-4092-A4B8-B394D5E623C5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365 ÷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3.91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93.42 天。</a:t>
            </a:r>
          </a:p>
        </p:txBody>
      </p:sp>
      <p:sp>
        <p:nvSpPr>
          <p:cNvPr id="21" name="text-判讀重點">
            <a:extLst>
              <a:ext uri="{FF2B5EF4-FFF2-40B4-BE49-F238E27FC236}">
                <a16:creationId xmlns:a16="http://schemas.microsoft.com/office/drawing/2014/main" id="{B765B4DC-0A7C-40E3-86AA-5A192DE2A1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判讀重點</a:t>
            </a:r>
          </a:p>
        </p:txBody>
      </p:sp>
      <p:sp>
        <p:nvSpPr>
          <p:cNvPr id="22" name="text-付款較慢可能來自較佳信用條件，也可能">
            <a:extLst>
              <a:ext uri="{FF2B5EF4-FFF2-40B4-BE49-F238E27FC236}">
                <a16:creationId xmlns:a16="http://schemas.microsoft.com/office/drawing/2014/main" id="{330003AE-BE03-43F0-A863-33ECA823FA47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付款較慢可能來自較佳信用條件，也可能反映資金壓力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Asset Utilization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總資產</a:t>
            </a: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轉率與資本密集度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17" name="text-總資產周轉率 TAT = Sales">
            <a:extLst>
              <a:ext uri="{FF2B5EF4-FFF2-40B4-BE49-F238E27FC236}">
                <a16:creationId xmlns:a16="http://schemas.microsoft.com/office/drawing/2014/main" id="{0C9A5E51-5918-40F3-A0B2-3EE82F344F0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總資產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轉率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Total Asset Turnover,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TAT = Sales ÷ Total Assets</a:t>
            </a:r>
          </a:p>
        </p:txBody>
      </p:sp>
      <p:sp>
        <p:nvSpPr>
          <p:cNvPr id="18" name="text-2,361 ÷ 3,630 = 0.">
            <a:extLst>
              <a:ext uri="{FF2B5EF4-FFF2-40B4-BE49-F238E27FC236}">
                <a16:creationId xmlns:a16="http://schemas.microsoft.com/office/drawing/2014/main" id="{1F81EBD5-7BD3-4D5A-ACB4-C0A64BB57417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2,361 ÷ 3,630 = 0.6504 次</a:t>
            </a:r>
          </a:p>
        </p:txBody>
      </p:sp>
      <p:sp>
        <p:nvSpPr>
          <p:cNvPr id="19" name="text-總資產周轉率 Total Asset">
            <a:extLst>
              <a:ext uri="{FF2B5EF4-FFF2-40B4-BE49-F238E27FC236}">
                <a16:creationId xmlns:a16="http://schemas.microsoft.com/office/drawing/2014/main" id="{CB770851-ECE5-4760-8FAB-13FF2B781222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總資產</a:t>
            </a:r>
            <a:r>
              <a:rPr lang="zh-TW" altLang="en-US"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週</a:t>
            </a: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轉率</a:t>
            </a:r>
            <a:r>
              <a:rPr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Total Asset Turnover</a:t>
            </a:r>
          </a:p>
        </p:txBody>
      </p:sp>
      <p:sp>
        <p:nvSpPr>
          <p:cNvPr id="20" name="text-每 1 元資產，一年產生約 0.65">
            <a:extLst>
              <a:ext uri="{FF2B5EF4-FFF2-40B4-BE49-F238E27FC236}">
                <a16:creationId xmlns:a16="http://schemas.microsoft.com/office/drawing/2014/main" id="{03C77D0D-75AC-4ED0-8394-2880AC20C9A9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 1 元資產，一年產生約 0.65 元銷貨收入。</a:t>
            </a:r>
          </a:p>
        </p:txBody>
      </p:sp>
      <p:sp>
        <p:nvSpPr>
          <p:cNvPr id="21" name="text-資本密集度 Capital Inte">
            <a:extLst>
              <a:ext uri="{FF2B5EF4-FFF2-40B4-BE49-F238E27FC236}">
                <a16:creationId xmlns:a16="http://schemas.microsoft.com/office/drawing/2014/main" id="{268DC453-ACCE-4C74-8D11-C632EBB5AD73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資本密集度 Capital Intensity Ratio</a:t>
            </a:r>
          </a:p>
        </p:txBody>
      </p:sp>
      <p:sp>
        <p:nvSpPr>
          <p:cNvPr id="22" name="text-TA ÷ Sales = 1 ÷ T">
            <a:extLst>
              <a:ext uri="{FF2B5EF4-FFF2-40B4-BE49-F238E27FC236}">
                <a16:creationId xmlns:a16="http://schemas.microsoft.com/office/drawing/2014/main" id="{35EDB585-8016-44F2-9C11-67238ABFD9B6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TA ÷ Sales = 1 ÷ TAT = 1.5375。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創造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 元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銷貨收入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，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就必須投入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1.54 元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於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上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Interpreting Total Asset Turnover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總資產周轉率：高低背後的資產狀況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總資產周轉率（Total Asset Turnov">
            <a:extLst>
              <a:ext uri="{FF2B5EF4-FFF2-40B4-BE49-F238E27FC236}">
                <a16:creationId xmlns:a16="http://schemas.microsoft.com/office/drawing/2014/main" id="{76BB2C07-9EDC-4FEA-9DA9-C761AB4FF523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386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總資產周轉率（Total Asset Turnover）＝ 銷貨收入 ÷ 總資產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16094A7-0213-486E-B0D6-49EDFB12DBC4}"/>
              </a:ext>
            </a:extLst>
          </p:cNvPr>
          <p:cNvGraphicFramePr/>
          <p:nvPr/>
        </p:nvGraphicFramePr>
        <p:xfrm>
          <a:off x="685800" y="3048000"/>
          <a:ext cx="13868400" cy="366522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比較項目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持有老舊資產的公司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剛購入大量新設備的公司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資產狀況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資產接近提列完折舊，</a:t>
                      </a:r>
                    </a:p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設備也可能已經過時。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新設備剛投入使用。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資產帳面價值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較低。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較高。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比率可能的表現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分母較小，</a:t>
                      </a:r>
                    </a:p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總資產周轉率可能較高。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分母較大，</a:t>
                      </a:r>
                    </a:p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總資產周轉率可能較低。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進一步判讀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可能很快需要大額資本支出，</a:t>
                      </a:r>
                    </a:p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汰換老舊設備。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新設備可能比競爭者的設備</a:t>
                      </a:r>
                    </a:p>
                    <a:p>
                      <a:pPr algn="l"/>
                      <a:r>
                        <a:rPr sz="22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更有效率、更有生產力。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重點：周轉率較高未必代表經營較好，較低也未必代表效">
            <a:extLst>
              <a:ext uri="{FF2B5EF4-FFF2-40B4-BE49-F238E27FC236}">
                <a16:creationId xmlns:a16="http://schemas.microsoft.com/office/drawing/2014/main" id="{C884B639-4A06-4091-9A81-6EE1BABA7234}"/>
              </a:ext>
            </a:extLst>
          </p:cNvPr>
          <p:cNvSpPr>
            <a:spLocks noGrp="1"/>
          </p:cNvSpPr>
          <p:nvPr/>
        </p:nvSpPr>
        <p:spPr>
          <a:xfrm>
            <a:off x="685800" y="6810375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4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重點：周轉率較高未必代表經營較好，較低也未必代表效率較差。</a:t>
            </a:r>
          </a:p>
        </p:txBody>
      </p:sp>
      <p:sp>
        <p:nvSpPr>
          <p:cNvPr id="20" name="判讀時應搭配設備新舊、折舊程度、產能利用情況與未來">
            <a:extLst>
              <a:ext uri="{FF2B5EF4-FFF2-40B4-BE49-F238E27FC236}">
                <a16:creationId xmlns:a16="http://schemas.microsoft.com/office/drawing/2014/main" id="{B99CAC6B-BF80-485E-8670-5C55C4EA25EA}"/>
              </a:ext>
            </a:extLst>
          </p:cNvPr>
          <p:cNvSpPr>
            <a:spLocks noGrp="1"/>
          </p:cNvSpPr>
          <p:nvPr/>
        </p:nvSpPr>
        <p:spPr>
          <a:xfrm>
            <a:off x="685800" y="7496175"/>
            <a:ext cx="13868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判讀時應搭配設備新舊、折舊程度、產能利用情況與未來資本支出。</a:t>
            </a:r>
          </a:p>
        </p:txBody>
      </p:sp>
    </p:spTree>
    <p:extLst>
      <p:ext uri="{BB962C8B-B14F-4D97-AF65-F5344CB8AC3E}">
        <p14:creationId xmlns:p14="http://schemas.microsoft.com/office/powerpoint/2010/main" val="3517643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Profitability Ratios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淨利率</a:t>
            </a: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、ROA 與 ROE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640101A-AE62-4282-AAEA-95FE27DB3D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534781"/>
              </p:ext>
            </p:extLst>
          </p:nvPr>
        </p:nvGraphicFramePr>
        <p:xfrm>
          <a:off x="685800" y="1943100"/>
          <a:ext cx="13868400" cy="2803209"/>
        </p:xfrm>
        <a:graphic>
          <a:graphicData uri="http://schemas.openxmlformats.org/drawingml/2006/table">
            <a:tbl>
              <a:tblPr/>
              <a:tblGrid>
                <a:gridCol w="4761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2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100" b="1" dirty="0" err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指標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公式與計算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解釋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淨利率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邊際獲利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)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Profit Margin, PM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 ÷ Sales = 474 ÷ 2,361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20.08%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公司每賣出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元商品，扣除所有費用後，留下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20.08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元淨利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資產報酬率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Return on Assets, ROA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 ÷ TA = 474 ÷ 3,630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13.06%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運用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元資產，一年可產生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13.06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元淨利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權益報酬率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Return on Equity, ROE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 ÷ TE = 474 ÷ 2,625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18.06%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100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元股東權益，一年產生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18.06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元淨利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CCA6671-5CC5-21C7-543E-917D2133EDB5}"/>
              </a:ext>
            </a:extLst>
          </p:cNvPr>
          <p:cNvSpPr txBox="1"/>
          <p:nvPr/>
        </p:nvSpPr>
        <p:spPr>
          <a:xfrm>
            <a:off x="685800" y="5566449"/>
            <a:ext cx="138684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zh-TW" altLang="en-US" sz="2100" dirty="0"/>
              <a:t>降低售價通常能增加銷售量，但也可能使淨利率下降。</a:t>
            </a:r>
            <a:endParaRPr lang="en-US" altLang="zh-TW" sz="2100" dirty="0"/>
          </a:p>
          <a:p>
            <a:pPr marL="342900" indent="-342900">
              <a:buFontTx/>
              <a:buChar char="-"/>
            </a:pPr>
            <a:r>
              <a:rPr lang="zh-TW" altLang="en-US" sz="2100" dirty="0"/>
              <a:t>總獲利與營運現金流量 </a:t>
            </a:r>
            <a:r>
              <a:rPr lang="en-US" altLang="zh-TW" sz="2100" dirty="0"/>
              <a:t>(Operating Cash Flow) </a:t>
            </a:r>
            <a:r>
              <a:rPr lang="zh-TW" altLang="en-US" sz="2100" dirty="0"/>
              <a:t>可能增加，也可能減少，取決於銷量增加能否彌補降價的影響。</a:t>
            </a:r>
            <a:endParaRPr lang="en-US" altLang="zh-TW" sz="2100" dirty="0"/>
          </a:p>
          <a:p>
            <a:pPr marL="342900" indent="-342900">
              <a:buFontTx/>
              <a:buChar char="-"/>
            </a:pPr>
            <a:r>
              <a:rPr lang="zh-TW" altLang="en-US" sz="2100" dirty="0"/>
              <a:t>因此，淨利率下降未必是壞事，仍須觀察整體獲利與現金流量。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27F636-5138-9F5E-0797-A26DC171E07B}"/>
              </a:ext>
            </a:extLst>
          </p:cNvPr>
          <p:cNvSpPr txBox="1"/>
          <p:nvPr/>
        </p:nvSpPr>
        <p:spPr>
          <a:xfrm>
            <a:off x="685800" y="5000066"/>
            <a:ext cx="1386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/>
              <a:t>降價與淨利率</a:t>
            </a:r>
            <a:endParaRPr lang="en-US" altLang="zh-TW" sz="2400" b="1" dirty="0"/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Accounting Return and Investor Return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ROE 與股票投資報酬率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持有期間報酬率 = (期末股價 − ">
            <a:extLst>
              <a:ext uri="{FF2B5EF4-FFF2-40B4-BE49-F238E27FC236}">
                <a16:creationId xmlns:a16="http://schemas.microsoft.com/office/drawing/2014/main" id="{487BB2F1-405C-4AF8-9C6A-37D64C482EF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持有期間報酬率 = (期末股價 − 期初股價 + 每股股利) ÷ 期初股價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2BDE1D2-B334-4E7A-9CB3-19DF543600EA}"/>
              </a:ext>
            </a:extLst>
          </p:cNvPr>
          <p:cNvGraphicFramePr/>
          <p:nvPr/>
        </p:nvGraphicFramePr>
        <p:xfrm>
          <a:off x="685800" y="2657475"/>
          <a:ext cx="13868400" cy="27622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0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觀念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衡量對象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分母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企業用帳面股東權益產生的淨利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帳面股東權益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股票持有期間報酬率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投資人的股利收入與股價變動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投資人買入股價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-ROE 18.06%，不代表買入股票">
            <a:extLst>
              <a:ext uri="{FF2B5EF4-FFF2-40B4-BE49-F238E27FC236}">
                <a16:creationId xmlns:a16="http://schemas.microsoft.com/office/drawing/2014/main" id="{021BD18F-E1E1-446D-8249-E4455B467FAD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ROE 18.06%，不代表買入股票的投資人當年就賺 18.06%。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EPS and Price–Earnings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每股盈餘與本益比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24</a:t>
            </a:r>
          </a:p>
        </p:txBody>
      </p:sp>
      <p:sp>
        <p:nvSpPr>
          <p:cNvPr id="17" name="text-EPS = Net Income ÷">
            <a:extLst>
              <a:ext uri="{FF2B5EF4-FFF2-40B4-BE49-F238E27FC236}">
                <a16:creationId xmlns:a16="http://schemas.microsoft.com/office/drawing/2014/main" id="{004CAA73-734F-4A06-A090-139F5885E2D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每股盈餘 </a:t>
            </a:r>
            <a:r>
              <a:rPr lang="en-US" altLang="zh-TW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Earnings Per Share, 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EPS = Net Income ÷ Shares Outstanding</a:t>
            </a:r>
          </a:p>
        </p:txBody>
      </p:sp>
      <p:sp>
        <p:nvSpPr>
          <p:cNvPr id="18" name="text-474 百萬美元 ÷ 33 百萬股 ">
            <a:extLst>
              <a:ext uri="{FF2B5EF4-FFF2-40B4-BE49-F238E27FC236}">
                <a16:creationId xmlns:a16="http://schemas.microsoft.com/office/drawing/2014/main" id="{3C765866-4EA4-4109-9566-6D3A2CB8C57A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474 百萬美元 ÷ 33 百萬股 = 每股 14.36 美元</a:t>
            </a:r>
          </a:p>
        </p:txBody>
      </p:sp>
      <p:sp>
        <p:nvSpPr>
          <p:cNvPr id="19" name="text-本益比 Price–Earnings">
            <a:extLst>
              <a:ext uri="{FF2B5EF4-FFF2-40B4-BE49-F238E27FC236}">
                <a16:creationId xmlns:a16="http://schemas.microsoft.com/office/drawing/2014/main" id="{95D8480F-020F-4004-B94A-F109BDAE1D51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本益比</a:t>
            </a:r>
            <a:r>
              <a:rPr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Price–Earnings Ratio, P/E</a:t>
            </a:r>
          </a:p>
        </p:txBody>
      </p:sp>
      <p:sp>
        <p:nvSpPr>
          <p:cNvPr id="20" name="text-假設年底股價每股 115 美元。&#10;P">
            <a:extLst>
              <a:ext uri="{FF2B5EF4-FFF2-40B4-BE49-F238E27FC236}">
                <a16:creationId xmlns:a16="http://schemas.microsoft.com/office/drawing/2014/main" id="{CC8971A9-4029-42A7-A0E9-AE4643C4073F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假設年底股價每股 115 美元。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P/E = 股價 ÷ EPS = 115 ÷ (474 ÷ 33) = 8.01 倍。</a:t>
            </a:r>
          </a:p>
        </p:txBody>
      </p:sp>
      <p:sp>
        <p:nvSpPr>
          <p:cNvPr id="21" name="text-數值意義與限制">
            <a:extLst>
              <a:ext uri="{FF2B5EF4-FFF2-40B4-BE49-F238E27FC236}">
                <a16:creationId xmlns:a16="http://schemas.microsoft.com/office/drawing/2014/main" id="{01ED261B-433F-406D-90D5-D97D7D83CBC0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數值意義與限制</a:t>
            </a:r>
            <a:endParaRPr sz="240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-市場為每 1 元當期盈餘支付約 8.">
            <a:extLst>
              <a:ext uri="{FF2B5EF4-FFF2-40B4-BE49-F238E27FC236}">
                <a16:creationId xmlns:a16="http://schemas.microsoft.com/office/drawing/2014/main" id="{D8B2E022-09C7-44FF-8ED7-8D2D7EDD1E38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市場為每 1 元當期盈餘支付約 8.01 元。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高 P/E 可能反映成長期待，也可能來自當期盈餘偏低。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P/S and Market-to-Book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股價營收比與股價淨值比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FAE5B9E-7961-4A7B-B3DE-7BBED289C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298324"/>
              </p:ext>
            </p:extLst>
          </p:nvPr>
        </p:nvGraphicFramePr>
        <p:xfrm>
          <a:off x="685800" y="1943100"/>
          <a:ext cx="13868400" cy="2885123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5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1" dirty="0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解釋</a:t>
                      </a:r>
                      <a:endParaRPr sz="2100" b="1" dirty="0">
                        <a:solidFill>
                          <a:srgbClr val="FFFFFF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股價營收比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Price–Sales, P/S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市值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÷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銷貨收入</a:t>
                      </a:r>
                      <a:endParaRPr lang="en-US"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(115 × 33) ÷ 2,361</a:t>
                      </a:r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=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1.61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每創造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元年度營收，市場願意給予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1.61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元的股票市值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每股帳面價值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Book Value per Share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股東權益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÷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股數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2,625 ÷ 33</a:t>
                      </a:r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=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79.55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美元／股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按帳面金額計算，公司資產扣除負債後，每股股票對應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79.55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元的股東權益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股價淨值比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Market-to-Book, P/B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股價</a:t>
                      </a: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÷ </a:t>
                      </a:r>
                      <a:r>
                        <a:rPr sz="2100" b="0" dirty="0" err="1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每股帳面價值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115 ÷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79.55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 </a:t>
                      </a:r>
                      <a:r>
                        <a:rPr 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=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1.45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每股帳面股東權益為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79.55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元，市場願意以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115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元交易，相當於帳面價值的 </a:t>
                      </a:r>
                      <a:r>
                        <a:rPr lang="en-US" altLang="zh-TW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1.45 </a:t>
                      </a:r>
                      <a:r>
                        <a:rPr lang="zh-TW" altLang="en-US" sz="2100" b="0" dirty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倍</a:t>
                      </a:r>
                      <a:endParaRPr sz="2100" b="0" dirty="0">
                        <a:solidFill>
                          <a:srgbClr val="173247"/>
                        </a:solidFill>
                        <a:latin typeface="Noto Sans CJK TC"/>
                        <a:ea typeface="Noto Sans CJK TC"/>
                        <a:cs typeface="Noto Sans CJK T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-P/S 可避開負 EPS 的問題，但">
            <a:extLst>
              <a:ext uri="{FF2B5EF4-FFF2-40B4-BE49-F238E27FC236}">
                <a16:creationId xmlns:a16="http://schemas.microsoft.com/office/drawing/2014/main" id="{4044608B-D9AC-4DCC-804A-43F68BB720DB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P/S 可避開負 EPS 的問題，但仍須評估公司能否把營收轉為獲利。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Enterprise Value, EV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企業價值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EV = 股票市值 + 全部負債帳面">
            <a:extLst>
              <a:ext uri="{FF2B5EF4-FFF2-40B4-BE49-F238E27FC236}">
                <a16:creationId xmlns:a16="http://schemas.microsoft.com/office/drawing/2014/main" id="{8CE15283-EE08-4D5C-817B-09E2706F234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EV =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負債帳面價值 </a:t>
            </a:r>
            <a:r>
              <a:rPr lang="en-US" altLang="zh-TW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+</a:t>
            </a:r>
            <a:r>
              <a:rPr lang="zh-TW" altLang="en-US"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股票市值</a:t>
            </a:r>
            <a:r>
              <a:rPr sz="27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− </a:t>
            </a:r>
            <a:r>
              <a:rPr sz="27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</a:t>
            </a:r>
            <a:endParaRPr sz="270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8" name="text-(115 × 33) + (3,63">
            <a:extLst>
              <a:ext uri="{FF2B5EF4-FFF2-40B4-BE49-F238E27FC236}">
                <a16:creationId xmlns:a16="http://schemas.microsoft.com/office/drawing/2014/main" id="{58FDA668-EA4D-4849-AFDC-6B631C6CAF3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en-US" altLang="zh-TW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(548</a:t>
            </a:r>
            <a:r>
              <a:rPr lang="zh-TW" altLang="en-US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+</a:t>
            </a:r>
            <a:r>
              <a:rPr lang="zh-TW" altLang="en-US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547)</a:t>
            </a:r>
            <a:r>
              <a:rPr lang="zh-TW" altLang="en-US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+</a:t>
            </a:r>
            <a:r>
              <a:rPr lang="zh-TW" altLang="en-US"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sz="2850" b="1" dirty="0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(115 × 33) − 98 = 4,702</a:t>
            </a:r>
          </a:p>
        </p:txBody>
      </p:sp>
      <p:sp>
        <p:nvSpPr>
          <p:cNvPr id="19" name="text-課本要衡量什麼？">
            <a:extLst>
              <a:ext uri="{FF2B5EF4-FFF2-40B4-BE49-F238E27FC236}">
                <a16:creationId xmlns:a16="http://schemas.microsoft.com/office/drawing/2014/main" id="{E015C068-9FF4-41DE-BB59-1AB1841DF466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要衡量什麼</a:t>
            </a:r>
            <a:r>
              <a:rPr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20" name="text-估計公司營運資產的市場價值，從權益與">
            <a:extLst>
              <a:ext uri="{FF2B5EF4-FFF2-40B4-BE49-F238E27FC236}">
                <a16:creationId xmlns:a16="http://schemas.microsoft.com/office/drawing/2014/main" id="{FA7491E3-59D9-46E9-A0E1-1271D40E282D}"/>
              </a:ext>
            </a:extLst>
          </p:cNvPr>
          <p:cNvSpPr>
            <a:spLocks noGrp="1"/>
          </p:cNvSpPr>
          <p:nvPr/>
        </p:nvSpPr>
        <p:spPr>
          <a:xfrm>
            <a:off x="685800" y="4048126"/>
            <a:ext cx="13868400" cy="4286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估計公司營運資產的市場價值，從權益與負債的價值合計，再扣除現金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</a:p>
        </p:txBody>
      </p:sp>
      <p:sp>
        <p:nvSpPr>
          <p:cNvPr id="7" name="text-現金可以單獨計價">
            <a:extLst>
              <a:ext uri="{FF2B5EF4-FFF2-40B4-BE49-F238E27FC236}">
                <a16:creationId xmlns:a16="http://schemas.microsoft.com/office/drawing/2014/main" id="{627AF45D-831C-DD03-7C11-4AF9380D26DA}"/>
              </a:ext>
            </a:extLst>
          </p:cNvPr>
          <p:cNvSpPr>
            <a:spLocks noGrp="1"/>
          </p:cNvSpPr>
          <p:nvPr/>
        </p:nvSpPr>
        <p:spPr>
          <a:xfrm>
            <a:off x="685800" y="4708416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企業價值為何扣除現金？</a:t>
            </a:r>
          </a:p>
        </p:txBody>
      </p:sp>
      <p:sp>
        <p:nvSpPr>
          <p:cNvPr id="8" name="text-現金本身已是貨幣資產，扣除後較能聚焦">
            <a:extLst>
              <a:ext uri="{FF2B5EF4-FFF2-40B4-BE49-F238E27FC236}">
                <a16:creationId xmlns:a16="http://schemas.microsoft.com/office/drawing/2014/main" id="{1FD18784-7E3D-4F96-F376-E24073F340A3}"/>
              </a:ext>
            </a:extLst>
          </p:cNvPr>
          <p:cNvSpPr>
            <a:spLocks noGrp="1"/>
          </p:cNvSpPr>
          <p:nvPr/>
        </p:nvSpPr>
        <p:spPr>
          <a:xfrm>
            <a:off x="685800" y="5212913"/>
            <a:ext cx="13868400" cy="7927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現金可以單獨計價，</a:t>
            </a: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現金本身已是貨幣資產，扣除後較能聚焦營運資產的價值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。</a:t>
            </a:r>
            <a:endParaRPr lang="en-US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以收購角度來看，若已市價取得公司並承擔負債，收購價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=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(EV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+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現金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− 負債，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EV 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則代表真正企業價值</a:t>
            </a:r>
            <a:endParaRPr lang="en-US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endParaRPr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3.2　Enterprise Value–EBITDA Ratio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 dirty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EV／EBITDA </a:t>
            </a:r>
            <a:r>
              <a:rPr sz="3900" b="1" dirty="0" err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倍數</a:t>
            </a:r>
            <a:endParaRPr sz="3900" b="1" dirty="0">
              <a:solidFill>
                <a:srgbClr val="FFFFFF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17" name="text-EV／EBITDA = Enterp">
            <a:extLst>
              <a:ext uri="{FF2B5EF4-FFF2-40B4-BE49-F238E27FC236}">
                <a16:creationId xmlns:a16="http://schemas.microsoft.com/office/drawing/2014/main" id="{D0675E0A-C579-43C8-8825-368D7068CF5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EV／EBITDA = Enterprise Value ÷ EBITDA</a:t>
            </a:r>
          </a:p>
        </p:txBody>
      </p:sp>
      <p:sp>
        <p:nvSpPr>
          <p:cNvPr id="18" name="text-4,702 ÷ (741 + 276">
            <a:extLst>
              <a:ext uri="{FF2B5EF4-FFF2-40B4-BE49-F238E27FC236}">
                <a16:creationId xmlns:a16="http://schemas.microsoft.com/office/drawing/2014/main" id="{DE314332-F37D-44E9-86CC-A717ACBB02F0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4,702 ÷ (741 + 276) = 4.62 倍</a:t>
            </a:r>
          </a:p>
        </p:txBody>
      </p:sp>
      <p:sp>
        <p:nvSpPr>
          <p:cNvPr id="19" name="text-EBITDA 是什麼？">
            <a:extLst>
              <a:ext uri="{FF2B5EF4-FFF2-40B4-BE49-F238E27FC236}">
                <a16:creationId xmlns:a16="http://schemas.microsoft.com/office/drawing/2014/main" id="{79987B2C-67B1-403D-92A6-AB0F9D9F6C8E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EBITDA 是什麼？</a:t>
            </a:r>
          </a:p>
        </p:txBody>
      </p:sp>
      <p:sp>
        <p:nvSpPr>
          <p:cNvPr id="20" name="text-Earnings Before In">
            <a:extLst>
              <a:ext uri="{FF2B5EF4-FFF2-40B4-BE49-F238E27FC236}">
                <a16:creationId xmlns:a16="http://schemas.microsoft.com/office/drawing/2014/main" id="{32B64FCC-1494-4B32-90E8-5DAB5EDAF23F}"/>
              </a:ext>
            </a:extLst>
          </p:cNvPr>
          <p:cNvSpPr>
            <a:spLocks noGrp="1"/>
          </p:cNvSpPr>
          <p:nvPr/>
        </p:nvSpPr>
        <p:spPr>
          <a:xfrm>
            <a:off x="685800" y="4048126"/>
            <a:ext cx="13868400" cy="7840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Earnings Before Interest, Taxes, Depreciation and Amortization。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 dirty="0" err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息前、稅前、折舊及攤銷前盈餘。本例無另列攤銷，EBITDA</a:t>
            </a:r>
            <a:r>
              <a:rPr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= 1,017。</a:t>
            </a:r>
          </a:p>
        </p:txBody>
      </p:sp>
      <p:sp>
        <p:nvSpPr>
          <p:cNvPr id="21" name="text-判讀重點">
            <a:extLst>
              <a:ext uri="{FF2B5EF4-FFF2-40B4-BE49-F238E27FC236}">
                <a16:creationId xmlns:a16="http://schemas.microsoft.com/office/drawing/2014/main" id="{95B88235-9430-4B7C-9F6A-4A1302491C85}"/>
              </a:ext>
            </a:extLst>
          </p:cNvPr>
          <p:cNvSpPr>
            <a:spLocks noGrp="1"/>
          </p:cNvSpPr>
          <p:nvPr/>
        </p:nvSpPr>
        <p:spPr>
          <a:xfrm>
            <a:off x="685800" y="5153682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400" b="1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數值意義</a:t>
            </a:r>
            <a:endParaRPr sz="2400" b="1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22" name="text-以營運資產價值相對於一項營運獲利指標">
            <a:extLst>
              <a:ext uri="{FF2B5EF4-FFF2-40B4-BE49-F238E27FC236}">
                <a16:creationId xmlns:a16="http://schemas.microsoft.com/office/drawing/2014/main" id="{01AB2F9C-1C82-4C8A-9775-E7BFB42151E9}"/>
              </a:ext>
            </a:extLst>
          </p:cNvPr>
          <p:cNvSpPr>
            <a:spLocks noGrp="1"/>
          </p:cNvSpPr>
          <p:nvPr/>
        </p:nvSpPr>
        <p:spPr>
          <a:xfrm>
            <a:off x="685800" y="5659329"/>
            <a:ext cx="13868400" cy="1632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這項比率與本益比相似，但它連結了所有營運資產的價值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即企業價值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)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與這些資產產生的營運現金流量 </a:t>
            </a:r>
            <a:r>
              <a:rPr lang="en-US" altLang="zh-TW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(EBITDA)</a:t>
            </a:r>
            <a:r>
              <a:rPr lang="zh-TW" altLang="en-US" sz="2325" b="0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 指標。</a:t>
            </a:r>
            <a:endParaRPr lang="en-US" altLang="zh-TW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endParaRPr lang="en-US" altLang="zh-TW" sz="2325" b="0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公司每年產生 </a:t>
            </a:r>
            <a:r>
              <a:rPr lang="en-US" altLang="zh-TW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1 </a:t>
            </a: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 </a:t>
            </a:r>
            <a:r>
              <a:rPr lang="en-US" altLang="zh-TW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EBITDA</a:t>
            </a: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，市場就給予其企業價值約 </a:t>
            </a:r>
            <a:r>
              <a:rPr lang="en-US" altLang="zh-TW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4.62 </a:t>
            </a:r>
            <a:r>
              <a:rPr lang="zh-TW" altLang="en-US" sz="2325" dirty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元的估值。</a:t>
            </a:r>
            <a:endParaRPr lang="en-US" altLang="zh-TW" sz="2325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endParaRPr lang="en-US" sz="2325" dirty="0">
              <a:solidFill>
                <a:srgbClr val="173247"/>
              </a:solidFill>
              <a:latin typeface="Noto Sans CJK TC"/>
              <a:ea typeface="Noto Sans CJK TC"/>
              <a:cs typeface="Noto Sans CJK TC"/>
            </a:endParaRP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3.3　The DuPont Identity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杜邦恆等式：拆解 ROE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29</a:t>
            </a:r>
          </a:p>
        </p:txBody>
      </p:sp>
      <p:sp>
        <p:nvSpPr>
          <p:cNvPr id="17" name="text-ROE = 淨利率 × 總資產周轉率">
            <a:extLst>
              <a:ext uri="{FF2B5EF4-FFF2-40B4-BE49-F238E27FC236}">
                <a16:creationId xmlns:a16="http://schemas.microsoft.com/office/drawing/2014/main" id="{FFC0D189-ACB0-4AA7-BBCF-4B29A0D3F6E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ROE = 淨利率 × 總資產周轉率 × 權益乘數</a:t>
            </a:r>
          </a:p>
        </p:txBody>
      </p:sp>
      <p:sp>
        <p:nvSpPr>
          <p:cNvPr id="18" name="text-NI ÷ TE = (NI ÷ Sa">
            <a:extLst>
              <a:ext uri="{FF2B5EF4-FFF2-40B4-BE49-F238E27FC236}">
                <a16:creationId xmlns:a16="http://schemas.microsoft.com/office/drawing/2014/main" id="{75307154-7EF8-4EA7-B036-721DA354F67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13868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62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NI ÷ TE = (NI ÷ Sales) × (Sales ÷ TA) × (TA ÷ TE)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D0CC012E-82D6-477F-9FF5-A33AF7A8A4D2}"/>
              </a:ext>
            </a:extLst>
          </p:cNvPr>
          <p:cNvGraphicFramePr/>
          <p:nvPr/>
        </p:nvGraphicFramePr>
        <p:xfrm>
          <a:off x="685800" y="3371850"/>
          <a:ext cx="13868400" cy="2762252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構成要素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衡量內容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管理問題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Profit Margin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營運獲利效率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 1 元營收留下多少淨利？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Total Asset Turnover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資產使用效率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 1 元資產創造多少營收？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Equity Multiplier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財務槓桿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每 1 元權益支撐多少資產？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3.3　DuPont Calculation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Prufrock 的杜邦分析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30</a:t>
            </a:r>
          </a:p>
        </p:txBody>
      </p:sp>
      <p:sp>
        <p:nvSpPr>
          <p:cNvPr id="17" name="text-ROE = 20.0762% × 0">
            <a:extLst>
              <a:ext uri="{FF2B5EF4-FFF2-40B4-BE49-F238E27FC236}">
                <a16:creationId xmlns:a16="http://schemas.microsoft.com/office/drawing/2014/main" id="{00923E91-F61A-49B2-8203-349EAE7636FD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ROE = 20.0762% × 0.6504 × 1.3829</a:t>
            </a:r>
          </a:p>
        </p:txBody>
      </p:sp>
      <p:sp>
        <p:nvSpPr>
          <p:cNvPr id="18" name="text-ROE = 18.06%">
            <a:extLst>
              <a:ext uri="{FF2B5EF4-FFF2-40B4-BE49-F238E27FC236}">
                <a16:creationId xmlns:a16="http://schemas.microsoft.com/office/drawing/2014/main" id="{EC82D744-3893-4717-AFC5-120145F08D40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ROE = 18.06%</a:t>
            </a:r>
          </a:p>
        </p:txBody>
      </p:sp>
      <p:sp>
        <p:nvSpPr>
          <p:cNvPr id="19" name="text-資產報酬的來源">
            <a:extLst>
              <a:ext uri="{FF2B5EF4-FFF2-40B4-BE49-F238E27FC236}">
                <a16:creationId xmlns:a16="http://schemas.microsoft.com/office/drawing/2014/main" id="{81045A87-B296-4A8B-8E83-E220677FA67A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資產報酬的來源</a:t>
            </a:r>
          </a:p>
        </p:txBody>
      </p:sp>
      <p:sp>
        <p:nvSpPr>
          <p:cNvPr id="20" name="text-PM × TAT = 13.06% ">
            <a:extLst>
              <a:ext uri="{FF2B5EF4-FFF2-40B4-BE49-F238E27FC236}">
                <a16:creationId xmlns:a16="http://schemas.microsoft.com/office/drawing/2014/main" id="{3AC33456-3420-42C4-9211-1C357152101D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PM × TAT = 13.06% = ROA。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銷貨淨利率約 20.08%，總資產每年周轉約 0.65 次。</a:t>
            </a:r>
          </a:p>
        </p:txBody>
      </p:sp>
      <p:sp>
        <p:nvSpPr>
          <p:cNvPr id="21" name="text-槓桿的作用">
            <a:extLst>
              <a:ext uri="{FF2B5EF4-FFF2-40B4-BE49-F238E27FC236}">
                <a16:creationId xmlns:a16="http://schemas.microsoft.com/office/drawing/2014/main" id="{62D24A3C-5B2B-4015-A31E-79BE5B5011F7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槓桿的作用</a:t>
            </a:r>
          </a:p>
        </p:txBody>
      </p:sp>
      <p:sp>
        <p:nvSpPr>
          <p:cNvPr id="22" name="text-ROA × EM = 18.06% ">
            <a:extLst>
              <a:ext uri="{FF2B5EF4-FFF2-40B4-BE49-F238E27FC236}">
                <a16:creationId xmlns:a16="http://schemas.microsoft.com/office/drawing/2014/main" id="{8370A391-5435-4345-85B0-C72FDD8AF90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ROA × EM = 18.06% = ROE。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槓桿放大權益報酬，也增加利息與償債壓力。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3.3　DuPont Comparison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相同 ROE，經營模式可能完全不同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31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42797DA-9FE6-4029-B9D7-C9C6C3C84C29}"/>
              </a:ext>
            </a:extLst>
          </p:cNvPr>
          <p:cNvGraphicFramePr/>
          <p:nvPr/>
        </p:nvGraphicFramePr>
        <p:xfrm>
          <a:off x="685800" y="1943100"/>
          <a:ext cx="13868400" cy="276225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自編案例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淨利率 PM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周轉率 TAT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權益乘數 EM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甲公司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1.0 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2.0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乙公司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2.0 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2.0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丙公司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1.0 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4.0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-甲靠較高利潤，乙靠較快周轉，丙採較高">
            <a:extLst>
              <a:ext uri="{FF2B5EF4-FFF2-40B4-BE49-F238E27FC236}">
                <a16:creationId xmlns:a16="http://schemas.microsoft.com/office/drawing/2014/main" id="{CC2AAC29-5D3A-42F3-A5A7-FC3728956C48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甲靠較高利潤，乙靠較快周轉，丙採較高槓桿。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Practice 2　DuPont Diagnosis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課堂討論：ROE 上升的原因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32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7213A23-8BD2-4348-9D05-C4B47450BCC9}"/>
              </a:ext>
            </a:extLst>
          </p:cNvPr>
          <p:cNvGraphicFramePr/>
          <p:nvPr/>
        </p:nvGraphicFramePr>
        <p:xfrm>
          <a:off x="685800" y="1943100"/>
          <a:ext cx="13868400" cy="2952750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自編案例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去年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今年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總資產周轉率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1.5 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1.5 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權益乘數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2.0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3.0 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27%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-討論">
            <a:extLst>
              <a:ext uri="{FF2B5EF4-FFF2-40B4-BE49-F238E27FC236}">
                <a16:creationId xmlns:a16="http://schemas.microsoft.com/office/drawing/2014/main" id="{0EFB3996-30E4-46A9-8380-E9D60F483F34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討論</a:t>
            </a:r>
          </a:p>
        </p:txBody>
      </p:sp>
      <p:sp>
        <p:nvSpPr>
          <p:cNvPr id="19" name="text-ROE 提高，是否表示營運能力改善？">
            <a:extLst>
              <a:ext uri="{FF2B5EF4-FFF2-40B4-BE49-F238E27FC236}">
                <a16:creationId xmlns:a16="http://schemas.microsoft.com/office/drawing/2014/main" id="{769627E5-59A1-4066-B202-4D3B8B3C5CB2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3868400" cy="852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ROE 提高，是否表示營運能力改善？</a:t>
            </a:r>
          </a:p>
        </p:txBody>
      </p:sp>
      <p:sp>
        <p:nvSpPr>
          <p:cNvPr id="20" name="text-參考判讀">
            <a:extLst>
              <a:ext uri="{FF2B5EF4-FFF2-40B4-BE49-F238E27FC236}">
                <a16:creationId xmlns:a16="http://schemas.microsoft.com/office/drawing/2014/main" id="{701D64F8-535E-49D9-BA82-C20B970BD140}"/>
              </a:ext>
            </a:extLst>
          </p:cNvPr>
          <p:cNvSpPr>
            <a:spLocks noGrp="1"/>
          </p:cNvSpPr>
          <p:nvPr/>
        </p:nvSpPr>
        <p:spPr>
          <a:xfrm>
            <a:off x="685800" y="6453188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參考判讀</a:t>
            </a:r>
          </a:p>
        </p:txBody>
      </p:sp>
      <p:sp>
        <p:nvSpPr>
          <p:cNvPr id="21" name="text-淨利率下降、周轉不變，ROE 提高來">
            <a:extLst>
              <a:ext uri="{FF2B5EF4-FFF2-40B4-BE49-F238E27FC236}">
                <a16:creationId xmlns:a16="http://schemas.microsoft.com/office/drawing/2014/main" id="{E09073E9-C410-4F78-9C04-18B17D6DA444}"/>
              </a:ext>
            </a:extLst>
          </p:cNvPr>
          <p:cNvSpPr>
            <a:spLocks noGrp="1"/>
          </p:cNvSpPr>
          <p:nvPr/>
        </p:nvSpPr>
        <p:spPr>
          <a:xfrm>
            <a:off x="685800" y="6900863"/>
            <a:ext cx="13868400" cy="852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淨利率下降、周轉不變，ROE 提高來自槓桿上升。</a:t>
            </a:r>
          </a:p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應追問負債成本與未來償債能力。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Payout and Retention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股利支付率與盈餘保留率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33</a:t>
            </a:r>
          </a:p>
        </p:txBody>
      </p:sp>
      <p:sp>
        <p:nvSpPr>
          <p:cNvPr id="17" name="text-股利支付率 = Cash Divid">
            <a:extLst>
              <a:ext uri="{FF2B5EF4-FFF2-40B4-BE49-F238E27FC236}">
                <a16:creationId xmlns:a16="http://schemas.microsoft.com/office/drawing/2014/main" id="{20356131-402B-42F1-AB15-557538B31C7E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股利支付率 = Cash Dividends ÷ Net Income</a:t>
            </a:r>
          </a:p>
        </p:txBody>
      </p:sp>
      <p:sp>
        <p:nvSpPr>
          <p:cNvPr id="18" name="text-158 ÷ 474 = 33.33%">
            <a:extLst>
              <a:ext uri="{FF2B5EF4-FFF2-40B4-BE49-F238E27FC236}">
                <a16:creationId xmlns:a16="http://schemas.microsoft.com/office/drawing/2014/main" id="{CB35260E-DAD3-4175-BD41-5E3C89979A2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158 ÷ 474 = 33.33%</a:t>
            </a:r>
          </a:p>
        </p:txBody>
      </p:sp>
      <p:sp>
        <p:nvSpPr>
          <p:cNvPr id="19" name="text-盈餘保留率 Retention / ">
            <a:extLst>
              <a:ext uri="{FF2B5EF4-FFF2-40B4-BE49-F238E27FC236}">
                <a16:creationId xmlns:a16="http://schemas.microsoft.com/office/drawing/2014/main" id="{ADDF64EA-551C-4890-9C16-D20FF433C50A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盈餘保留率 Retention / Plowback Ratio, b</a:t>
            </a:r>
          </a:p>
        </p:txBody>
      </p:sp>
      <p:sp>
        <p:nvSpPr>
          <p:cNvPr id="20" name="text-b = 新增保留盈餘 ÷ NI = ">
            <a:extLst>
              <a:ext uri="{FF2B5EF4-FFF2-40B4-BE49-F238E27FC236}">
                <a16:creationId xmlns:a16="http://schemas.microsoft.com/office/drawing/2014/main" id="{171A4488-251A-4705-950C-8657679A2EFE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b = 新增保留盈餘 ÷ NI = 316 ÷ 474 = 66.67%。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在本章簡化設定下，b = 1 − 股利支付率。</a:t>
            </a:r>
          </a:p>
        </p:txBody>
      </p:sp>
      <p:sp>
        <p:nvSpPr>
          <p:cNvPr id="21" name="text-分母與分子要分清楚">
            <a:extLst>
              <a:ext uri="{FF2B5EF4-FFF2-40B4-BE49-F238E27FC236}">
                <a16:creationId xmlns:a16="http://schemas.microsoft.com/office/drawing/2014/main" id="{DBE4F19D-3711-4A28-8F87-DFF4183C9FBC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分母與分子要分清楚</a:t>
            </a:r>
          </a:p>
        </p:txBody>
      </p:sp>
      <p:sp>
        <p:nvSpPr>
          <p:cNvPr id="22" name="text-分子用「本期新增保留盈餘」316，並">
            <a:extLst>
              <a:ext uri="{FF2B5EF4-FFF2-40B4-BE49-F238E27FC236}">
                <a16:creationId xmlns:a16="http://schemas.microsoft.com/office/drawing/2014/main" id="{7D42F324-9490-48CF-9150-5DA71FF331F9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分子用「本期新增保留盈餘」316，並非期末累積保留盈餘 2,115。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保留盈餘是權益項目，不能當作帳上現金餘額。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Internal Growth Rate, IGR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內部成長率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34</a:t>
            </a:r>
          </a:p>
        </p:txBody>
      </p:sp>
      <p:sp>
        <p:nvSpPr>
          <p:cNvPr id="17" name="text-IGR = (ROA × b) ÷ ">
            <a:extLst>
              <a:ext uri="{FF2B5EF4-FFF2-40B4-BE49-F238E27FC236}">
                <a16:creationId xmlns:a16="http://schemas.microsoft.com/office/drawing/2014/main" id="{6BB22227-20CA-4B08-8049-E600132D273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IGR = (ROA × b) ÷ (1 − ROA × b)</a:t>
            </a:r>
          </a:p>
        </p:txBody>
      </p:sp>
      <p:sp>
        <p:nvSpPr>
          <p:cNvPr id="18" name="text-(13.0579% × 66.666">
            <a:extLst>
              <a:ext uri="{FF2B5EF4-FFF2-40B4-BE49-F238E27FC236}">
                <a16:creationId xmlns:a16="http://schemas.microsoft.com/office/drawing/2014/main" id="{987F8CD6-EEEE-4870-9AEC-5D7E7D9A73C1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(13.0579% × 66.6667%) ÷ (1 − 13.0579% × 66.6667%) = 9.54%</a:t>
            </a:r>
          </a:p>
        </p:txBody>
      </p:sp>
      <p:sp>
        <p:nvSpPr>
          <p:cNvPr id="19" name="text-融資限制">
            <a:extLst>
              <a:ext uri="{FF2B5EF4-FFF2-40B4-BE49-F238E27FC236}">
                <a16:creationId xmlns:a16="http://schemas.microsoft.com/office/drawing/2014/main" id="{1085652A-2D1D-4E62-BC20-6288C15D79B0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融資限制</a:t>
            </a:r>
          </a:p>
        </p:txBody>
      </p:sp>
      <p:sp>
        <p:nvSpPr>
          <p:cNvPr id="20" name="text-成長所需資金全部來自內部保留盈餘。&#10;">
            <a:extLst>
              <a:ext uri="{FF2B5EF4-FFF2-40B4-BE49-F238E27FC236}">
                <a16:creationId xmlns:a16="http://schemas.microsoft.com/office/drawing/2014/main" id="{957F1D24-B2F7-4671-A214-E2D3D68077C8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成長所需資金全部來自內部保留盈餘。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不新增借款，也不發行新股。</a:t>
            </a:r>
          </a:p>
        </p:txBody>
      </p:sp>
      <p:sp>
        <p:nvSpPr>
          <p:cNvPr id="21" name="text-模型意義">
            <a:extLst>
              <a:ext uri="{FF2B5EF4-FFF2-40B4-BE49-F238E27FC236}">
                <a16:creationId xmlns:a16="http://schemas.microsoft.com/office/drawing/2014/main" id="{1B98A6E6-E965-4370-BB28-72DBD785E780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模型意義</a:t>
            </a:r>
          </a:p>
        </p:txBody>
      </p:sp>
      <p:sp>
        <p:nvSpPr>
          <p:cNvPr id="22" name="text-在目前獲利與保留政策等假設下，不依賴">
            <a:extLst>
              <a:ext uri="{FF2B5EF4-FFF2-40B4-BE49-F238E27FC236}">
                <a16:creationId xmlns:a16="http://schemas.microsoft.com/office/drawing/2014/main" id="{A8E7597E-D7AD-4445-A3C2-82996FF6AA7C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在目前獲利與保留政策等假設下，不依賴外部融資的最大成長率。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銷售成長需搭配資產投入，並假設資產使用效率維持。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Sustainable Growth Rate, SGR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可持續成長率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35</a:t>
            </a:r>
          </a:p>
        </p:txBody>
      </p:sp>
      <p:sp>
        <p:nvSpPr>
          <p:cNvPr id="17" name="text-SGR = (ROE × b) ÷ ">
            <a:extLst>
              <a:ext uri="{FF2B5EF4-FFF2-40B4-BE49-F238E27FC236}">
                <a16:creationId xmlns:a16="http://schemas.microsoft.com/office/drawing/2014/main" id="{62F81B42-7EEB-455D-B8F3-1AA53AB3DFC6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7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SGR = (ROE × b) ÷ (1 − ROE × b)</a:t>
            </a:r>
          </a:p>
        </p:txBody>
      </p:sp>
      <p:sp>
        <p:nvSpPr>
          <p:cNvPr id="18" name="text-(18.0571% × 66.666">
            <a:extLst>
              <a:ext uri="{FF2B5EF4-FFF2-40B4-BE49-F238E27FC236}">
                <a16:creationId xmlns:a16="http://schemas.microsoft.com/office/drawing/2014/main" id="{B4E17190-1832-47B4-94F2-DC69039861E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(18.0571% × 66.6667%) ÷ (1 − 18.0571% × 66.6667%) = 13.69%</a:t>
            </a:r>
          </a:p>
        </p:txBody>
      </p:sp>
      <p:sp>
        <p:nvSpPr>
          <p:cNvPr id="19" name="text-融資限制">
            <a:extLst>
              <a:ext uri="{FF2B5EF4-FFF2-40B4-BE49-F238E27FC236}">
                <a16:creationId xmlns:a16="http://schemas.microsoft.com/office/drawing/2014/main" id="{DD79FF51-AB88-4099-8795-42B4FEA6199D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融資限制</a:t>
            </a:r>
          </a:p>
        </p:txBody>
      </p:sp>
      <p:sp>
        <p:nvSpPr>
          <p:cNvPr id="20" name="text-不發行新股，但允許新增借款，以維持固">
            <a:extLst>
              <a:ext uri="{FF2B5EF4-FFF2-40B4-BE49-F238E27FC236}">
                <a16:creationId xmlns:a16="http://schemas.microsoft.com/office/drawing/2014/main" id="{4FEA6AA2-2D1A-439A-B27D-0445E2E22055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不發行新股，但允許新增借款，以維持固定負債權益比。</a:t>
            </a:r>
          </a:p>
        </p:txBody>
      </p:sp>
      <p:sp>
        <p:nvSpPr>
          <p:cNvPr id="21" name="text-模型意義">
            <a:extLst>
              <a:ext uri="{FF2B5EF4-FFF2-40B4-BE49-F238E27FC236}">
                <a16:creationId xmlns:a16="http://schemas.microsoft.com/office/drawing/2014/main" id="{D11A561C-863B-466A-847F-9842898AA381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模型意義</a:t>
            </a:r>
          </a:p>
        </p:txBody>
      </p:sp>
      <p:sp>
        <p:nvSpPr>
          <p:cNvPr id="22" name="text-保留盈餘增加權益，再搭配相應負債，支">
            <a:extLst>
              <a:ext uri="{FF2B5EF4-FFF2-40B4-BE49-F238E27FC236}">
                <a16:creationId xmlns:a16="http://schemas.microsoft.com/office/drawing/2014/main" id="{464AE9FF-E0D6-4E0A-98BE-471356DA0263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38684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保留盈餘增加權益，再搭配相應負債，支應更大的資產與營收。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此處 sustainable 指財務政策可維持，與 ESG 的永續概念不同。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IGR versus SGR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兩種成長率的融資條件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36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DAFFEC3-37F3-4073-B588-CDBC135D253C}"/>
              </a:ext>
            </a:extLst>
          </p:cNvPr>
          <p:cNvGraphicFramePr/>
          <p:nvPr/>
        </p:nvGraphicFramePr>
        <p:xfrm>
          <a:off x="685800" y="1943100"/>
          <a:ext cx="13868400" cy="354330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條件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內部成長率 IGR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可持續成長率 SGR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保留盈餘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使用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使用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新增借款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不使用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使用，以維持固定 D/E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發行新股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不使用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不使用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相關報酬率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Prufrock 計算結果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9.54%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13.69%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-假設 ROA、ROE 與 b 為正且">
            <a:extLst>
              <a:ext uri="{FF2B5EF4-FFF2-40B4-BE49-F238E27FC236}">
                <a16:creationId xmlns:a16="http://schemas.microsoft.com/office/drawing/2014/main" id="{CF1C9089-FA3E-4FB6-857C-1DD216B4F0FC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假設 ROA、ROE 與 b 為正且公式分母為正，此例 SGR 高於 IGR。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Determinants of Growth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影響成長能力的四項因素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37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3BBE4B2-21CA-4EE7-A1A6-30D4F8749261}"/>
              </a:ext>
            </a:extLst>
          </p:cNvPr>
          <p:cNvGraphicFramePr/>
          <p:nvPr/>
        </p:nvGraphicFramePr>
        <p:xfrm>
          <a:off x="685800" y="1943100"/>
          <a:ext cx="13868400" cy="29527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因素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可行方向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需要一起評估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獲利效率 Profit Margin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改善售價組合、成本與費用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調價可能影響需求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資產效率 Total Asset Turnover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減少閒置或改善存貨與收款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過度精簡可能影響營運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財務政策 Financial Policy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在可承受範圍調整負債比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利息、再融資與違約風險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股利政策 Dividend Policy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提高保留率，增加內部資金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股東需求與再投資效益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-若目標成長率高於 SGR，需調整政策">
            <a:extLst>
              <a:ext uri="{FF2B5EF4-FFF2-40B4-BE49-F238E27FC236}">
                <a16:creationId xmlns:a16="http://schemas.microsoft.com/office/drawing/2014/main" id="{56F02775-3E6F-495B-B837-44B2AC197971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若目標成長率高於 SGR，需調整政策、效率、外部權益或成長目標。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3.4　A Note on Growth Calculations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期初與期末權益：成長公式的差異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38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B1D7B31-D0C2-4E32-8475-41114FF3FC34}"/>
              </a:ext>
            </a:extLst>
          </p:cNvPr>
          <p:cNvGraphicFramePr/>
          <p:nvPr/>
        </p:nvGraphicFramePr>
        <p:xfrm>
          <a:off x="685800" y="1943100"/>
          <a:ext cx="13868400" cy="29527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自編簡例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以期初權益計算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以期末權益計算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淨利 NI = 20，b = 60%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期初權益 E₀ = 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期末權益 E₁ = 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 ÷ 80 = 25%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20 ÷ 92 = 21.7391%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對應成長公式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g = ROE₀ × 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g = (ROE₁ × b) ÷ (1 − ROE₁ × b)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成長率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25% × 60% = 15%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13.0435% ÷ 86.9565% = 15%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-同一組資料，口徑搭配正確才會得到相同">
            <a:extLst>
              <a:ext uri="{FF2B5EF4-FFF2-40B4-BE49-F238E27FC236}">
                <a16:creationId xmlns:a16="http://schemas.microsoft.com/office/drawing/2014/main" id="{853983C4-C135-4BC9-A8D4-E822C958E4C6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同一組資料，口徑搭配正確才會得到相同答案。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3.5　Using Financial Statement Information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財務報表分析的使用者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39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67C0D5B-A604-42D9-BDDD-FBBCF499AB29}"/>
              </a:ext>
            </a:extLst>
          </p:cNvPr>
          <p:cNvGraphicFramePr/>
          <p:nvPr/>
        </p:nvGraphicFramePr>
        <p:xfrm>
          <a:off x="685800" y="1943100"/>
          <a:ext cx="13868400" cy="354330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使用情境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主要關心的問題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內部績效評估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部門表現如何？獎酬指標是否合理？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內部規劃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成長需要多少資產與融資？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銀行與債權人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利息與到期本金能否償還？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供應商與客戶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交易對象能否持續履約？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股東與投資人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獲利品質、風險與價值是否合理？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3.5　Benchmarking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比較基準：趨勢與同業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40</a:t>
            </a:r>
          </a:p>
        </p:txBody>
      </p:sp>
      <p:sp>
        <p:nvSpPr>
          <p:cNvPr id="17" name="text-時間趨勢分析 Time-Trend ">
            <a:extLst>
              <a:ext uri="{FF2B5EF4-FFF2-40B4-BE49-F238E27FC236}">
                <a16:creationId xmlns:a16="http://schemas.microsoft.com/office/drawing/2014/main" id="{D9DF52F0-4FD8-45C7-9563-CBA0B5C0ECF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時間趨勢分析 Time-Trend Analysis</a:t>
            </a:r>
          </a:p>
        </p:txBody>
      </p:sp>
      <p:sp>
        <p:nvSpPr>
          <p:cNvPr id="18" name="text-比較同一家公司的多期表現，觀察方向與">
            <a:extLst>
              <a:ext uri="{FF2B5EF4-FFF2-40B4-BE49-F238E27FC236}">
                <a16:creationId xmlns:a16="http://schemas.microsoft.com/office/drawing/2014/main" id="{07A22441-E649-4CC2-8159-23D31299C8D8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比較同一家公司的多期表現，觀察方向與轉折。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比率惡化是進一步調查的起點，原因可能是策略或營運結構改變。</a:t>
            </a:r>
          </a:p>
        </p:txBody>
      </p:sp>
      <p:sp>
        <p:nvSpPr>
          <p:cNvPr id="19" name="text-同業比較 Peer Group An">
            <a:extLst>
              <a:ext uri="{FF2B5EF4-FFF2-40B4-BE49-F238E27FC236}">
                <a16:creationId xmlns:a16="http://schemas.microsoft.com/office/drawing/2014/main" id="{22A0B518-00CE-4EE6-9875-A5151B2C1E8C}"/>
              </a:ext>
            </a:extLst>
          </p:cNvPr>
          <p:cNvSpPr>
            <a:spLocks noGrp="1"/>
          </p:cNvSpPr>
          <p:nvPr/>
        </p:nvSpPr>
        <p:spPr>
          <a:xfrm>
            <a:off x="685800" y="3860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同業比較 Peer Group Analysis</a:t>
            </a:r>
          </a:p>
        </p:txBody>
      </p:sp>
      <p:sp>
        <p:nvSpPr>
          <p:cNvPr id="20" name="text-選擇產品、市場、資產結構與經營方式相">
            <a:extLst>
              <a:ext uri="{FF2B5EF4-FFF2-40B4-BE49-F238E27FC236}">
                <a16:creationId xmlns:a16="http://schemas.microsoft.com/office/drawing/2014/main" id="{0D45B5C1-1B72-45D1-9793-DC8958F539AB}"/>
              </a:ext>
            </a:extLst>
          </p:cNvPr>
          <p:cNvSpPr>
            <a:spLocks noGrp="1"/>
          </p:cNvSpPr>
          <p:nvPr/>
        </p:nvSpPr>
        <p:spPr>
          <a:xfrm>
            <a:off x="685800" y="43275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選擇產品、市場、資產結構與經營方式相近的公司。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產業分類 SIC / NAICS 可協助篩選，仍須檢查實質可比性。</a:t>
            </a:r>
          </a:p>
        </p:txBody>
      </p:sp>
      <p:sp>
        <p:nvSpPr>
          <p:cNvPr id="21" name="text-目標同業 Aspirant Grou">
            <a:extLst>
              <a:ext uri="{FF2B5EF4-FFF2-40B4-BE49-F238E27FC236}">
                <a16:creationId xmlns:a16="http://schemas.microsoft.com/office/drawing/2014/main" id="{D3B19012-0744-4033-B871-F292A9739D96}"/>
              </a:ext>
            </a:extLst>
          </p:cNvPr>
          <p:cNvSpPr>
            <a:spLocks noGrp="1"/>
          </p:cNvSpPr>
          <p:nvPr/>
        </p:nvSpPr>
        <p:spPr>
          <a:xfrm>
            <a:off x="685800" y="57785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目標同業 Aspirant Group</a:t>
            </a:r>
          </a:p>
        </p:txBody>
      </p:sp>
      <p:sp>
        <p:nvSpPr>
          <p:cNvPr id="22" name="text-也可與希望追上的優良同業比較，評估差">
            <a:extLst>
              <a:ext uri="{FF2B5EF4-FFF2-40B4-BE49-F238E27FC236}">
                <a16:creationId xmlns:a16="http://schemas.microsoft.com/office/drawing/2014/main" id="{8555A539-E7AF-49D2-8358-AFA350FF4F59}"/>
              </a:ext>
            </a:extLst>
          </p:cNvPr>
          <p:cNvSpPr>
            <a:spLocks noGrp="1"/>
          </p:cNvSpPr>
          <p:nvPr/>
        </p:nvSpPr>
        <p:spPr>
          <a:xfrm>
            <a:off x="685800" y="62452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也可與希望追上的優良同業比較，評估差距與改善方向。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3.5　Problems with Financial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財報分析的限制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41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47A3E77-6C5E-46BF-8F82-EC2E07E9916C}"/>
              </a:ext>
            </a:extLst>
          </p:cNvPr>
          <p:cNvGraphicFramePr/>
          <p:nvPr/>
        </p:nvGraphicFramePr>
        <p:xfrm>
          <a:off x="685800" y="1943100"/>
          <a:ext cx="13868400" cy="354330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限制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可能造成的判讀問題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跨產業、多角化或跨國經營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同業不容易選，單一平均值未必適合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會計政策與估計不同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折舊、存貨與收入認列會改變比率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財年結束日與季節性不同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年底餘額未必代表全年一般水準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一次性損益與資本結構變動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高淨利或高 ROE 可能難以持續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帳面值與市場價值不同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低帳面資產或低權益會放大部分比率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-比率提供線索。可靠判斷還需要附註、現">
            <a:extLst>
              <a:ext uri="{FF2B5EF4-FFF2-40B4-BE49-F238E27FC236}">
                <a16:creationId xmlns:a16="http://schemas.microsoft.com/office/drawing/2014/main" id="{24E02580-E4D0-47A1-9884-021707B577F3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比率提供線索。可靠判斷還需要附註、現金流量與營運背景。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Practice 3　自編案例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綜合練習：成長需要哪些資金？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42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09A93C5-10B2-455C-A005-EF61A1CCB99E}"/>
              </a:ext>
            </a:extLst>
          </p:cNvPr>
          <p:cNvGraphicFramePr/>
          <p:nvPr/>
        </p:nvGraphicFramePr>
        <p:xfrm>
          <a:off x="685800" y="1943100"/>
          <a:ext cx="13868400" cy="2952750"/>
        </p:xfrm>
        <a:graphic>
          <a:graphicData uri="http://schemas.openxmlformats.org/drawingml/2006/table">
            <a:tbl>
              <a:tblPr/>
              <a:tblGrid>
                <a:gridCol w="952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某公司資料（萬元）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金額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銷貨收入／淨利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2,000 ／ 160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總資產／總負債／股東權益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1,600 ／ 800 ／ 800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本期現金股利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-計算與判斷">
            <a:extLst>
              <a:ext uri="{FF2B5EF4-FFF2-40B4-BE49-F238E27FC236}">
                <a16:creationId xmlns:a16="http://schemas.microsoft.com/office/drawing/2014/main" id="{09F06051-5D15-4E4E-93AD-4445D93E749F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386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計算與判斷</a:t>
            </a:r>
          </a:p>
        </p:txBody>
      </p:sp>
      <p:sp>
        <p:nvSpPr>
          <p:cNvPr id="19" name="text-① 以杜邦恆等式核對 ROE。&#10;② ">
            <a:extLst>
              <a:ext uri="{FF2B5EF4-FFF2-40B4-BE49-F238E27FC236}">
                <a16:creationId xmlns:a16="http://schemas.microsoft.com/office/drawing/2014/main" id="{F706AD82-1F5D-40F9-9B2D-1E587A027279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3868400" cy="2162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① 以杜邦恆等式核對 ROE。</a:t>
            </a:r>
          </a:p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② 求保留率 b、IGR 與 SGR。</a:t>
            </a:r>
          </a:p>
          <a:p>
            <a:pPr>
              <a:def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③ 目標成長 15%，目前政策是否足以支應？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Practice 3　Answers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綜合練習解答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43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7438CC3-9CAC-4287-89DA-A3D1FDC59652}"/>
              </a:ext>
            </a:extLst>
          </p:cNvPr>
          <p:cNvGraphicFramePr/>
          <p:nvPr/>
        </p:nvGraphicFramePr>
        <p:xfrm>
          <a:off x="685800" y="1943100"/>
          <a:ext cx="13868400" cy="295275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計算與答案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杜邦核對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PM = 8%，TAT = 1.25，EM = 2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 = 8% × 1.25 × 2 = 20%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盈餘保留率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 = (160 − 64) ÷ 160 = 60%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內部成長率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ROA = 10%</a:t>
                      </a: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IGR = 0.10 × 0.60 ÷ (1 − 0.10 × 0.60) = 6.38%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可持續成長率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SGR = 0.20 × 0.60 ÷ (1 − 0.20 × 0.60) = 13.64%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-15% 高於 SGR 13.64%，">
            <a:extLst>
              <a:ext uri="{FF2B5EF4-FFF2-40B4-BE49-F238E27FC236}">
                <a16:creationId xmlns:a16="http://schemas.microsoft.com/office/drawing/2014/main" id="{E602C118-85E2-4AE1-A6E4-043A36806CC6}"/>
              </a:ext>
            </a:extLst>
          </p:cNvPr>
          <p:cNvSpPr>
            <a:spLocks noGrp="1"/>
          </p:cNvSpPr>
          <p:nvPr/>
        </p:nvSpPr>
        <p:spPr>
          <a:xfrm>
            <a:off x="685800" y="7124700"/>
            <a:ext cx="13868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102C46"/>
                </a:solidFill>
                <a:latin typeface="Noto Sans CJK TC"/>
                <a:ea typeface="Noto Sans CJK TC"/>
                <a:cs typeface="Noto Sans CJK TC"/>
              </a:rPr>
              <a:t>15% 高於 SGR 13.64%，需調整政策、效率或引入新股權資金。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Chapter 3　Review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本章重點整理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44</a:t>
            </a:r>
          </a:p>
        </p:txBody>
      </p:sp>
      <p:sp>
        <p:nvSpPr>
          <p:cNvPr id="17" name="text-報表比較">
            <a:extLst>
              <a:ext uri="{FF2B5EF4-FFF2-40B4-BE49-F238E27FC236}">
                <a16:creationId xmlns:a16="http://schemas.microsoft.com/office/drawing/2014/main" id="{176FB8CC-9F37-4409-9A4B-A995DBFBB9C5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報表比較</a:t>
            </a:r>
          </a:p>
        </p:txBody>
      </p:sp>
      <p:sp>
        <p:nvSpPr>
          <p:cNvPr id="18" name="text-共同比報表把金額轉成結構，財務比率把">
            <a:extLst>
              <a:ext uri="{FF2B5EF4-FFF2-40B4-BE49-F238E27FC236}">
                <a16:creationId xmlns:a16="http://schemas.microsoft.com/office/drawing/2014/main" id="{B29EF202-2466-4A09-9CEA-C3D8A5BC580D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共同比報表把金額轉成結構，財務比率把數字連成經營問題。</a:t>
            </a:r>
          </a:p>
        </p:txBody>
      </p:sp>
      <p:sp>
        <p:nvSpPr>
          <p:cNvPr id="19" name="text-報酬來源">
            <a:extLst>
              <a:ext uri="{FF2B5EF4-FFF2-40B4-BE49-F238E27FC236}">
                <a16:creationId xmlns:a16="http://schemas.microsoft.com/office/drawing/2014/main" id="{F47752E9-7633-46FF-94CD-F91EC7D3F8A0}"/>
              </a:ext>
            </a:extLst>
          </p:cNvPr>
          <p:cNvSpPr>
            <a:spLocks noGrp="1"/>
          </p:cNvSpPr>
          <p:nvPr/>
        </p:nvSpPr>
        <p:spPr>
          <a:xfrm>
            <a:off x="685800" y="3860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報酬來源</a:t>
            </a:r>
          </a:p>
        </p:txBody>
      </p:sp>
      <p:sp>
        <p:nvSpPr>
          <p:cNvPr id="20" name="text-ROA = PM × TAT。&#10;RO">
            <a:extLst>
              <a:ext uri="{FF2B5EF4-FFF2-40B4-BE49-F238E27FC236}">
                <a16:creationId xmlns:a16="http://schemas.microsoft.com/office/drawing/2014/main" id="{ACE1E627-CDAC-4F70-B704-CAA31C632952}"/>
              </a:ext>
            </a:extLst>
          </p:cNvPr>
          <p:cNvSpPr>
            <a:spLocks noGrp="1"/>
          </p:cNvSpPr>
          <p:nvPr/>
        </p:nvSpPr>
        <p:spPr>
          <a:xfrm>
            <a:off x="685800" y="43275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ROA = PM × TAT。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ROE = PM × TAT × EM，須同時辨認效率與槓桿。</a:t>
            </a:r>
          </a:p>
        </p:txBody>
      </p:sp>
      <p:sp>
        <p:nvSpPr>
          <p:cNvPr id="21" name="text-成長與資金">
            <a:extLst>
              <a:ext uri="{FF2B5EF4-FFF2-40B4-BE49-F238E27FC236}">
                <a16:creationId xmlns:a16="http://schemas.microsoft.com/office/drawing/2014/main" id="{443F14D5-172C-4147-A0CB-D00328679533}"/>
              </a:ext>
            </a:extLst>
          </p:cNvPr>
          <p:cNvSpPr>
            <a:spLocks noGrp="1"/>
          </p:cNvSpPr>
          <p:nvPr/>
        </p:nvSpPr>
        <p:spPr>
          <a:xfrm>
            <a:off x="685800" y="57785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成長與資金</a:t>
            </a:r>
          </a:p>
        </p:txBody>
      </p:sp>
      <p:sp>
        <p:nvSpPr>
          <p:cNvPr id="22" name="text-IGR 使用內部資金。SGR 允許新">
            <a:extLst>
              <a:ext uri="{FF2B5EF4-FFF2-40B4-BE49-F238E27FC236}">
                <a16:creationId xmlns:a16="http://schemas.microsoft.com/office/drawing/2014/main" id="{0F855080-89F7-47D9-ADFE-CEC10AA115A0}"/>
              </a:ext>
            </a:extLst>
          </p:cNvPr>
          <p:cNvSpPr>
            <a:spLocks noGrp="1"/>
          </p:cNvSpPr>
          <p:nvPr/>
        </p:nvSpPr>
        <p:spPr>
          <a:xfrm>
            <a:off x="685800" y="62452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IGR 使用內部資金。SGR 允許新增借款並維持固定 D/E。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分析時一併交代計算口徑、比較基準與限制。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Appendix A　Formula Reference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比率公式索引：償債與資產管理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45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03F63EB6-D0EB-474A-83D5-E743F09DA80E}"/>
              </a:ext>
            </a:extLst>
          </p:cNvPr>
          <p:cNvGraphicFramePr/>
          <p:nvPr/>
        </p:nvGraphicFramePr>
        <p:xfrm>
          <a:off x="685800" y="1943100"/>
          <a:ext cx="13868400" cy="472440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本章公式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Current / Quick / Cash Ratio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CA ÷ CL ／ (CA − Inventory) ÷ CL ／ Cash ÷ CL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Total Debt Ratio / D/E / EM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TD ÷ TA ／ TD ÷ TE ／ TA ÷ TE = 1 + D/E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Times Interest Earned / Cash Coverage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EBIT ÷ Interest ／ (EBIT + Depreciation) ÷ Interest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Inventory Turnover / DSI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COGS ÷ Inventory ／ 365 ÷ Inventory Turnover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Receivables Turnover / DSO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Sales ÷ AR ／ 365 ÷ Receivables Turnover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Payables Turnover / Payable Days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COGS ÷ AP（近似）／ 365 ÷ Payables Turnover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Total Asset Turnover / Capital Intensity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Sales ÷ TA ／ TA ÷ Sales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Appendix B　Formula Reference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比率公式索引：獲利、市值與成長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46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7F863C5-E2FA-42E5-86CC-39605D9BD148}"/>
              </a:ext>
            </a:extLst>
          </p:cNvPr>
          <p:cNvGraphicFramePr/>
          <p:nvPr/>
        </p:nvGraphicFramePr>
        <p:xfrm>
          <a:off x="685800" y="1943100"/>
          <a:ext cx="13868400" cy="4724400"/>
        </p:xfrm>
        <a:graphic>
          <a:graphicData uri="http://schemas.openxmlformats.org/drawingml/2006/table">
            <a:tbl>
              <a:tblPr/>
              <a:tblGrid>
                <a:gridCol w="504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比率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本章公式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>
                      <a:solidFill>
                        <a:srgbClr val="CED7DD"/>
                      </a:solidFill>
                      <a:prstDash val="soli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102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Profit Margin / ROA / ROE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 ÷ Sales ／ NI ÷ TA ／ NI ÷ 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EPS / P/E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NI ÷ Shares ／ 股價 ÷ EPS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P/S / P/B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市值 ÷ Sales ／ 市值 ÷ TE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EV / EV–EBITDA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市值 + 全部負債帳面值 − 現金 ／ EV ÷ EBITDA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DuPont Identity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ROE = PM × TAT × EM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Retention Ratio b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新增保留盈餘 ÷ NI = 1 − 股利支付率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IGR / SGR（採期末數）</a:t>
                      </a:r>
                    </a:p>
                  </a:txBody>
                  <a:tcPr anchor="ctr">
                    <a:lnL w="9525">
                      <a:solidFill>
                        <a:srgbClr val="CED7DD"/>
                      </a:solidFill>
                      <a:prstDash val="soli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(ROA × b) ÷ (1 − ROA × b)</a:t>
                      </a: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(ROE × b) ÷ (1 − ROE × b)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ED7DD"/>
                      </a:solidFill>
                      <a:prstDash val="solid"/>
                    </a:lnR>
                    <a:lnT w="9525" cap="flat" cmpd="sng" algn="ctr">
                      <a:solidFill>
                        <a:srgbClr val="CED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E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Appendix C　Market Multiples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市場倍數的補充：Trailing、Forward 與 PEG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47</a:t>
            </a:r>
          </a:p>
        </p:txBody>
      </p:sp>
      <p:sp>
        <p:nvSpPr>
          <p:cNvPr id="17" name="text-歷史與預估本益比">
            <a:extLst>
              <a:ext uri="{FF2B5EF4-FFF2-40B4-BE49-F238E27FC236}">
                <a16:creationId xmlns:a16="http://schemas.microsoft.com/office/drawing/2014/main" id="{7C200E58-7816-44F0-A680-01647B191AD8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歷史與預估本益比</a:t>
            </a:r>
          </a:p>
        </p:txBody>
      </p:sp>
      <p:sp>
        <p:nvSpPr>
          <p:cNvPr id="18" name="text-Trailing P/E 使用最近一">
            <a:extLst>
              <a:ext uri="{FF2B5EF4-FFF2-40B4-BE49-F238E27FC236}">
                <a16:creationId xmlns:a16="http://schemas.microsoft.com/office/drawing/2014/main" id="{87503008-9408-403B-80C1-D4FE3DE3C00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Trailing P/E 使用最近一段期間已實現盈餘，常見為最近四季。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Forward P/E 使用未來預估盈餘，會受預測誤差影響。</a:t>
            </a:r>
          </a:p>
        </p:txBody>
      </p:sp>
      <p:sp>
        <p:nvSpPr>
          <p:cNvPr id="19" name="text-PEG Ratio">
            <a:extLst>
              <a:ext uri="{FF2B5EF4-FFF2-40B4-BE49-F238E27FC236}">
                <a16:creationId xmlns:a16="http://schemas.microsoft.com/office/drawing/2014/main" id="{D3EA8C03-0740-4D7D-A518-502181D3B739}"/>
              </a:ext>
            </a:extLst>
          </p:cNvPr>
          <p:cNvSpPr>
            <a:spLocks noGrp="1"/>
          </p:cNvSpPr>
          <p:nvPr/>
        </p:nvSpPr>
        <p:spPr>
          <a:xfrm>
            <a:off x="685800" y="3860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PEG Ratio</a:t>
            </a:r>
          </a:p>
        </p:txBody>
      </p:sp>
      <p:sp>
        <p:nvSpPr>
          <p:cNvPr id="20" name="text-PEG = P/E ÷ 預期 EPS">
            <a:extLst>
              <a:ext uri="{FF2B5EF4-FFF2-40B4-BE49-F238E27FC236}">
                <a16:creationId xmlns:a16="http://schemas.microsoft.com/office/drawing/2014/main" id="{ED8CFE79-829F-4543-9D02-99CFC9966A0A}"/>
              </a:ext>
            </a:extLst>
          </p:cNvPr>
          <p:cNvSpPr>
            <a:spLocks noGrp="1"/>
          </p:cNvSpPr>
          <p:nvPr/>
        </p:nvSpPr>
        <p:spPr>
          <a:xfrm>
            <a:off x="685800" y="43275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PEG = P/E ÷ 預期 EPS 成長率的百分數值。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若股價 115、EPS = 474 ÷ 33、預期成長率 6%，PEG 約 1.33。</a:t>
            </a:r>
          </a:p>
        </p:txBody>
      </p:sp>
      <p:sp>
        <p:nvSpPr>
          <p:cNvPr id="21" name="text-使用限制">
            <a:extLst>
              <a:ext uri="{FF2B5EF4-FFF2-40B4-BE49-F238E27FC236}">
                <a16:creationId xmlns:a16="http://schemas.microsoft.com/office/drawing/2014/main" id="{618F8ED2-7C83-44A2-90C8-C2A77D871708}"/>
              </a:ext>
            </a:extLst>
          </p:cNvPr>
          <p:cNvSpPr>
            <a:spLocks noGrp="1"/>
          </p:cNvSpPr>
          <p:nvPr/>
        </p:nvSpPr>
        <p:spPr>
          <a:xfrm>
            <a:off x="685800" y="57785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使用限制</a:t>
            </a:r>
          </a:p>
        </p:txBody>
      </p:sp>
      <p:sp>
        <p:nvSpPr>
          <p:cNvPr id="22" name="text-預期成長率為零或負值時，PEG 難以">
            <a:extLst>
              <a:ext uri="{FF2B5EF4-FFF2-40B4-BE49-F238E27FC236}">
                <a16:creationId xmlns:a16="http://schemas.microsoft.com/office/drawing/2014/main" id="{631D3E2E-B53E-4919-94B6-74CE859662D3}"/>
              </a:ext>
            </a:extLst>
          </p:cNvPr>
          <p:cNvSpPr>
            <a:spLocks noGrp="1"/>
          </p:cNvSpPr>
          <p:nvPr/>
        </p:nvSpPr>
        <p:spPr>
          <a:xfrm>
            <a:off x="685800" y="62452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預期成長率為零或負值時，PEG 難以作一般解釋。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跨公司比較仍須考慮風險、成長持續性與盈餘口徑。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5DAC631-15DA-4E90-8801-ECFE2C79DD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1562100"/>
          </a:xfrm>
          <a:prstGeom prst="rect">
            <a:avLst/>
          </a:prstGeom>
          <a:solidFill>
            <a:srgbClr val="102C46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D2F9C2-D7D5-4D2F-B2A0-08360C90CB60}"/>
              </a:ext>
            </a:extLst>
          </p:cNvPr>
          <p:cNvSpPr>
            <a:spLocks noGrp="1"/>
          </p:cNvSpPr>
          <p:nvPr/>
        </p:nvSpPr>
        <p:spPr>
          <a:xfrm>
            <a:off x="685800" y="238125"/>
            <a:ext cx="13868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0">
                <a:solidFill>
                  <a:srgbClr val="CBB183"/>
                </a:solidFill>
                <a:latin typeface="Noto Sans CJK TC"/>
                <a:ea typeface="Noto Sans CJK TC"/>
                <a:cs typeface="Noto Sans CJK TC"/>
              </a:rPr>
              <a:t>Sources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F2EB77-78B7-490B-A3DC-9479D65B96A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3868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9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教材來源與使用說明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351860-6EEE-43D2-B1AF-ECAD6F7D0656}"/>
              </a:ext>
            </a:extLst>
          </p:cNvPr>
          <p:cNvSpPr>
            <a:spLocks noGrp="1"/>
          </p:cNvSpPr>
          <p:nvPr/>
        </p:nvSpPr>
        <p:spPr>
          <a:xfrm>
            <a:off x="685800" y="8134350"/>
            <a:ext cx="13868400" cy="9525"/>
          </a:xfrm>
          <a:prstGeom prst="rect">
            <a:avLst/>
          </a:prstGeom>
          <a:solidFill>
            <a:srgbClr val="CED7DD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532703-28C8-4B72-80E8-595CBDF02208}"/>
              </a:ext>
            </a:extLst>
          </p:cNvPr>
          <p:cNvSpPr>
            <a:spLocks noGrp="1"/>
          </p:cNvSpPr>
          <p:nvPr/>
        </p:nvSpPr>
        <p:spPr>
          <a:xfrm>
            <a:off x="685800" y="8248650"/>
            <a:ext cx="12382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財務金融概論　Chapter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53EECE-C2ED-422E-B61A-1BC2095AC01E}"/>
              </a:ext>
            </a:extLst>
          </p:cNvPr>
          <p:cNvSpPr>
            <a:spLocks noGrp="1"/>
          </p:cNvSpPr>
          <p:nvPr/>
        </p:nvSpPr>
        <p:spPr>
          <a:xfrm>
            <a:off x="13973175" y="822960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586B79"/>
                </a:solidFill>
                <a:latin typeface="Noto Sans CJK TC"/>
                <a:ea typeface="Noto Sans CJK TC"/>
                <a:cs typeface="Noto Sans CJK TC"/>
              </a:rPr>
              <a:t>48</a:t>
            </a:r>
          </a:p>
        </p:txBody>
      </p:sp>
      <p:sp>
        <p:nvSpPr>
          <p:cNvPr id="17" name="text-主要依據">
            <a:extLst>
              <a:ext uri="{FF2B5EF4-FFF2-40B4-BE49-F238E27FC236}">
                <a16:creationId xmlns:a16="http://schemas.microsoft.com/office/drawing/2014/main" id="{4182D562-005A-41B3-B6E6-280599ABB7A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主要依據</a:t>
            </a:r>
          </a:p>
        </p:txBody>
      </p:sp>
      <p:sp>
        <p:nvSpPr>
          <p:cNvPr id="18" name="text-Ross, Westerfield ">
            <a:extLst>
              <a:ext uri="{FF2B5EF4-FFF2-40B4-BE49-F238E27FC236}">
                <a16:creationId xmlns:a16="http://schemas.microsoft.com/office/drawing/2014/main" id="{EFD9C211-6F16-4A60-800E-CE64BB17AB7C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Ross, Westerfield &amp; Jordan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Essentials of Corporate Finance, 11th Edition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Chapter 3: Working with Financial Statements，紙本頁碼 52–80。</a:t>
            </a:r>
          </a:p>
        </p:txBody>
      </p:sp>
      <p:sp>
        <p:nvSpPr>
          <p:cNvPr id="19" name="text-補充與整合">
            <a:extLst>
              <a:ext uri="{FF2B5EF4-FFF2-40B4-BE49-F238E27FC236}">
                <a16:creationId xmlns:a16="http://schemas.microsoft.com/office/drawing/2014/main" id="{9A393920-3CE9-4419-9F79-D21A8A9C072A}"/>
              </a:ext>
            </a:extLst>
          </p:cNvPr>
          <p:cNvSpPr>
            <a:spLocks noGrp="1"/>
          </p:cNvSpPr>
          <p:nvPr/>
        </p:nvSpPr>
        <p:spPr>
          <a:xfrm>
            <a:off x="685800" y="38608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補充與整合</a:t>
            </a:r>
          </a:p>
        </p:txBody>
      </p:sp>
      <p:sp>
        <p:nvSpPr>
          <p:cNvPr id="20" name="text-Ross 2025R Chapter">
            <a:extLst>
              <a:ext uri="{FF2B5EF4-FFF2-40B4-BE49-F238E27FC236}">
                <a16:creationId xmlns:a16="http://schemas.microsoft.com/office/drawing/2014/main" id="{7E0E8E57-0872-405B-B460-6DA49CC11FB6}"/>
              </a:ext>
            </a:extLst>
          </p:cNvPr>
          <p:cNvSpPr>
            <a:spLocks noGrp="1"/>
          </p:cNvSpPr>
          <p:nvPr/>
        </p:nvSpPr>
        <p:spPr>
          <a:xfrm>
            <a:off x="685800" y="43275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Ross 2025R Chapter 3 PowerPoint 與 Instructor Manual。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使用者提供 Ch3.pptx 及「第3章運用財務報表_9e.pptx」。</a:t>
            </a:r>
          </a:p>
        </p:txBody>
      </p:sp>
      <p:sp>
        <p:nvSpPr>
          <p:cNvPr id="21" name="text-案例與計算">
            <a:extLst>
              <a:ext uri="{FF2B5EF4-FFF2-40B4-BE49-F238E27FC236}">
                <a16:creationId xmlns:a16="http://schemas.microsoft.com/office/drawing/2014/main" id="{9C281375-917E-4B83-BF36-E44D61041ABF}"/>
              </a:ext>
            </a:extLst>
          </p:cNvPr>
          <p:cNvSpPr>
            <a:spLocks noGrp="1"/>
          </p:cNvSpPr>
          <p:nvPr/>
        </p:nvSpPr>
        <p:spPr>
          <a:xfrm>
            <a:off x="685800" y="5778500"/>
            <a:ext cx="13868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案例與計算</a:t>
            </a:r>
          </a:p>
        </p:txBody>
      </p:sp>
      <p:sp>
        <p:nvSpPr>
          <p:cNvPr id="22" name="text-Prufrock 統一依第 11 版">
            <a:extLst>
              <a:ext uri="{FF2B5EF4-FFF2-40B4-BE49-F238E27FC236}">
                <a16:creationId xmlns:a16="http://schemas.microsoft.com/office/drawing/2014/main" id="{CCE16892-070E-4280-AF95-D9E24F8AFF2B}"/>
              </a:ext>
            </a:extLst>
          </p:cNvPr>
          <p:cNvSpPr>
            <a:spLocks noGrp="1"/>
          </p:cNvSpPr>
          <p:nvPr/>
        </p:nvSpPr>
        <p:spPr>
          <a:xfrm>
            <a:off x="685800" y="6245225"/>
            <a:ext cx="13868400" cy="1374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defPPr>
          </a:lstStyle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Prufrock 統一依第 11 版 2021–2022 年原始資料。</a:t>
            </a:r>
          </a:p>
          <a:p>
            <a:pPr>
              <a:def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0">
                <a:solidFill>
                  <a:srgbClr val="173247"/>
                </a:solidFill>
                <a:latin typeface="Noto Sans CJK TC"/>
                <a:ea typeface="Noto Sans CJK TC"/>
                <a:cs typeface="Noto Sans CJK TC"/>
              </a:rPr>
              <a:t>課堂練習標示為自編案例，計算採未四捨五入值，結果再取近似。</a:t>
            </a:r>
          </a:p>
        </p:txBody>
      </p:sp>
    </p:spTree>
    <p:extLst>
      <p:ext uri="{BB962C8B-B14F-4D97-AF65-F5344CB8AC3E}">
        <p14:creationId xmlns:p14="http://schemas.microsoft.com/office/powerpoint/2010/main" val="200754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</Words>
  <Application>Microsoft Office PowerPoint</Application>
  <DocSecurity>0</DocSecurity>
  <PresentationFormat>自訂</PresentationFormat>
  <Paragraphs>756</Paragraphs>
  <Slides>46</Slides>
  <Notes>46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49" baseType="lpstr">
      <vt:lpstr>Noto Sans CJK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林昌碩</cp:lastModifiedBy>
  <cp:revision>1</cp:revision>
  <dcterms:created xsi:type="dcterms:W3CDTF">2026-10-15T04:04:56Z</dcterms:created>
  <dcterms:modified xsi:type="dcterms:W3CDTF">2026-10-15T15:55:22Z</dcterms:modified>
</cp:coreProperties>
</file>