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027ce330d4c4b" /><Relationship Type="http://schemas.openxmlformats.org/officeDocument/2006/relationships/extended-properties" Target="/docProps/app.xml" Id="R53b58bd7d7d74091" /><Relationship Type="http://schemas.openxmlformats.org/officeDocument/2006/relationships/officeDocument" Target="/ppt/presentation.xml" Id="R5d8e27b61ce649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4a98669a714d08"/>
  </p:sldMasterIdLst>
  <p:notesMasterIdLst>
    <p:notesMasterId xmlns:r="http://schemas.openxmlformats.org/officeDocument/2006/relationships" r:id="R1bf9b4509a8e481d"/>
  </p:notesMasterIdLst>
  <p:sldIdLst>
    <p:sldId xmlns:r="http://schemas.openxmlformats.org/officeDocument/2006/relationships" id="256" r:id="R7252cd1d6b4e4c2f"/>
    <p:sldId xmlns:r="http://schemas.openxmlformats.org/officeDocument/2006/relationships" id="257" r:id="R8fa1a669a7234851"/>
    <p:sldId xmlns:r="http://schemas.openxmlformats.org/officeDocument/2006/relationships" id="258" r:id="R0f814d43350b45bd"/>
    <p:sldId xmlns:r="http://schemas.openxmlformats.org/officeDocument/2006/relationships" id="259" r:id="Red396565da0540a5"/>
    <p:sldId xmlns:r="http://schemas.openxmlformats.org/officeDocument/2006/relationships" id="260" r:id="R017e4eb8202f48ee"/>
    <p:sldId xmlns:r="http://schemas.openxmlformats.org/officeDocument/2006/relationships" id="261" r:id="R0390d55639ee47e5"/>
    <p:sldId xmlns:r="http://schemas.openxmlformats.org/officeDocument/2006/relationships" id="262" r:id="R73fb7643acc14026"/>
    <p:sldId xmlns:r="http://schemas.openxmlformats.org/officeDocument/2006/relationships" id="263" r:id="Rce975329ea5a4b31"/>
    <p:sldId xmlns:r="http://schemas.openxmlformats.org/officeDocument/2006/relationships" id="264" r:id="Ra0f4d28a5ece4779"/>
    <p:sldId xmlns:r="http://schemas.openxmlformats.org/officeDocument/2006/relationships" id="265" r:id="R892882bb27b04804"/>
    <p:sldId xmlns:r="http://schemas.openxmlformats.org/officeDocument/2006/relationships" id="266" r:id="Rf1f8eb8170d54e1e"/>
    <p:sldId xmlns:r="http://schemas.openxmlformats.org/officeDocument/2006/relationships" id="267" r:id="R2bf3bb191f0a460c"/>
    <p:sldId xmlns:r="http://schemas.openxmlformats.org/officeDocument/2006/relationships" id="268" r:id="Rcfbc2c948be745ae"/>
    <p:sldId xmlns:r="http://schemas.openxmlformats.org/officeDocument/2006/relationships" id="269" r:id="R9891a2b06a90426d"/>
    <p:sldId xmlns:r="http://schemas.openxmlformats.org/officeDocument/2006/relationships" id="270" r:id="R44190fefe821446d"/>
    <p:sldId xmlns:r="http://schemas.openxmlformats.org/officeDocument/2006/relationships" id="271" r:id="Rd72994f74cd74441"/>
    <p:sldId xmlns:r="http://schemas.openxmlformats.org/officeDocument/2006/relationships" id="272" r:id="R9c418dc630da4424"/>
    <p:sldId xmlns:r="http://schemas.openxmlformats.org/officeDocument/2006/relationships" id="273" r:id="R4e52e9dfc6414141"/>
    <p:sldId xmlns:r="http://schemas.openxmlformats.org/officeDocument/2006/relationships" id="274" r:id="R46d39c80f8d1435b"/>
    <p:sldId xmlns:r="http://schemas.openxmlformats.org/officeDocument/2006/relationships" id="275" r:id="R4a49db4f33f34c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61882dee7d4698" /><Relationship Type="http://schemas.openxmlformats.org/officeDocument/2006/relationships/slideMaster" Target="/ppt/slideMasters/slideMaster1.xml" Id="Rc44a98669a714d08" /><Relationship Type="http://schemas.openxmlformats.org/officeDocument/2006/relationships/notesMaster" Target="/ppt/notesMasters/notesMaster1.xml" Id="R1bf9b4509a8e481d" /><Relationship Type="http://schemas.openxmlformats.org/officeDocument/2006/relationships/presProps" Target="/ppt/presProps.xml" Id="R1fe19c0e83104674" /><Relationship Type="http://schemas.openxmlformats.org/officeDocument/2006/relationships/tableStyles" Target="/ppt/tableStyles.xml" Id="R15e4337afdd64687" /><Relationship Type="http://schemas.openxmlformats.org/officeDocument/2006/relationships/slide" Target="/ppt/slides/slide1.xml" Id="R7252cd1d6b4e4c2f" /><Relationship Type="http://schemas.openxmlformats.org/officeDocument/2006/relationships/slide" Target="/ppt/slides/slide2.xml" Id="R8fa1a669a7234851" /><Relationship Type="http://schemas.openxmlformats.org/officeDocument/2006/relationships/slide" Target="/ppt/slides/slide3.xml" Id="R0f814d43350b45bd" /><Relationship Type="http://schemas.openxmlformats.org/officeDocument/2006/relationships/slide" Target="/ppt/slides/slide4.xml" Id="Red396565da0540a5" /><Relationship Type="http://schemas.openxmlformats.org/officeDocument/2006/relationships/slide" Target="/ppt/slides/slide5.xml" Id="R017e4eb8202f48ee" /><Relationship Type="http://schemas.openxmlformats.org/officeDocument/2006/relationships/slide" Target="/ppt/slides/slide6.xml" Id="R0390d55639ee47e5" /><Relationship Type="http://schemas.openxmlformats.org/officeDocument/2006/relationships/slide" Target="/ppt/slides/slide7.xml" Id="R73fb7643acc14026" /><Relationship Type="http://schemas.openxmlformats.org/officeDocument/2006/relationships/slide" Target="/ppt/slides/slide8.xml" Id="Rce975329ea5a4b31" /><Relationship Type="http://schemas.openxmlformats.org/officeDocument/2006/relationships/slide" Target="/ppt/slides/slide9.xml" Id="Ra0f4d28a5ece4779" /><Relationship Type="http://schemas.openxmlformats.org/officeDocument/2006/relationships/slide" Target="/ppt/slides/slide10.xml" Id="R892882bb27b04804" /><Relationship Type="http://schemas.openxmlformats.org/officeDocument/2006/relationships/slide" Target="/ppt/slides/slide11.xml" Id="Rf1f8eb8170d54e1e" /><Relationship Type="http://schemas.openxmlformats.org/officeDocument/2006/relationships/slide" Target="/ppt/slides/slide12.xml" Id="R2bf3bb191f0a460c" /><Relationship Type="http://schemas.openxmlformats.org/officeDocument/2006/relationships/slide" Target="/ppt/slides/slide13.xml" Id="Rcfbc2c948be745ae" /><Relationship Type="http://schemas.openxmlformats.org/officeDocument/2006/relationships/slide" Target="/ppt/slides/slide14.xml" Id="R9891a2b06a90426d" /><Relationship Type="http://schemas.openxmlformats.org/officeDocument/2006/relationships/slide" Target="/ppt/slides/slide15.xml" Id="R44190fefe821446d" /><Relationship Type="http://schemas.openxmlformats.org/officeDocument/2006/relationships/slide" Target="/ppt/slides/slide16.xml" Id="Rd72994f74cd74441" /><Relationship Type="http://schemas.openxmlformats.org/officeDocument/2006/relationships/slide" Target="/ppt/slides/slide17.xml" Id="R9c418dc630da4424" /><Relationship Type="http://schemas.openxmlformats.org/officeDocument/2006/relationships/slide" Target="/ppt/slides/slide18.xml" Id="R4e52e9dfc6414141" /><Relationship Type="http://schemas.openxmlformats.org/officeDocument/2006/relationships/slide" Target="/ppt/slides/slide19.xml" Id="R46d39c80f8d1435b" /><Relationship Type="http://schemas.openxmlformats.org/officeDocument/2006/relationships/slide" Target="/ppt/slides/slide20.xml" Id="R4a49db4f33f34c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ae864cd2f846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f157c2101c4ff5" /><Relationship Type="http://schemas.openxmlformats.org/officeDocument/2006/relationships/notesMaster" Target="/ppt/notesMasters/notesMaster1.xml" Id="R06aed3b92ed3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cdbfd1809943e4" /><Relationship Type="http://schemas.openxmlformats.org/officeDocument/2006/relationships/notesMaster" Target="/ppt/notesMasters/notesMaster1.xml" Id="Rd22ea74f33d146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6b43f287cf421a" /><Relationship Type="http://schemas.openxmlformats.org/officeDocument/2006/relationships/notesMaster" Target="/ppt/notesMasters/notesMaster1.xml" Id="R94b2bd427d70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9fd3f217264333" /><Relationship Type="http://schemas.openxmlformats.org/officeDocument/2006/relationships/notesMaster" Target="/ppt/notesMasters/notesMaster1.xml" Id="R9112a50ce3f84d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d5cb6235d84b49" /><Relationship Type="http://schemas.openxmlformats.org/officeDocument/2006/relationships/notesMaster" Target="/ppt/notesMasters/notesMaster1.xml" Id="Rb618dc4b7db84f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8796eb51934719" /><Relationship Type="http://schemas.openxmlformats.org/officeDocument/2006/relationships/notesMaster" Target="/ppt/notesMasters/notesMaster1.xml" Id="R21541b26d8934c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fb91b96b344463" /><Relationship Type="http://schemas.openxmlformats.org/officeDocument/2006/relationships/notesMaster" Target="/ppt/notesMasters/notesMaster1.xml" Id="R14705cb5586e41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b2e4571ecb4afa" /><Relationship Type="http://schemas.openxmlformats.org/officeDocument/2006/relationships/notesMaster" Target="/ppt/notesMasters/notesMaster1.xml" Id="Rbb63a093c52247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40b8a784da4150" /><Relationship Type="http://schemas.openxmlformats.org/officeDocument/2006/relationships/notesMaster" Target="/ppt/notesMasters/notesMaster1.xml" Id="Rc9a2c194b50c45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6a26e2ff844312" /><Relationship Type="http://schemas.openxmlformats.org/officeDocument/2006/relationships/notesMaster" Target="/ppt/notesMasters/notesMaster1.xml" Id="Re08a46d05ddc4d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5f4a47218b4d15" /><Relationship Type="http://schemas.openxmlformats.org/officeDocument/2006/relationships/notesMaster" Target="/ppt/notesMasters/notesMaster1.xml" Id="Rb3276a9cc21f4c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dc6321cb6a4764" /><Relationship Type="http://schemas.openxmlformats.org/officeDocument/2006/relationships/notesMaster" Target="/ppt/notesMasters/notesMaster1.xml" Id="Rc3e7b955fcc446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4346d1bd6e43c6" /><Relationship Type="http://schemas.openxmlformats.org/officeDocument/2006/relationships/notesMaster" Target="/ppt/notesMasters/notesMaster1.xml" Id="Rfcb72cab62c34b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5bfd25cb984f35" /><Relationship Type="http://schemas.openxmlformats.org/officeDocument/2006/relationships/notesMaster" Target="/ppt/notesMasters/notesMaster1.xml" Id="R30e260e1a9314c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8d517f553342e6" /><Relationship Type="http://schemas.openxmlformats.org/officeDocument/2006/relationships/notesMaster" Target="/ppt/notesMasters/notesMaster1.xml" Id="Rb37d6a5269a74e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3a6b10adbb4695" /><Relationship Type="http://schemas.openxmlformats.org/officeDocument/2006/relationships/notesMaster" Target="/ppt/notesMasters/notesMaster1.xml" Id="R3600ce9f662e42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eb9bd7b89e4b9a" /><Relationship Type="http://schemas.openxmlformats.org/officeDocument/2006/relationships/notesMaster" Target="/ppt/notesMasters/notesMaster1.xml" Id="R09d2abb94a304c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e69c6b0e0843ee" /><Relationship Type="http://schemas.openxmlformats.org/officeDocument/2006/relationships/notesMaster" Target="/ppt/notesMasters/notesMaster1.xml" Id="R76ab3b4e50ad47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2878e2e4d543ae" /><Relationship Type="http://schemas.openxmlformats.org/officeDocument/2006/relationships/notesMaster" Target="/ppt/notesMasters/notesMaster1.xml" Id="Rc69cd313cf5944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9321c735344b2e" /><Relationship Type="http://schemas.openxmlformats.org/officeDocument/2006/relationships/notesMaster" Target="/ppt/notesMasters/notesMaster1.xml" Id="Rbc36b171fae643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以「一筆錢應該如何使用」開場。這份簡報適合約 35–45 分鐘，可依討論速度調整。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Chapters 1–9.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先讓學生分享，不急著給公式；三個問題分別銜接多期現金流、複利與資本預算。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Chapters 1, 4, 5, 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此為自編教學情境，不代表要求學生本學期實際創業。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Chapters 1–9.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Brief Contents; Chapters 1–9.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說明資本預算、資本結構、營運資金管理。課本的目標是提高現有股東權益的市場價值；不能解讀為不顧法規、倫理或其他利害關係人。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1, pp. 1–23.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用賒銷說明權責發生制與現金流的差異。稅制以概念導覽，不把課本美國稅率套用台灣。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2, pp. 24–51.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可持續成長在本章指維持特定財務政策下的成長能力，不是 ESG 概念。提醒高 ROE 可能來自槓桿；財務比率不能單獨下結論。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3, pp. 52–99.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5% 是純教學假設，忽略稅與費用。這是估值基礎，不是報酬承諾。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4, pp. 100–124.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先投票。假設一年期適用折現率 5%，兩方案風險相同且無稅費。一年後 10,400 元現值 9,904.76 元，低於現在 10,000 元。重點是比較基準，不是絕對偏好。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4.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年金是固定間隔、固定金額的有限期現金流，不只退休金。APR/EAR 為課本術語，不直接等同任何地區法規揭露口徑。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5, pp. 125–168.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價格與殖利率反向關係針對現金流固定、其他條件不變的債券。債券仍有違約及利率風險；不要把持有到期說成無風險。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6, pp. 169–209.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股利折現模型以未來股利的現值評估；固定成長模型需要要求報酬率大於成長率。無需首堂課推導公式。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7, pp. 210–241.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以一般公司債與普通股比較，不把特殊債券、特別股等例外塞入首堂課。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Chapters 6–7.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NPV 是課本的核心價值準則。IRR 在非傳統現金流或互斥方案比較時可能誤導。此處回本說法是提問，非已知計算結果。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8, pp. 242–278.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自編簡化案例，所有流入為年底稅後增額淨現金流，已扣相關營運成本。假設第二年末專案結束，無其他現金流。NPV=-100000+60000/1.1+60000/1.1^2=4132.23。僅在這些估计成立下增加價值。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8.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說明沉沒成本排除，機會成本及侵蝕效果納入。融資成本不重複列入以資金成本折現的專案現金流。折舊為非現金費用，但可能影響稅負。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9, pp. 279–314.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討論答案：不可回收調查費屬沉沒成本，不計；放棄出租的淨收入屬機會成本；額外存貨屬淨營運資金投入，期末回收金額需依假設估計。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 9, Sections 9.1–9.4.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Chapters 1–9.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此頁提供學習方法，不代表教師已訂定考試可使用工具或特定作業要求。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Chapters 1–9.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讓學生選一題回答：最想學會判斷哪一種財務決策？需要哪些資訊？可作為首堂課課堂回饋。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Ross, Westerfield &amp; Jordan, Essentials of Corporate Finance, 11th ed. (2023), Chapters 1–9. Source: user-provided PDF.</a:t>
            </a:r>
          </a:p>
          <a:p xmlns:a="http://schemas.openxmlformats.org/drawingml/2006/main">
            <a:r>
              <a:t>All café scenarios and numerical examples are original, simplified teaching examples; they are not textbook cases or market quotations.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de67953df4a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6baa4e65824ff7" /><Relationship Type="http://schemas.openxmlformats.org/officeDocument/2006/relationships/slideLayout" Target="/ppt/slideLayouts/slideLayout1.xml" Id="R752374b575294a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2374b575294a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9679776df4659" /><Relationship Type="http://schemas.openxmlformats.org/officeDocument/2006/relationships/notesSlide" Target="/ppt/notesSlides/notesSlide1.xml" Id="R207fec5dce804c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ed98e0c5e4c41" /><Relationship Type="http://schemas.openxmlformats.org/officeDocument/2006/relationships/notesSlide" Target="/ppt/notesSlides/notesSlide2.xml" Id="R22057cb6b9ad4a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2a7f4dcf04aa3" /><Relationship Type="http://schemas.openxmlformats.org/officeDocument/2006/relationships/notesSlide" Target="/ppt/notesSlides/notesSlide3.xml" Id="R4cfb5ef9956640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2f11c093c40e8" /><Relationship Type="http://schemas.openxmlformats.org/officeDocument/2006/relationships/notesSlide" Target="/ppt/notesSlides/notesSlide4.xml" Id="Recafee381fbc4e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7a8671b864a10" /><Relationship Type="http://schemas.openxmlformats.org/officeDocument/2006/relationships/notesSlide" Target="/ppt/notesSlides/notesSlide5.xml" Id="R07e9705c8b1340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cc015ad294271" /><Relationship Type="http://schemas.openxmlformats.org/officeDocument/2006/relationships/notesSlide" Target="/ppt/notesSlides/notesSlide6.xml" Id="R17287cc76a3748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6623581e34f38" /><Relationship Type="http://schemas.openxmlformats.org/officeDocument/2006/relationships/notesSlide" Target="/ppt/notesSlides/notesSlide7.xml" Id="R13b892820ec04d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f532f43574c6f" /><Relationship Type="http://schemas.openxmlformats.org/officeDocument/2006/relationships/notesSlide" Target="/ppt/notesSlides/notesSlide8.xml" Id="R0cdfbbbe062e47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f8d4c82c143b7" /><Relationship Type="http://schemas.openxmlformats.org/officeDocument/2006/relationships/notesSlide" Target="/ppt/notesSlides/notesSlide9.xml" Id="R9759e7f438ea43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4556cee0f4be9" /><Relationship Type="http://schemas.openxmlformats.org/officeDocument/2006/relationships/notesSlide" Target="/ppt/notesSlides/notesSlide10.xml" Id="R025d6ac84b364f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ce33bb2e74233" /><Relationship Type="http://schemas.openxmlformats.org/officeDocument/2006/relationships/notesSlide" Target="/ppt/notesSlides/notesSlide11.xml" Id="R93360271a70b4c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e6cf134ec45e4" /><Relationship Type="http://schemas.openxmlformats.org/officeDocument/2006/relationships/notesSlide" Target="/ppt/notesSlides/notesSlide12.xml" Id="R1db18bac85814d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6c73a0a27408b" /><Relationship Type="http://schemas.openxmlformats.org/officeDocument/2006/relationships/notesSlide" Target="/ppt/notesSlides/notesSlide13.xml" Id="R3eec7006d51448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ddce46bd846ef" /><Relationship Type="http://schemas.openxmlformats.org/officeDocument/2006/relationships/notesSlide" Target="/ppt/notesSlides/notesSlide14.xml" Id="R213bba7245004b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918a73e3c4a1f" /><Relationship Type="http://schemas.openxmlformats.org/officeDocument/2006/relationships/notesSlide" Target="/ppt/notesSlides/notesSlide15.xml" Id="R8e3422a9f08740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4ef342a5c4fb2" /><Relationship Type="http://schemas.openxmlformats.org/officeDocument/2006/relationships/notesSlide" Target="/ppt/notesSlides/notesSlide16.xml" Id="Rd2e2cbb378d941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44eafd2a44a30" /><Relationship Type="http://schemas.openxmlformats.org/officeDocument/2006/relationships/notesSlide" Target="/ppt/notesSlides/notesSlide17.xml" Id="Refb2d9d5a30241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12bbb5d1f4fc1" /><Relationship Type="http://schemas.openxmlformats.org/officeDocument/2006/relationships/notesSlide" Target="/ppt/notesSlides/notesSlide18.xml" Id="R7df6360f1eda4d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922c707c64e05" /><Relationship Type="http://schemas.openxmlformats.org/officeDocument/2006/relationships/notesSlide" Target="/ppt/notesSlides/notesSlide19.xml" Id="R1a502248502840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31e3851244d43" /><Relationship Type="http://schemas.openxmlformats.org/officeDocument/2006/relationships/notesSlide" Target="/ppt/notesSlides/notesSlide20.xml" Id="R347eb71bf09449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B46F7-2851-40F2-83DF-2CE559A8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第一堂課｜本學期學習導覽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3832F-E24D-4AF6-A726-2909CC44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財務金融概論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9715A-C739-4EFF-BBDA-CF443BBA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067A1-90F4-4BBA-A997-2A1434E1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1F4AB-75BE-49F6-9E3A-CD2EC37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B033D-43B4-4332-A0D1-143CF766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7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每一筆錢，</a:t>
            </a:r>
          </a:p>
          <a:p xmlns:a="http://schemas.openxmlformats.org/drawingml/2006/main">
            <a:pPr>
              <a:defRPr sz="57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7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都是一個選擇。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BADDA-D0E8-45E6-ACFC-23EF7D7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看懂企業財務，學會比較今天的成本與未來的價值。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070F3-D71B-474D-BA85-0D6FDBE1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Ross · Westerfield · Jordan｜第 1–9 章</a:t>
            </a:r>
          </a:p>
        </p:txBody>
      </p:sp>
    </p:spTree>
    <p:extLst>
      <p:ext uri="{BB962C8B-B14F-4D97-AF65-F5344CB8AC3E}">
        <p14:creationId xmlns:p14="http://schemas.microsoft.com/office/powerpoint/2010/main" val="467342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9EE3D-B92B-4F69-AABE-4D1CADC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先想想自己的生活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4D541-CFD5-4214-B4C3-9FBFBD9A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財務問題，其實每天都會遇到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37F83-D8E2-4B40-8A65-E7F38CD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7B340-6196-4047-90E3-7FC6773D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6D65C-30D7-448D-BF0F-A0D2FADA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A889F-AB7F-465C-A82F-7620DB53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買手機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996B0-DE43-4DD2-89CF-0727E94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一次付清，還是分期？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每月付款少，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總成本就比較低嗎？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3FEEE-2F55-4893-9FAE-A5284840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存一筆錢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D4053-6910-4A7B-94D5-3AE57959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今天存下的錢，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幾年後會變成多少？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時間如何改變價值？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5C894-DEF5-4476-B37B-1F09D55C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開一家店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9D274-B4FD-4159-B065-2B4426FE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生意看起來很好，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就值得投入資金嗎？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還缺哪些資訊？</a:t>
            </a:r>
          </a:p>
        </p:txBody>
      </p:sp>
    </p:spTree>
    <p:extLst>
      <p:ext uri="{BB962C8B-B14F-4D97-AF65-F5344CB8AC3E}">
        <p14:creationId xmlns:p14="http://schemas.microsoft.com/office/powerpoint/2010/main" val="1591194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7A4D0-27A2-4F98-994F-11F59524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貫穿本學期的假設案例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616CA-4846-4CB0-8B56-A53704B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假如我們要開一家校園咖啡店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D3B2E-EC49-436F-BE34-C10A7566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0E41D-38F8-4AA7-A931-0EF3F413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26300-882C-4233-99D1-385A4099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A0EC6-BCF5-4636-BC0B-ECB645AA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開店前要想清楚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F155C-6866-4E45-AF81-46466DE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經營後還要繼續問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0BCDB-5CE9-4590-81C5-5579D80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買設備、租店面：值得投入嗎？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35E4-2D95-4815-A7C3-5FE3818A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自己出資或借款：錢從哪裡來？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0D8A4-364B-4B13-B9F9-A30097E4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材料、薪資與租金：現金夠用嗎？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3442B-605E-42F1-B65B-E08B3F83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帳面賺錢，為什麼戶頭沒錢？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E2C6F-95F1-4DD9-9286-22BC3F10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要如何判斷這家店經營得好不好？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99BC0-688C-4360-BFEE-26932F7E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該不該再買一台咖啡機？</a:t>
            </a:r>
          </a:p>
        </p:txBody>
      </p:sp>
    </p:spTree>
    <p:extLst>
      <p:ext uri="{BB962C8B-B14F-4D97-AF65-F5344CB8AC3E}">
        <p14:creationId xmlns:p14="http://schemas.microsoft.com/office/powerpoint/2010/main" val="1173483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33A3E-C039-4AFB-8DE5-450E7D7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本學期課程地圖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67E12-5337-4CC0-AA01-0D5D85D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九章內容，串成五個學習階段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55C2C-0E72-47BA-A850-9AD04608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D3E36-7B3E-4DFE-B739-7E7A5F04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C9D73-49C3-4330-A8D4-74D1945B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81800-10A4-4F94-B1B8-E4CF4647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Part 1｜第 1 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A6F4A-DE3B-4C28-9D60-4223785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9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財務管理入門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5B30C-4216-4593-8918-E578309B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977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企業要做哪些金錢決策？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2891A-2C62-4A73-B08C-615FC9CB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Part 2｜第 2–3 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41E8F-D8A5-4EA5-A41A-4FFD9049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71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財務報表與分析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D3F90-9F9F-4719-A19E-C1DD87EC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7177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企業現在的財務狀況如何？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63F42-F893-4006-9F48-5682721A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Part 3｜第 4–5 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E7A4D-A32D-4F0B-A2A4-F3794420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未來現金流評價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61F50-D50A-434D-B4A3-E81A0957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3377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不同時間的錢，如何比較？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34618-FAC4-4D00-9226-55BEBA7D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Part 4｜第 6–7 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DACFD-F39B-4628-93D4-2AA2CA48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95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債券與股票評價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1443F-7FDF-4D30-A340-072F953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9577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金融資產的價值從哪裡來？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9A5FA-7596-464F-8185-52E8CA83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Part 5｜第 8–9 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418B4-7F50-42C0-84F7-2C5F475A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57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資本預算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A84C7-CA05-445C-A163-93BD991E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5777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哪些投資值得做？</a:t>
            </a:r>
          </a:p>
        </p:txBody>
      </p:sp>
    </p:spTree>
    <p:extLst>
      <p:ext uri="{BB962C8B-B14F-4D97-AF65-F5344CB8AC3E}">
        <p14:creationId xmlns:p14="http://schemas.microsoft.com/office/powerpoint/2010/main" val="1976735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547F4-972A-45E4-8E21-258A820D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1｜Introduction to Financial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198AC-570A-4ACF-8971-E978A161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財務管理：替企業做資金決策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5925C-7A37-4E9A-A1FD-28ADB917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6A80F-5A8B-4586-ACEA-F91D92D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1ACCD-9FD5-4FC2-A435-E4C41027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FA313-02F9-4F9F-863B-1AD547E7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B31ED-75A4-4AC6-8EF6-03D625CD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學完後，你能回答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EE69B-1B98-4378-8CEF-A42A6EDB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三類決策：投資、籌資、營運資金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9A789-0BCF-47E2-9F26-6024DC3B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企業組織型態與財務管理目標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5CBC1-95E9-406B-AD01-C5BBFF87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代理問題，以及企業與金融市場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7868C-CDD8-4D2C-A467-B6AF09D0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買咖啡機和借款，是同一種決策嗎？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6474E-FE58-4715-A1FA-C2146533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經理人的選擇一定符合股東利益嗎？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AE246-A1A3-4A7D-9D02-86E33C0D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為什麼不能只看今年賺了多少？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56570-0FCF-4B21-8A1C-30B4DDF7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關鍵觀念：企業決策要考慮現金流、時間與風險。</a:t>
            </a:r>
          </a:p>
        </p:txBody>
      </p:sp>
    </p:spTree>
    <p:extLst>
      <p:ext uri="{BB962C8B-B14F-4D97-AF65-F5344CB8AC3E}">
        <p14:creationId xmlns:p14="http://schemas.microsoft.com/office/powerpoint/2010/main" val="2286088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B60F4-5DD2-4437-8C99-77034363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2｜Financial Statements, Taxes, and Cash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4FF9E-1512-4096-9A8F-175914D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有獲利，為什麼還會缺現金？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CDF11-7A71-41BD-B625-880D8D37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A5857-94F2-47DA-BFC1-3253070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FFEBD-F1EA-4D71-98FC-46A5B92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FCE52-6766-4319-A98C-B8F101EE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071D6-D840-4CBE-B8D5-AB7FE77D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咖啡店的例子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FD1BE-1927-4ADC-9124-033F05F8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資產負債表、損益表與現金流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537D5-1E8B-478A-8478-29315BDD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帳面價值、市場價值與淨營運資金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3B7D3-8037-4636-B517-BD2C8034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稅負如何影響企業可用的現金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AC48A-3605-4E87-9679-13D0339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今天賣出 1 萬元，但客戶下月才付。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063E2-1AAD-4A09-95E8-190D04B9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收入已認列，今天卻還沒收到錢。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97521-9613-4F01-8637-8425FF5B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設備支出與折舊，也有不同的時點。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E32E0-C72E-44F2-ABB0-4173226D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你會開始區分：收入、利潤與現金流。</a:t>
            </a:r>
          </a:p>
        </p:txBody>
      </p:sp>
    </p:spTree>
    <p:extLst>
      <p:ext uri="{BB962C8B-B14F-4D97-AF65-F5344CB8AC3E}">
        <p14:creationId xmlns:p14="http://schemas.microsoft.com/office/powerpoint/2010/main" val="866526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FAC20-EC0C-4B37-B06B-6F8FE61C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3｜Working with Financial Statements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B9F15-237C-4742-A94E-F8D5A6A4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讀懂數字，才能替企業做健檢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05AAE-2075-49AE-ABE8-94ECEA73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C70D8-59A4-4C87-B193-659A04CB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17BA-F547-4D2F-A766-59125241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1525E-A39A-483F-9AA8-217E1C5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0C441-2BDA-4897-B43E-ADCC1C92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學完後，你能回答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50DC5-D6F3-4784-815A-32E11EFC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共同比報表與財務比率分析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A988E-093F-47C7-BCAF-091C5443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流動性、負債、效率、獲利與市價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B6EC9-6F9A-42CF-AC7F-C2EF2E32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杜邦分析、內部成長與可持續成長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DC069-31F9-41CA-AE7E-4D6225B4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A 店賺 10 萬，B 店賺 8 萬，誰較好？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11818-7358-4EBC-A10D-6DE30A8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還要比較投入資金、營收與負債。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B19DB-BA11-4623-98A6-466405C1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同一比率，要看歷年與同業水準。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4D1D4-966E-460D-BA9F-5F595479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關鍵觀念：比率要放回企業情境中解讀。</a:t>
            </a:r>
          </a:p>
        </p:txBody>
      </p:sp>
    </p:spTree>
    <p:extLst>
      <p:ext uri="{BB962C8B-B14F-4D97-AF65-F5344CB8AC3E}">
        <p14:creationId xmlns:p14="http://schemas.microsoft.com/office/powerpoint/2010/main" val="693166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A1822-7018-49B7-8DCB-1466292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4｜Introduction to Valuation: The Time Value of Money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EA21A-FDA0-40EA-899A-80776577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今天的 1 萬元，不等於明年的 1 萬元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89A14-1BD4-4DDD-A42D-8ECC16DB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BB98E-EEF7-4FD6-A3C1-10BEEBEA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55E40-9659-48DB-8323-611C2342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0E806-64ED-4D80-96A1-1ECAA831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C9CC5-5761-4A30-BA26-65DC9948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先看一個簡單例子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3044B-2780-4F66-AAFF-F4598A69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終值 FV：今天的錢，未來值多少？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6A852-F68D-4D94-9427-10560546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現值 PV：未來的錢，今天值多少？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5D711-713A-448B-AC27-039C70E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複利、折現，以及利率與期間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46DF5-5275-441F-9561-4FE18872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假設年利率 5%，以年複利計算。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64AE6-ACBF-4DA5-86E5-073C16E6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今天 10,000 元 → 一年後 10,500 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5AEE4-5BAD-4D52-92F6-86627CE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反過來：一年後 10,500 元的現值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就是今天的 10,000 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3DAB8-3034-4EB6-8ED9-99456CA7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把不同時間的金額，換到同一個時點再比較。</a:t>
            </a:r>
          </a:p>
        </p:txBody>
      </p:sp>
    </p:spTree>
    <p:extLst>
      <p:ext uri="{BB962C8B-B14F-4D97-AF65-F5344CB8AC3E}">
        <p14:creationId xmlns:p14="http://schemas.microsoft.com/office/powerpoint/2010/main" val="972952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A3E37-F9A1-4F44-AD31-D1F2A6B5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一起想想｜貨幣時間價值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2162-6431-41A6-930F-4086732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你會選今天收錢，還是一年後？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E28F6-15AD-4767-9658-389B7B76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90B9C-9F7A-4647-85F5-F952D3D6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06DB0-1A96-41E6-9626-C35C7BCB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BC922-BFFB-4934-B5A0-963B1F8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A｜今天拿到 10,000 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2E760-6252-4A82-A2C2-1BE17DDC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B｜一年後拿到 10,400 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822B8-36BD-43AD-A05A-AE7B4AE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假設適用年利率為 5%，兩者風險相同，且不計稅費。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C3DB3-0354-4111-86C0-234EA307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提示：今天的 10,000 元，一年後可以變成多少？</a:t>
            </a:r>
          </a:p>
        </p:txBody>
      </p:sp>
    </p:spTree>
    <p:extLst>
      <p:ext uri="{BB962C8B-B14F-4D97-AF65-F5344CB8AC3E}">
        <p14:creationId xmlns:p14="http://schemas.microsoft.com/office/powerpoint/2010/main" val="706403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3BA6A-EA46-4199-9DFE-B79362AC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5｜Discounted Cash Flow 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09B05-97D6-436B-AABB-72CE4A6A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分期付款與定期存款，怎麼算？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53805-18F7-4917-859D-59196C92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0E7FD-D40D-424F-8C63-F29ECF39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AD401-7D4C-4E22-A4BB-84732497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7AC9C-3A52-4233-9670-F79796A1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50872-421B-4DE8-8652-FEA234D1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學完後，你能回答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7ED16-9ACB-436E-8E4F-77115BCF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多筆現金流的現值與終值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40ECD-8BC9-4BEA-A6AC-43086F6D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年金、永續年金與貸款攤還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63CCF-2EF8-4FC4-AB26-5BD36C53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名目年利率 APR 與有效年利率 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E69E2-5934-47B6-83CE-BB323DBD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每月存 2,000 元，幾年後累積多少？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128F7-614A-4930-81D8-257BCDAF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同一筆貸款，月付金包含哪些項目？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23421-0405-47F4-B2C3-DFC520E0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比較貸款時，為什麼還要看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計息頻率、費用與付款時點？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7FCAF-DFF8-463D-8CE0-D9ADA6F7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第 4 章看一筆錢；第 5 章學會處理一串現金流。</a:t>
            </a:r>
          </a:p>
        </p:txBody>
      </p:sp>
    </p:spTree>
    <p:extLst>
      <p:ext uri="{BB962C8B-B14F-4D97-AF65-F5344CB8AC3E}">
        <p14:creationId xmlns:p14="http://schemas.microsoft.com/office/powerpoint/2010/main" val="9322463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7C32D-F425-4A4E-992D-6327730F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6｜Interest Rates and Bond 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FDB46-8D2A-433B-9165-DE98A402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買債券，就是成為債權人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E536C-9F5C-4FDB-B0B5-B907BB3D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B660C-1728-41ED-9B60-0C69D5AD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3A487-F368-42A5-B7F7-7F87DDB1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EAAEA-4DDA-4242-88F8-2547DE75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093AD-563C-4F1C-B4DB-7C95FE39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學完後，你能回答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2A61F-B388-4960-919D-39AA544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票面利率、到期日與到期殖利率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43C58-B706-4D08-B95B-401CA4D3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債券價值＝利息與本金的現值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8313B-85DF-4CB5-9699-6BC55C00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利率風險、信用評等、通膨與殖利率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6AF58-EFC3-49F3-8346-965C932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債券會付息，為什麼價格還會下跌？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BB112-333B-479B-BE3E-944C23E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市場要求報酬率提高時，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固定現金流的債券價格通常下降。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03F9D-76BE-4ED9-A5BA-7993E04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票面利率高，就一定比較划算嗎？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0D880-15CC-4440-BD4D-40AE5DA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債券的價值，同樣來自未來現金流。</a:t>
            </a:r>
          </a:p>
        </p:txBody>
      </p:sp>
    </p:spTree>
    <p:extLst>
      <p:ext uri="{BB962C8B-B14F-4D97-AF65-F5344CB8AC3E}">
        <p14:creationId xmlns:p14="http://schemas.microsoft.com/office/powerpoint/2010/main" val="5182553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9F9D3-CBE1-41AB-B143-51793960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7｜Equity Markets and Stock 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04A04-53F9-48DE-9214-1404FEC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買股票，就是持有企業的一部分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03799-09EE-4B95-8D41-5F5518B4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F61D2-06B4-4362-8E9D-B3560CAE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DC4E2-D30E-4681-9323-0E941AA4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286DE-1C22-4475-83CD-1962F04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8989C-D6DC-4E8F-B378-5DC2C16D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學完後，你能回答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AB6D8-6B0D-448E-86E9-AA7FBC2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普通股、特別股與股東權利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018D8-A7E0-4EC4-80E2-6FF911BA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股利折現：零成長、固定與非固定成長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3B0F6-B355-49A6-B322-FFDBFAD0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相對評價，以及股票市場如何運作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C657E-C384-4A69-95B3-88F5F569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股價 50 元，就比 500 元便宜嗎？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408AD-00E6-4D5C-A3C9-35321E2B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成長預期與要求報酬率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如何影響估計價值？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66866-4A74-4389-B179-7513355E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價格與價值，為什麼可能不同？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70812-A1AE-40A9-A703-5C71D2E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學會解釋價值的來源，也學會辨認估值的假設。</a:t>
            </a:r>
          </a:p>
        </p:txBody>
      </p:sp>
    </p:spTree>
    <p:extLst>
      <p:ext uri="{BB962C8B-B14F-4D97-AF65-F5344CB8AC3E}">
        <p14:creationId xmlns:p14="http://schemas.microsoft.com/office/powerpoint/2010/main" val="14823142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15B4D-5594-49E1-899B-B2B6DCEA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把第 6、7 章放在一起看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91271-B0C5-460A-8820-D549D059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同一家公司，兩種不同身分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52216-34E8-49CC-8138-144A8A92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EA29B-2122-4D16-B97A-BF8754F3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48175-FEA1-43F7-9B2C-B05ACD0D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A3C1B-C3B8-4869-B503-53C61F9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債券持有人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06D7B-43B2-45AF-A8C7-145BB0B7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我是債權人。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依契約收取利息與本金；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仍可能承擔違約風險。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B82E4-5C24-4596-8F5A-5ED1B8F0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普通股股東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A7C9C-FB0F-4F39-A5F6-29BB7EBF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我是企業的所有者之一。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可能取得股利與資本利得；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回報並不保證。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C9806-709F-42D0-8045-1BA5698C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共同的評價問題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AB3DA-E603-41AA-B787-719B0E95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未來可以收到多少？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何時收到？有多不確定？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再換算成今天的價值。</a:t>
            </a:r>
          </a:p>
        </p:txBody>
      </p:sp>
    </p:spTree>
    <p:extLst>
      <p:ext uri="{BB962C8B-B14F-4D97-AF65-F5344CB8AC3E}">
        <p14:creationId xmlns:p14="http://schemas.microsoft.com/office/powerpoint/2010/main" val="8999953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7773E-1352-4E53-8515-BECD2ABB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8｜Net Present Value and Other Investment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A6AE5-621D-4F45-86F5-72D54E9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一項投資，真的能增加價值嗎？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95B9D-3008-4913-A91D-5FE2DEF8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5F744-6211-4C46-B5B4-F2DE0C00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FCC64-D7E2-484A-85A8-65B3D66F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16D35-E468-4E5A-B338-2C32ECE8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AC8EA-18C6-46B3-9A6C-876A4054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咖啡店的問題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ABC59-4483-4EC4-B767-8F754E82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淨現值 NPV 與回收期間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4345D-7DEE-4841-9949-0650E3E3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內部報酬率 IRR 與修正 IRR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8000D-0D28-4AED-BAC8-CA7DC11D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平均會計報酬率、獲利指數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及各項指標的限制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DA1C7-3009-4024-A6A0-9283ABA2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買一台新設備，需要先付 10 萬元。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EB9B7-2471-4A74-95BA-2F0D9170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「兩年回本」就一定值得買嗎？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3AF8D-D477-447E-9121-7DED6EC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還要考慮後續現金流、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時間價值與適當的要求報酬率。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6FEFF-1E45-48AB-8874-5D42D65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NPV＝未來淨現金流的現值－初始投資。</a:t>
            </a:r>
          </a:p>
        </p:txBody>
      </p:sp>
    </p:spTree>
    <p:extLst>
      <p:ext uri="{BB962C8B-B14F-4D97-AF65-F5344CB8AC3E}">
        <p14:creationId xmlns:p14="http://schemas.microsoft.com/office/powerpoint/2010/main" val="5132546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F8721-97C0-4098-9CA9-CB0BE05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小例子｜淨現值 NPV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B5D68-A1ED-4BF9-8A26-5C80F275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用今天的價值，衡量新咖啡機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7B45E-0A08-45CA-87D8-F5BCD28A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919EF-F502-416B-8A27-EB196C21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0C795-AD9F-4A8D-B5DE-16B94DA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7C46E-F3F5-46C9-AB9E-A3E73012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現在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80B80-B408-4651-A3ED-528BC138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−100,000 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21F3A-1463-47AB-BE3B-127B2EF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買設備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E981E-531C-4FCD-9A6D-1EC4D3BF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383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第 1 年底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72A57-FA11-43CB-B3DB-4244F4C9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432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＋60,000 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56527-DC38-41F2-A20E-7CA48ACB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337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增額淨現金流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6BF82-B333-4F3B-B131-C331F86B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第 2 年底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83454-F17E-4D3D-B2BE-520AD872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＋60,000 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E6D9E-AEDB-40F3-80D6-608F224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增額淨現金流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A2823-B5FE-4CDF-A90D-BF8E16F7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假設折現率 10%，無其他現金流；金額為稅後淨額。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E7975-DCC2-416E-A2A8-7F22A31F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NPV ≈ ＋4,132 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93BEB-4CB2-4EB7-B63B-3A902D38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在這些假設下，投資可增加價值。</a:t>
            </a:r>
          </a:p>
        </p:txBody>
      </p:sp>
    </p:spTree>
    <p:extLst>
      <p:ext uri="{BB962C8B-B14F-4D97-AF65-F5344CB8AC3E}">
        <p14:creationId xmlns:p14="http://schemas.microsoft.com/office/powerpoint/2010/main" val="15019762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CCD58-7913-4F9E-927B-42E175A4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CHAPTER 9｜Making Capital Investment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4C5A3-70D2-429B-8913-E295124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做決策之前，先把現金流估對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AC978-874B-44AD-8B36-5D5DD356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95DDE-DF4A-47A8-AD04-BD3E59C9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C93C8-95E4-44BC-94C3-E12A78D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7DBF9-85AA-435C-A8F9-49872904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這一章會學到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F5BA0-83B9-408E-B4B2-2BCA0C3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還要檢查估計有多可靠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621FB-39D2-4C1A-8431-FA33918A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增額現金流：有做與沒做的差額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91C3D-77A4-4BCB-A356-9782F789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沉沒成本、機會成本與連帶影響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883D0-005D-4F64-B13B-E550078F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稅、折舊、營運資金與期末處分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2683C-FF68-47C8-A3B1-3712DAD5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建立專案預估報表與現金流。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1D17B-8F8F-4740-A7F1-46F1435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用情境與敏感度分析問：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銷量降低、成本提高，結果會怎樣？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AF26-97D8-46AA-8F9F-D6529B08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考慮延後、擴充等選擇與資金限制。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6366E-BDCF-48DE-BAB6-3DD17BE7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第 8 章：怎麼評估？第 9 章：哪些現金流該放進去？</a:t>
            </a:r>
          </a:p>
        </p:txBody>
      </p:sp>
    </p:spTree>
    <p:extLst>
      <p:ext uri="{BB962C8B-B14F-4D97-AF65-F5344CB8AC3E}">
        <p14:creationId xmlns:p14="http://schemas.microsoft.com/office/powerpoint/2010/main" val="8145122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4FF82-9E00-497C-89DC-16C8243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一起想想｜增額現金流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B6F24-F55E-4151-A2E0-4016412C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買新咖啡機時，哪些成本要算？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BA3AD-9305-4FEB-A29A-A2049A3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63BE9-B3E2-42BE-B681-05CDC572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344A-8F68-4386-92A2-04C88A9D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04485-4F0C-435F-80D8-784EDE89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已付的調查費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A8ED4-8A63-4FAD-AAA1-2BC4CBB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上個月已支付，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而且無法退回。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今天做不做投資，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會改變這筆支出嗎？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B240A-21A6-4A51-A2B5-DAF725ED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自有店面的租金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8AF4F-5355-4237-B765-800AE8F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店面是自己的，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原本可以租給別人。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自己使用時，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放棄了什麼收入？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A3022-69BF-4DF5-A96B-2C69D94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額外的原料庫存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4B658-1EB5-4855-8D88-E9A634D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新設備讓銷量增加，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需要先多備一批原料。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這筆錢在何時投入？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期末是否能收回？</a:t>
            </a:r>
          </a:p>
        </p:txBody>
      </p:sp>
    </p:spTree>
    <p:extLst>
      <p:ext uri="{BB962C8B-B14F-4D97-AF65-F5344CB8AC3E}">
        <p14:creationId xmlns:p14="http://schemas.microsoft.com/office/powerpoint/2010/main" val="2151745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A8407-1CF0-475C-9CFC-854215F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本學期的學習成果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C71F2-495C-49DC-B4FE-3664235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學完九章，你能完成三件事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A82CB-0637-4760-953E-F5CE22B6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3397D-D9C9-41DB-B114-322D1232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F1680-063C-4E2A-BE3D-BE744B49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3A1CF-C080-4F07-9FF5-1E8A4009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讀懂企業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28525-9ABE-427B-A311-FB627A7F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看懂財務報表，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解釋重要比率，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辨認獲利與現金的差別。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第 1–3 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A6181-FACF-4A97-B413-1C2968D2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比較價值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7CB06-9401-4E9D-91E5-45A03A3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比較不同時點的金額，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理解貸款與金融資產，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說明估值所需的假設。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第 4–7 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63A26-7638-4F87-BEB4-C2ED7F1E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說明決策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E2DBC-C149-4E3A-A5C9-CF1F37E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342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估計投資的增額現金流，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使用 NPV 等工具，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檢查結果對假設的依賴。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第 8–9 章</a:t>
            </a:r>
          </a:p>
        </p:txBody>
      </p:sp>
    </p:spTree>
    <p:extLst>
      <p:ext uri="{BB962C8B-B14F-4D97-AF65-F5344CB8AC3E}">
        <p14:creationId xmlns:p14="http://schemas.microsoft.com/office/powerpoint/2010/main" val="148948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38DB2-A6F4-45CF-AD92-5005B292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你的學習工具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E0678-7B5A-4EC9-9A52-958CCC77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學這門課，先練習把問題問清楚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99120-0A80-42FA-BB3E-4C2C4277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9B284-3E9E-48FD-9482-E8566E22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B91C2-FF88-4A21-B2D6-E1B1FB7F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956A7-B631-40F7-ADD0-892220D5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每次碰到一個財務問題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584D7-4BC4-4F7E-9742-D7CE9430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515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遇到公式時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921ED-9844-41FF-B680-24570F88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先畫出：什麼時候付錢、收錢？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F94B6-DFE2-4B27-B4E1-46A91AB4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再確認：站在誰的角度看現金流？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D43C7-8D77-4C71-AE9E-D618609A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62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最後問：結果依賴哪些假設？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0417C-96E0-421E-A111-AA2CE93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先用自己的話說明它在回答什麼。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39BED-D618-49CC-8E5E-51C94729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再代入數字，確認單位與時間一致。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715EF-79DB-48DF-9E5C-3D39D9AF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51530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可用計算機或試算表驗算，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也要能解釋結果。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E3159-BEA5-41F3-B502-9902F1D2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算出答案是第一步；說得出理由，才是財務判斷。</a:t>
            </a:r>
          </a:p>
        </p:txBody>
      </p:sp>
    </p:spTree>
    <p:extLst>
      <p:ext uri="{BB962C8B-B14F-4D97-AF65-F5344CB8AC3E}">
        <p14:creationId xmlns:p14="http://schemas.microsoft.com/office/powerpoint/2010/main" val="839748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E092E-1578-490E-B826-E7BBC5FB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帶著一個問題，開始這學期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8EA12-E7DF-4F02-9263-F57531BD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回到第一個問題：你會怎麼用這筆錢？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11580-C838-4097-936C-64DFBA1F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A5741-53D8-44D0-A15C-9220E4A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財務金融概論｜Essentials of Corporate Finance · 11e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B5766-E5EE-4651-81DE-3ABF3A25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18156-9C4B-4DBF-83E4-ED592D29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6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如果你有 10 萬元，</a:t>
            </a:r>
          </a:p>
          <a:p xmlns:a="http://schemas.openxmlformats.org/drawingml/2006/main">
            <a:pPr>
              <a:defRPr sz="46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6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會存下來、投資，</a:t>
            </a:r>
          </a:p>
          <a:p xmlns:a="http://schemas.openxmlformats.org/drawingml/2006/main">
            <a:pPr>
              <a:defRPr sz="46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650" b="1">
                <a:solidFill>
                  <a:srgbClr val="151515"/>
                </a:solidFill>
                <a:latin typeface="Noto Sans CJK TC"/>
                <a:ea typeface="Noto Sans CJK TC"/>
                <a:cs typeface="Noto Sans CJK TC"/>
              </a:rPr>
              <a:t>還是拿來開店？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592BC-3FB9-4204-91E8-0013D592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362B0"/>
                </a:solidFill>
                <a:latin typeface="Noto Sans CJK TC"/>
                <a:ea typeface="Noto Sans CJK TC"/>
                <a:cs typeface="Noto Sans CJK TC"/>
              </a:rPr>
              <a:t>先別急著選答案：你還需要知道哪些資訊？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0BDEE-D029-4BA6-A571-FF95056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55555"/>
                </a:solidFill>
                <a:latin typeface="Noto Sans CJK TC"/>
                <a:ea typeface="Noto Sans CJK TC"/>
                <a:cs typeface="Noto Sans CJK TC"/>
              </a:rPr>
              <a:t>教材：Ross, Westerfield &amp; Jordan, Essentials of Corporate Finance, 11e, Ch. 1–9.</a:t>
            </a:r>
          </a:p>
        </p:txBody>
      </p:sp>
    </p:spTree>
    <p:extLst>
      <p:ext uri="{BB962C8B-B14F-4D97-AF65-F5344CB8AC3E}">
        <p14:creationId xmlns:p14="http://schemas.microsoft.com/office/powerpoint/2010/main" val="516685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2026-09-06T13:29:06.4710000Z</dcterms:created>
  <dcterms:modified xsi:type="dcterms:W3CDTF">2026-09-06T13:29:06.4720000Z</dcterms:modified>
</coreProperties>
</file>