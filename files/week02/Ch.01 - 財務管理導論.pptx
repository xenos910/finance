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5240000" cy="85725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88" autoAdjust="0"/>
  </p:normalViewPr>
  <p:slideViewPr>
    <p:cSldViewPr snapToGrid="0">
      <p:cViewPr varScale="1">
        <p:scale>
          <a:sx n="108" d="100"/>
          <a:sy n="108" d="100"/>
        </p:scale>
        <p:origin x="3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建議用時：2 分鐘（全課第 31–33 分鐘）</a:t>
            </a:r>
          </a:p>
          <a:p>
            <a:r>
              <a:t>先釐清「無限責任」不是債務數額無上限，而是清償責任不只限於投入事業的資金。獨資適合某些小規模經營，但成長時籌資與責任問題會更突出。法律細節以所在地制度為準。</a:t>
            </a:r>
          </a:p>
          <a:p>
            <a:endParaRPr/>
          </a:p>
          <a:p>
            <a:r>
              <a:t>[Sources]</a:t>
            </a:r>
          </a:p>
          <a:p>
            <a:r>
              <a:t>Ross, Westerfield &amp; Jordan (2023), Essentials of Corporate Finance, 11th ed., Chapter 1, pp.1–23. 1.3　Sole Proprietorship</a:t>
            </a:r>
          </a:p>
          <a:p>
            <a:r>
              <a:t>補充參考：Ch01 附件 2025R 教師手冊、出版社投影片及兩份補充授課投影片。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建議用時：2 分鐘（全課第 41–43 分鐘）</a:t>
            </a:r>
          </a:p>
          <a:p>
            <a:r>
              <a:t>LLC 補充依 IRS：兩位以上成員的美國境內 LLC 預設視為 partnership；單一成員通常為 disregarded entity，但可選擇公司課稅。比課本「不能太像公司」更精確。Benefit corporation 依教材介紹，不把它與私人 B Corp 認證等同，也不引用過時州數。</a:t>
            </a:r>
          </a:p>
          <a:p>
            <a:r>
              <a:t>https://www.irs.gov/businesses/small-businesses-self-employed/limited-liability-company-llc</a:t>
            </a:r>
          </a:p>
          <a:p>
            <a:endParaRPr/>
          </a:p>
          <a:p>
            <a:r>
              <a:t>[Sources]</a:t>
            </a:r>
          </a:p>
          <a:p>
            <a:r>
              <a:t>Ross, Westerfield &amp; Jordan (2023), Essentials of Corporate Finance, 11th ed., Chapter 1, pp.1–23. 1.3　補充組織概念</a:t>
            </a:r>
          </a:p>
          <a:p>
            <a:r>
              <a:t>補充參考：Ch01 附件 2025R 教師手冊、出版社投影片及兩份補充授課投影片。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建議用時：6 分鐘（全課第 43–49 分鐘）</a:t>
            </a:r>
          </a:p>
          <a:p>
            <a:r>
              <a:t>課本章末案例 pp.23 改寫。先 1 分鐘讀情境，再 2 分鐘兩人討論，最後 2 分鐘分享。問學生：擴張需要多少資金？願意讓出控制權嗎？責任風險是什麼？不要只因生意好就直接選上市。餐廳通路不掛品牌的設定可用來討論策略，但此題主軸為組織型態。</a:t>
            </a:r>
          </a:p>
          <a:p>
            <a:endParaRPr/>
          </a:p>
          <a:p>
            <a:r>
              <a:t>[Sources]</a:t>
            </a:r>
          </a:p>
          <a:p>
            <a:r>
              <a:t>Ross, Westerfield &amp; Jordan (2023), Essentials of Corporate Finance, 11th ed., Chapter 1, pp.1–23. 1.3　Chapter Case: The McGee Cake Company</a:t>
            </a:r>
          </a:p>
          <a:p>
            <a:r>
              <a:t>補充參考：Ch01 附件 2025R 教師手冊、出版社投影片及兩份補充授課投影片。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參考答案：A</a:t>
            </a:r>
            <a:r>
              <a:rPr dirty="0"/>
              <a:t> 初級市場，公司收到5萬元；B 次級市場，你收到6萬元，公司不因這筆轉售直接收到款項；C </a:t>
            </a:r>
            <a:r>
              <a:rPr dirty="0" err="1"/>
              <a:t>不會自動增加公司現金；D</a:t>
            </a:r>
            <a:r>
              <a:rPr dirty="0"/>
              <a:t> </a:t>
            </a:r>
            <a:r>
              <a:rPr dirty="0" err="1"/>
              <a:t>流動性可能提高投資人參與意願並影響要求報酬，但不保證一定能獲利賣出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vslpOUDaHo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41A0D09-752E-4019-8AD5-CB474F8628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333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rPr>
              <a:t>CHAPTER 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B2638F-EDCC-4576-963C-3EF6CC246759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4B6275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1CB87B-28B0-4C15-9AB1-FF2C2D58618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C947C4-8EFF-460B-ADA6-78BBF97C9F7B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38684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68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68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財務管理導論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854907-CE7A-4F62-8D3D-FF63687BAD90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3763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600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600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Introduction to Financial Management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4DAE81-4F64-4566-8D1E-D3AFA0F76783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13792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rPr>
              <a:t>企業如何投資、籌資，並做出有價值的決策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9A3ED2-D069-47ED-AFFE-281E9A5F8409}"/>
              </a:ext>
            </a:extLst>
          </p:cNvPr>
          <p:cNvSpPr>
            <a:spLocks noGrp="1"/>
          </p:cNvSpPr>
          <p:nvPr/>
        </p:nvSpPr>
        <p:spPr>
          <a:xfrm>
            <a:off x="723900" y="6848475"/>
            <a:ext cx="13620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Stephen A. Ross · Randolph W. Westerfield · Bradford D. Jordan</a:t>
            </a:r>
          </a:p>
          <a:p>
            <a:pPr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Essentials of Corporate Finance, 11th Edition</a:t>
            </a:r>
          </a:p>
        </p:txBody>
      </p:sp>
    </p:spTree>
    <p:extLst>
      <p:ext uri="{BB962C8B-B14F-4D97-AF65-F5344CB8AC3E}">
        <p14:creationId xmlns:p14="http://schemas.microsoft.com/office/powerpoint/2010/main" val="7163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EDE233A-9BC0-438C-AE62-31185C11B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8B0268-BC09-44C9-98F1-CA69054EE797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學習目標與課程安排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07DB34-6103-41FF-9255-D4C02A77CDA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本章學習地圖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7D7EF2-04AE-4992-9FB7-90DA55921177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6D7E36-FF01-4A28-82E8-0E8343076ABD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85800" y="2009775"/>
          <a:ext cx="13868399" cy="5753103"/>
        </p:xfrm>
        <a:graphic>
          <a:graphicData uri="http://schemas.openxmlformats.org/drawingml/2006/table">
            <a:tbl>
              <a:tblPr/>
              <a:tblGrid>
                <a:gridCol w="2700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2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章節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核心問題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你將能夠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1.1 財務領域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財務與我有什麼關係？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辨認五大領域與生活應用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1.2 財務管理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企業如何用錢與找錢？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區分三類決策與財務主管職責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1.3 組織型態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獨資、合夥、公司有何不同？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比較責任、籌資與所有權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1.4 管理目標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什麼是好的財務決策？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說明股東權益價值的意義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1.5 代理問題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管理者與股東想法相同嗎？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辨認利益衝突及治理機制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1.6 金融市場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資金如何流入與流出企業？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分辨初級、次級與交易機制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8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自編教學情境，單位：新臺幣萬元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開一家咖啡店，要先回答什麼？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DC076A-6810-49A8-A5FB-395B5FE1F23D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資金需求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4919B9-8D4C-459F-8393-EBDE022F7388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設備與裝潢需要 70 萬元。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865250-1BEF-4527-BABC-84F567D8023C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原料、現金備用等需要 30 萬元。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466C2D-5000-4FFD-8013-396F30389F30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你與夥伴能投入 60 萬元，尚缺 40 萬元。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C82551-0EC4-4DD2-8EAD-A6AF59E38A25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先想三個問題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164D74-1205-4220-B0F3-EE02C0EE39F3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這家店及設備值得投入嗎？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419D84-F836-4650-B460-9E73F081BC81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缺少的資金要借款，還是找股東？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E70C40-92B8-4788-AA94-AB0BED4E76A1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開店後，如何收款、付款及補貨？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F690ED-DEF1-434D-B23B-1AFEA9C3DF45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財務管理從具體的經營問題出發。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8ED27E5-6AD1-44A5-9BDB-04738B9CCF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7E564C-94BC-4424-974B-A1757DE9059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1.1　Finance: A Quick Look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F0BC0D-00A9-4109-9677-0E2D62E0424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財務的五大領域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752AE8-0311-4CF5-8D6D-DCE2C289ED6A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7B3804-6604-4BE6-AAF3-3F51AB709507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2700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領域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英文名稱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主要研究問題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公司理財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Corporate Finance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企業投資、籌資與資金管理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Investments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資產價值、報酬、風險及投資組合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金融機構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Financial Institutions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銀行、保險與證券等金融服務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國際財務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International Finance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跨國活動中的匯率與政治風險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金融科技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Fintech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科技如何提供或改變金融服務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51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CC0223A-79C5-40CC-91BC-E6938BD9AF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ED9B11-123E-4BFA-BB28-C826A9F12F9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1.1　Investments and Financial Institutions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CB73F1-4FCC-4AF0-9FFA-F672CDFA049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投資學與金融機構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71F68A-3543-4974-B349-AF0631E5E49B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7B1A1D-3907-428A-9B67-9316DEF944B3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4EB2B4-0B9C-49EE-9CDE-6E0BBB04DFCE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投資學 Investments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111FC1-F6BF-4960-A3EB-5E508D2A20AE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評估股票、債券等金融資產的價值。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1FA920-778F-4FDE-A78D-BFEA7ADF9E38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比較報酬 Return 與風險 Risk。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3867D3-F73D-40C7-8E6D-CE0FF799F34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決定資產配置 Asset Allocation 與投資組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合。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E9416E-EA6B-434A-99D1-4BDFDF4CBF4C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金融機構 Financial Institutions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CC6A8F-18BB-4A98-B2D9-8B02628A38AC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銀行評估借款人是否具備還款能力。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85E354-99F5-4EC6-AED3-F64B12F02CBF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保險公司評估風險並設定保費。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97E097-21EF-4359-A4FF-6EB8C55F4315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證券商協助交易與承銷，連結企業和投資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人。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86B413-2B38-41B5-809F-4053BCE4CFDB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金融工作需要分析資料，也需要解釋判斷。</a:t>
            </a:r>
          </a:p>
        </p:txBody>
      </p:sp>
    </p:spTree>
    <p:extLst>
      <p:ext uri="{BB962C8B-B14F-4D97-AF65-F5344CB8AC3E}">
        <p14:creationId xmlns:p14="http://schemas.microsoft.com/office/powerpoint/2010/main" val="51273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1999587-EA36-4F6D-817C-B2988D69C6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505306-DE04-47F9-8D9E-C7F6ABA4ACFB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1.1　International Finance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C08471-7700-4E26-A3CC-0D3E9B44CBE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國際財務與日常決策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DFD871-5A88-4C75-95DD-99722580891A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C40D39-D36A-4691-B6B2-3BF3DBC146D1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4B9600-3F3A-4966-8544-26853BC8052A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跨國交易的變數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F08977-3489-4403-A1A6-B64C3686E87D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匯率 Exchange Rate 影響外幣換算金額。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4D36F9-877E-48C1-BF7B-65B5A91D4DF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政治風險 Political Risk 可能影響跨國營運。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4C6802-4062-40CD-B0A2-7DD570B018AF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跨國企業、投資人與銀行都會面對這些問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題。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1B28F8-3ED9-448E-A5B9-3E14204C2BAC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咖啡店的例子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86385A-972A-4EF6-94B5-23C52046E20B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以美元進口咖啡豆，本國貨幣貶值可能提高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成本。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A8161F-FA81-4588-B035-6C04EF6E7E5A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海外供應地的政策變動可能影響交貨。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7FA3B4-4AC3-464C-9551-ACE037C2FB2C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評估訂單時，也要考慮付款幣別與時間。</a:t>
            </a:r>
          </a:p>
        </p:txBody>
      </p:sp>
    </p:spTree>
    <p:extLst>
      <p:ext uri="{BB962C8B-B14F-4D97-AF65-F5344CB8AC3E}">
        <p14:creationId xmlns:p14="http://schemas.microsoft.com/office/powerpoint/2010/main" val="28400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24C9844-44C6-410B-BE61-89A7745DA1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DA9FD0-D987-4845-90A4-D90E1C62145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1.1　Fintech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1E9887-F12C-4B78-9633-1DFA7837377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金融科技的應用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A94A1C-2BA4-47AA-8A69-DCC8BD7A0B7E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B03434-2CA1-4C11-A47A-50402BD75C9D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306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應用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英文關鍵詞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如何改變金融活動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支付與籌資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Mobile Payments / Crowdfunding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行動轉帳、群眾募資與線上借貸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分期付款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Buy Now, Pay Later (BNPL)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購買時取得融資，之後分期償還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區塊鏈與加密資產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Blockchain / Cryptocurrency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以數位技術記錄交易或移轉資產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保險科技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Insurtech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線上投保、核保及理賠流程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理財與預算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Robo-advising / Budgeting Apps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演算法建議配置，記錄收入與支出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FD623BD7-1FEC-43CD-853C-32150F8FD435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科技可提高便利性，費用、契約與資訊安全仍需評估。</a:t>
            </a:r>
          </a:p>
        </p:txBody>
      </p:sp>
    </p:spTree>
    <p:extLst>
      <p:ext uri="{BB962C8B-B14F-4D97-AF65-F5344CB8AC3E}">
        <p14:creationId xmlns:p14="http://schemas.microsoft.com/office/powerpoint/2010/main" val="155182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ABC823E-F0E0-4328-8A30-DC874A9B39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572F62-32FC-4A6C-95EB-0410C634D8B9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1.1　Why Study Finance?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B2E841-645F-402A-953D-59B3D6D7447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為什麼每個商管學生都要懂財務？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43B49C-37CD-4D43-83A0-CFA923EA40E5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E24FF9-4BB8-4A27-950F-A84BBCE435D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4418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領域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財務如何參與決策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行銷 Marketing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比較廣告成本、銷售預測與產品收益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會計 Accounting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提供財務資訊，協助分析現金流與績效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 Management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判斷策略所需資金及對價值的影響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科技 Technology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設計支付、授信、保險與理財服務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個人財務 Personal Finance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規劃預算、借款、投資與退休資金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51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6777E27-8805-4EB0-B5C3-2E4D93DBE4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DB120-5593-4618-B797-21D873D7443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Financial Management Decisions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23BFDB-8182-48D0-B20E-85215A15EF0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企業財務管理的三類決策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806470-F0BD-4F14-A1BC-A97AC9AF91F7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45FDCE-6576-4373-B2D0-F8336F21B01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8C4B58-8C7C-4A6E-9495-0D48F716AE79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資本預算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CC76DC-7817-48AE-83E3-AB0D1931DE05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42481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Capital Budgeting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4C1470-E835-4640-B122-6EC6FDF3E6A0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42481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規劃與管理長期投資。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選擇產品、店面與設備，評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估未來現金流。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B1AF57-F5BC-4741-8FA4-9E2C64F5E268}"/>
              </a:ext>
            </a:extLst>
          </p:cNvPr>
          <p:cNvSpPr>
            <a:spLocks noGrp="1"/>
          </p:cNvSpPr>
          <p:nvPr/>
        </p:nvSpPr>
        <p:spPr>
          <a:xfrm>
            <a:off x="5495925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資本結構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B72E27-631D-4425-A65B-5108D97CA78A}"/>
              </a:ext>
            </a:extLst>
          </p:cNvPr>
          <p:cNvSpPr>
            <a:spLocks noGrp="1"/>
          </p:cNvSpPr>
          <p:nvPr/>
        </p:nvSpPr>
        <p:spPr>
          <a:xfrm>
            <a:off x="5495925" y="2809875"/>
            <a:ext cx="42481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Capital Structure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64F57D-1E96-4077-8896-252ECE543B80}"/>
              </a:ext>
            </a:extLst>
          </p:cNvPr>
          <p:cNvSpPr>
            <a:spLocks noGrp="1"/>
          </p:cNvSpPr>
          <p:nvPr/>
        </p:nvSpPr>
        <p:spPr>
          <a:xfrm>
            <a:off x="5495925" y="3800475"/>
            <a:ext cx="42481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決定長期負債與股東權益的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組合。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選擇資金來源、融資方式與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條件。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1C1D27-8774-4FEF-8D90-066AD3459148}"/>
              </a:ext>
            </a:extLst>
          </p:cNvPr>
          <p:cNvSpPr>
            <a:spLocks noGrp="1"/>
          </p:cNvSpPr>
          <p:nvPr/>
        </p:nvSpPr>
        <p:spPr>
          <a:xfrm>
            <a:off x="10306050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營運資金管理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4044A1-B871-4633-9FB6-72F1600385A2}"/>
              </a:ext>
            </a:extLst>
          </p:cNvPr>
          <p:cNvSpPr>
            <a:spLocks noGrp="1"/>
          </p:cNvSpPr>
          <p:nvPr/>
        </p:nvSpPr>
        <p:spPr>
          <a:xfrm>
            <a:off x="10306050" y="2809875"/>
            <a:ext cx="42481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Working Capital Management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4A930C-3B99-4F03-A276-85B0DCB55F61}"/>
              </a:ext>
            </a:extLst>
          </p:cNvPr>
          <p:cNvSpPr>
            <a:spLocks noGrp="1"/>
          </p:cNvSpPr>
          <p:nvPr/>
        </p:nvSpPr>
        <p:spPr>
          <a:xfrm>
            <a:off x="10306050" y="3800475"/>
            <a:ext cx="42481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管理短期資產與短期負債。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安排收款、付款、存貨與短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期借款。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676836-82F1-488B-A847-A3928E6C0322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買咖啡機、找資金、付原料款，分別對應這三類問題。</a:t>
            </a:r>
          </a:p>
        </p:txBody>
      </p:sp>
    </p:spTree>
    <p:extLst>
      <p:ext uri="{BB962C8B-B14F-4D97-AF65-F5344CB8AC3E}">
        <p14:creationId xmlns:p14="http://schemas.microsoft.com/office/powerpoint/2010/main" val="785137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62D1AAE-BCF9-4C59-BF9B-956DC29BD7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912DEE-E1AD-41AA-A4DF-E802B3643F7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Capital Budgeting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08FB3C-4FBD-46BD-A5BC-6E8FA4093B9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資本預算關心未來現金流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88F62C-B886-468A-8EA6-39E84A128243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84DF8C-673C-439C-8AE9-2B85E17A773B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B441F0-79AB-451A-A1DF-9BC2B9EE14C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金額 Size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61D5C6-F990-404C-8C8C-0A123C2D8B44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248150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要先投入多少錢？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未來可增加多少淨現金？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營收增加仍須扣除相關支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出。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8471F0-F7F7-4BC0-BEAA-BE2D2BDA9CB6}"/>
              </a:ext>
            </a:extLst>
          </p:cNvPr>
          <p:cNvSpPr>
            <a:spLocks noGrp="1"/>
          </p:cNvSpPr>
          <p:nvPr/>
        </p:nvSpPr>
        <p:spPr>
          <a:xfrm>
            <a:off x="5495925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時間 Timing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9242AF-A421-4146-A52C-D7EF74415984}"/>
              </a:ext>
            </a:extLst>
          </p:cNvPr>
          <p:cNvSpPr>
            <a:spLocks noGrp="1"/>
          </p:cNvSpPr>
          <p:nvPr/>
        </p:nvSpPr>
        <p:spPr>
          <a:xfrm>
            <a:off x="5495925" y="3257550"/>
            <a:ext cx="4248150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什麼時候投入？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什麼時候收到錢？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同樣金額，早收到與晚收到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的價值不同。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EDD076-9EA7-400A-AC39-5C294C5F4D99}"/>
              </a:ext>
            </a:extLst>
          </p:cNvPr>
          <p:cNvSpPr>
            <a:spLocks noGrp="1"/>
          </p:cNvSpPr>
          <p:nvPr/>
        </p:nvSpPr>
        <p:spPr>
          <a:xfrm>
            <a:off x="10306050" y="2171700"/>
            <a:ext cx="4248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風險 Risk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1FC6E9-312B-4709-9BD8-D193796C249F}"/>
              </a:ext>
            </a:extLst>
          </p:cNvPr>
          <p:cNvSpPr>
            <a:spLocks noGrp="1"/>
          </p:cNvSpPr>
          <p:nvPr/>
        </p:nvSpPr>
        <p:spPr>
          <a:xfrm>
            <a:off x="10306050" y="3257550"/>
            <a:ext cx="4248150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預測有多少不確定？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需求或成本改變時，結果如</a:t>
            </a: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何？</a:t>
            </a:r>
          </a:p>
          <a:p>
            <a:endParaRPr sz="2475" b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預期現金流並非保證。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E44D14-9782-48D5-A3B0-0198298E530F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值得投資，取決於未來現金流的價值是否超過投入成本。</a:t>
            </a:r>
          </a:p>
        </p:txBody>
      </p:sp>
    </p:spTree>
    <p:extLst>
      <p:ext uri="{BB962C8B-B14F-4D97-AF65-F5344CB8AC3E}">
        <p14:creationId xmlns:p14="http://schemas.microsoft.com/office/powerpoint/2010/main" val="82309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3BEC230-D03D-4DE9-9219-CC3FA2E1FE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705496-FB21-47E3-98B0-AC1CB76FB6B5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Capital Structure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7BFD52-381F-4662-8BFC-132C249094C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借款與股東出資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FA7764-44F9-40FB-B0E5-E4DE9867B8A3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DE38C6-3D12-4255-AE56-93D9C7546186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1" cy="5372100"/>
        </p:xfrm>
        <a:graphic>
          <a:graphicData uri="http://schemas.openxmlformats.org/drawingml/2006/table">
            <a:tbl>
              <a:tblPr/>
              <a:tblGrid>
                <a:gridCol w="294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比較項目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 Debt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股東權益 Equity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資金提供者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債權人 Creditor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所有權人 Owner / Shareholder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回報與權利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依契約收取利息與本金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享有剩餘利益與相應所有權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支付義務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通常有約定付款時程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一般股利不等同固定利息義務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重要取捨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還款壓力、利息與契約限制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股權稀釋、控制權與投資人要求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咖啡店例子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向銀行借入缺少的 40 萬元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向新股東募集缺少的 40 萬元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69F9BA7-38B7-4486-AFCA-C8DB029642FA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資本結構是融資組合的選擇，股東資金也有成本。</a:t>
            </a:r>
          </a:p>
        </p:txBody>
      </p:sp>
    </p:spTree>
    <p:extLst>
      <p:ext uri="{BB962C8B-B14F-4D97-AF65-F5344CB8AC3E}">
        <p14:creationId xmlns:p14="http://schemas.microsoft.com/office/powerpoint/2010/main" val="117226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29522AA-9989-4D5F-8330-756C172083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E3B5D4-25ED-4585-A9E6-BB95DDB5F1B6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Working Capital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E657DE-4E07-4B2C-87BD-5097DCB8642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營運資金管理與現金周轉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8A8CF6-EA25-491F-8659-A1B2E864B40D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30109B-F4C6-48BA-8978-4840BB6F2A0F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617C4C-39AC-41EE-BDF8-35C66B075A59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每天需要管理的項目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D93D3-0A49-4F3D-BEA2-795D29D3F8D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 Cash：支付薪資、租金與原料。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8A5171-3305-451A-B903-5497851C47FA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 Inventory：備貨量及資金占用。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8D03DD-7C74-4B44-BAB7-E34A04E5609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應收款與應付款：客戶何時付、供應商何時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收。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E5A29B-44EC-4E15-B390-0D1D58DC77C5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有訂單，也可能缺現金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0A8C24-F229-4C86-AAB7-BA3ADEFF9CAB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客戶 30 天後付款，原料今天就要先付。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A0BE2B-23FE-49E1-9AAC-A76D964D0D82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銷售增加可能需要先增加存貨與員工。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19A964-2953-4C50-BB95-95FEDC495EEB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短期缺口可能需要備用現金或短期融資。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B8752E-4DBE-4393-93BF-7EF85AB51741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成長會帶來資金需求，收款與付款的時間差很重要。</a:t>
            </a:r>
          </a:p>
        </p:txBody>
      </p:sp>
    </p:spTree>
    <p:extLst>
      <p:ext uri="{BB962C8B-B14F-4D97-AF65-F5344CB8AC3E}">
        <p14:creationId xmlns:p14="http://schemas.microsoft.com/office/powerpoint/2010/main" val="13836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C72C6E0-0F5C-4C2C-BECE-E9B6D6247B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3302CB-DF00-40F8-BE9C-A2F2EC71614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概念應用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4E2D3C-F005-42C3-ACF3-2B8698BC891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課堂練習：這是哪一種決策？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AFDBA5-5708-4728-BA41-7465F08E6C9D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722483-D9AC-4808-8C9C-D2D86C017A0B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9EC4F0-A813-46BB-986E-1952DF141356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86F4CD-1625-4CED-B6EE-2772E1B43627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6BD185-7B04-4602-8823-F1B560FED965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決定是否買一台可使用五年的烘豆機。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231E0A-C58D-4D99-8949-5F72A48F68BA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4EDBB9-F024-4122-8905-2728C817759A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4A846F-73DF-4089-BD5C-0665B0BF0440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決定以銀行借款或新股東出資支應擴店。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1A5C41-6CE5-4C32-8867-F060865E2F1F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EA43A1-8B37-48F7-9E42-46AEE0C9F769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61CD8B-0AD2-4E5B-B932-A291789DCFDE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調整原料存貨量，避免月底付不出薪資。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2F3876-EC19-4290-894F-F2A0A726025A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CFAD51-9622-4BE9-BE59-4D6EB7913899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84B822-1677-4070-B8A6-F4E7C22A2BB3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讓企業客戶月結，同時安排短期借款。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EF4AA9-44E8-413F-A9B9-DEBD6F12AD48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請說明決策在處理「投資、長期融資」還是「日常周轉」。</a:t>
            </a:r>
          </a:p>
        </p:txBody>
      </p:sp>
    </p:spTree>
    <p:extLst>
      <p:ext uri="{BB962C8B-B14F-4D97-AF65-F5344CB8AC3E}">
        <p14:creationId xmlns:p14="http://schemas.microsoft.com/office/powerpoint/2010/main" val="195541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C14EC28-964A-4D37-B3D3-A35027D4DE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DFA9D9-6C76-4333-814E-6120D09464D9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練習解答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D665AA-E797-4BCB-BA5E-C4CFAAD9F18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三類決策的判斷依據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783A56-4C1E-40FE-8186-AA35BE419B4E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56B9F4-6633-4238-B3CB-D4B330A098A9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85800" y="2009775"/>
          <a:ext cx="13868401" cy="5372101"/>
        </p:xfrm>
        <a:graphic>
          <a:graphicData uri="http://schemas.openxmlformats.org/drawingml/2006/table">
            <a:tbl>
              <a:tblPr/>
              <a:tblGrid>
                <a:gridCol w="392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情境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主要分類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判斷依據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 購買烘豆機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資本預算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評估長期資產與未來現金流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 擴店資金組合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資本結構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選擇長期負債或股東權益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 調整原料存貨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營運資金管理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安排短期資產與支付能力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 月結及短期借款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營運資金管理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管理收付款時間差與短期缺口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45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3D44BFF-5B50-4CB1-AF07-D3526C3882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866A77-9BCE-4496-B310-A77F88A16E8E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The Financial Manager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6B76D5-A371-43BA-9C84-56B29E28647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財務主管在公司中的位置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D23AA9-09E4-4CF8-9849-D8DE4314EB3E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D7EEF3-CBD5-4836-8167-4BAE954F7702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8563" y="1895475"/>
            <a:ext cx="6419324" cy="5810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7B9ACEA-5BD1-487F-A6E4-2ED5725D5A76}"/>
              </a:ext>
            </a:extLst>
          </p:cNvPr>
          <p:cNvSpPr>
            <a:spLocks noGrp="1"/>
          </p:cNvSpPr>
          <p:nvPr/>
        </p:nvSpPr>
        <p:spPr>
          <a:xfrm>
            <a:off x="9525000" y="2057400"/>
            <a:ext cx="50292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主要角色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1CD6AA-88DD-4C70-9809-9B116867B749}"/>
              </a:ext>
            </a:extLst>
          </p:cNvPr>
          <p:cNvSpPr>
            <a:spLocks noGrp="1"/>
          </p:cNvSpPr>
          <p:nvPr/>
        </p:nvSpPr>
        <p:spPr>
          <a:xfrm>
            <a:off x="9525000" y="2886075"/>
            <a:ext cx="50292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董事會 Board of Directors 監督公</a:t>
            </a:r>
          </a:p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CB5140-B487-4D3E-9B7D-7B30C83E089A}"/>
              </a:ext>
            </a:extLst>
          </p:cNvPr>
          <p:cNvSpPr>
            <a:spLocks noGrp="1"/>
          </p:cNvSpPr>
          <p:nvPr/>
        </p:nvSpPr>
        <p:spPr>
          <a:xfrm>
            <a:off x="9525000" y="4067175"/>
            <a:ext cx="50292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CEO 負責整體經營，CFO 統籌財務。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2D8EEE-0CD7-465E-B26A-F13F529F4E02}"/>
              </a:ext>
            </a:extLst>
          </p:cNvPr>
          <p:cNvSpPr>
            <a:spLocks noGrp="1"/>
          </p:cNvSpPr>
          <p:nvPr/>
        </p:nvSpPr>
        <p:spPr>
          <a:xfrm>
            <a:off x="9525000" y="5248275"/>
            <a:ext cx="50292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Treasurer 與 Controller 分工合作。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BB529E-77AA-4072-B98E-AF872AA25259}"/>
              </a:ext>
            </a:extLst>
          </p:cNvPr>
          <p:cNvSpPr>
            <a:spLocks noGrp="1"/>
          </p:cNvSpPr>
          <p:nvPr/>
        </p:nvSpPr>
        <p:spPr>
          <a:xfrm>
            <a:off x="9525000" y="6429375"/>
            <a:ext cx="50292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本圖為簡化範例，各公司組織可能不</a:t>
            </a:r>
          </a:p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162ED2-D944-4382-B401-3070C4225A49}"/>
              </a:ext>
            </a:extLst>
          </p:cNvPr>
          <p:cNvSpPr txBox="1"/>
          <p:nvPr/>
        </p:nvSpPr>
        <p:spPr>
          <a:xfrm>
            <a:off x="5903651" y="208597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董事會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F06189A-932C-7A4D-898A-03F9459B5D10}"/>
              </a:ext>
            </a:extLst>
          </p:cNvPr>
          <p:cNvSpPr txBox="1"/>
          <p:nvPr/>
        </p:nvSpPr>
        <p:spPr>
          <a:xfrm>
            <a:off x="5903651" y="263979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董事長</a:t>
            </a:r>
            <a:br>
              <a:rPr lang="en-US" altLang="zh-TW" sz="1400" b="1" dirty="0"/>
            </a:br>
            <a:r>
              <a:rPr lang="zh-TW" altLang="en-US" sz="1400" b="1" dirty="0"/>
              <a:t>執行長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845975E-0DA4-7EDC-1701-9D478F3F6A47}"/>
              </a:ext>
            </a:extLst>
          </p:cNvPr>
          <p:cNvSpPr txBox="1"/>
          <p:nvPr/>
        </p:nvSpPr>
        <p:spPr>
          <a:xfrm>
            <a:off x="5903650" y="331023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總經理</a:t>
            </a:r>
            <a:br>
              <a:rPr lang="en-US" altLang="zh-TW" sz="1400" b="1" dirty="0"/>
            </a:br>
            <a:r>
              <a:rPr lang="zh-TW" altLang="en-US" sz="1400" b="1" dirty="0"/>
              <a:t>營運長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A587C0-9F93-8477-0CF2-D4D79FEB60FD}"/>
              </a:ext>
            </a:extLst>
          </p:cNvPr>
          <p:cNvSpPr txBox="1"/>
          <p:nvPr/>
        </p:nvSpPr>
        <p:spPr>
          <a:xfrm>
            <a:off x="2984378" y="42862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行銷副總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4EB096E-EDFD-B290-600F-4E81151BDF6C}"/>
              </a:ext>
            </a:extLst>
          </p:cNvPr>
          <p:cNvSpPr txBox="1"/>
          <p:nvPr/>
        </p:nvSpPr>
        <p:spPr>
          <a:xfrm>
            <a:off x="5452244" y="42862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財務副總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BD2CF1-8B9B-A2A9-7366-5EC0F531279D}"/>
              </a:ext>
            </a:extLst>
          </p:cNvPr>
          <p:cNvSpPr txBox="1"/>
          <p:nvPr/>
        </p:nvSpPr>
        <p:spPr>
          <a:xfrm>
            <a:off x="7920110" y="42862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生產副總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A70EE33-FB96-6D66-FB54-5450CAFFB06A}"/>
              </a:ext>
            </a:extLst>
          </p:cNvPr>
          <p:cNvSpPr txBox="1"/>
          <p:nvPr/>
        </p:nvSpPr>
        <p:spPr>
          <a:xfrm>
            <a:off x="3678064" y="521315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財務主任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4DDE797-1EBB-490F-7509-ADC4312ABBDE}"/>
              </a:ext>
            </a:extLst>
          </p:cNvPr>
          <p:cNvSpPr txBox="1"/>
          <p:nvPr/>
        </p:nvSpPr>
        <p:spPr>
          <a:xfrm>
            <a:off x="7017299" y="521315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1" dirty="0"/>
              <a:t>主計主任</a:t>
            </a:r>
          </a:p>
        </p:txBody>
      </p:sp>
    </p:spTree>
    <p:extLst>
      <p:ext uri="{BB962C8B-B14F-4D97-AF65-F5344CB8AC3E}">
        <p14:creationId xmlns:p14="http://schemas.microsoft.com/office/powerpoint/2010/main" val="1373397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CF35D3E-852E-4638-B95A-C7A7BD60EA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3FBDBA-9100-462C-A463-4BDD31125B42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1.2　財務長 Chief Financial Officer (CFO)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90D40D-9B71-42DE-9766-F8A3AB448B0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Treasurer 與 Controller 的分工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4E654A-F079-48BA-AEB9-990DBD70EC20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C3987E-DBED-470E-A657-5EB69107304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3572889558"/>
              </p:ext>
            </p:extLst>
          </p:nvPr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380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角色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主要職責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課程連結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財務主管 Treasurer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現金、信用、財務規劃、資本支出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本課投資、籌資與資金管理的重點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主計主管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成本會計、財務會計、稅務及管理資訊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提供財務報表與內部管理資訊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財務長 CFO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統籌上述職能，參與公司整體決策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將財務資訊與經營策略連結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51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DD830FC-4692-4E1E-87D2-E5B73438FC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5F3E82-F75B-4740-ACA7-F544885B107D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Forms of Business Organization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33F76B-534B-456D-83B6-9A31EE198AC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企業組織型態的比較角度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0D0897-1316-47DC-8F8E-2F88F6C659F2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EF75AD-C02A-4BDF-B732-EA94D789BEFC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7FFB3C-146F-423A-8ED4-316C872D0072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1006B6-3A4E-410F-8887-FC0ED4BBC336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責任 Liability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8F2184-A707-42C6-B922-4D2683312D45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事業欠債時，所有權人需要承擔多少責任？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91CC5-214E-481D-9F7B-9CBE5BF9DD83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F41647-439B-447C-B985-6C9FF7ACF8D7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籌資能力 Financing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D9F695-CEC6-4450-A5B0-6AB2F3BEE357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能吸引多少資金與多少投資人？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AF8EC6-EB41-42D7-99E9-DF51A6B63457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347130-982A-4F4A-93CE-7A5F36255CE3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延續與移轉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Continuity / Transferability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9EDB7E-1F3D-4949-B0C7-5BA61635183D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所有權人退出時，事業能否持續？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191CB-90BE-41CF-9B61-33FF21E5C3AD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3609EC-FAA9-449F-B30B-A1C5843C5E72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管理與稅負 Management / Taxation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9EE9C15-60A9-47E1-986A-990CC6B16DD9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誰做決策？收益在哪個層級課稅？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BE99A0-3409-4E14-A3D1-22C8EB872250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本節以美國制度為背景，實際責任與稅務依所在地規定。</a:t>
            </a:r>
          </a:p>
        </p:txBody>
      </p:sp>
    </p:spTree>
    <p:extLst>
      <p:ext uri="{BB962C8B-B14F-4D97-AF65-F5344CB8AC3E}">
        <p14:creationId xmlns:p14="http://schemas.microsoft.com/office/powerpoint/2010/main" val="44817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D70FE1C-211C-4136-A2CB-5A8912B82A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3435C4-67C3-4E2D-9324-CA139E519B89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Sole Proprietorship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1F7B4E-C811-43D3-94A9-7C8E46E7BB71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獨資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1A5E1A-5F43-481E-916D-038E1CED4EAD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FA8D95-ED49-42E9-9C0B-BD0F9BCBC58D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B31A5-7BE2-451A-BB30-02287EB6C0A3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基本特性與優點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B0C474-754E-4E36-8495-C3D29D446C5C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由一位個人擁有，成立通常較簡單。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874FA6-2A72-46B0-9E57-A574118EC1E2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所有權人直接控制經營並享有收益。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066D56-F628-4852-8C6E-45D09EE24493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教材中，事業所得歸入個人所得課稅。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9B421-CEE4-46F6-A00B-60C929A5375C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主要限制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74D5BA-F36C-4B08-9FDA-05DAD28A7EC5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無限責任 Unlimited Liability：個人資產可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能用來清償事業債務。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538BA1-F640-497E-AC3E-CABF035117DB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權益資金受到所有權人財力限制。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94B8CE-951C-4C51-8E7D-FDB6DF508D92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事業延續與所有權移轉較受個人因素影響。</a:t>
            </a:r>
          </a:p>
        </p:txBody>
      </p:sp>
    </p:spTree>
    <p:extLst>
      <p:ext uri="{BB962C8B-B14F-4D97-AF65-F5344CB8AC3E}">
        <p14:creationId xmlns:p14="http://schemas.microsoft.com/office/powerpoint/2010/main" val="1056896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5406B3E-004E-4649-A57A-C1A4F19046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C11027-F285-4F31-AC0E-43BF7F967BFC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Partnership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BB8C50-82E0-4415-B1E7-85177D21E28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普通合夥與有限合夥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C3B99F-D484-4FD0-8DBA-644B0EAEA47E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AB23F7-DEA3-43D1-9F6A-8510A9C10E25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266248970"/>
              </p:ext>
            </p:extLst>
          </p:nvPr>
        </p:nvGraphicFramePr>
        <p:xfrm>
          <a:off x="685800" y="2009775"/>
          <a:ext cx="13868400" cy="5372101"/>
        </p:xfrm>
        <a:graphic>
          <a:graphicData uri="http://schemas.openxmlformats.org/drawingml/2006/table">
            <a:tbl>
              <a:tblPr/>
              <a:tblGrid>
                <a:gridCol w="2331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6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比較項目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General Partnership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有限合夥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Limited Partnership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組成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兩位或以上合夥人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普通合夥人與有限合夥人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責任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普通合夥人負無限責任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普通合夥人無限責任；有限合夥人責任受限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經營角色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依合夥協議分工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教材典型：普通合夥人經營，有限合夥人出資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重要文件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合夥協議 Partnership Agreement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約定出資、利益分配、權利與退出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FED4365-0B71-403C-951B-ACE458433D77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合夥協議應清楚約定權利、義務、分配及退出方式。</a:t>
            </a:r>
          </a:p>
        </p:txBody>
      </p:sp>
    </p:spTree>
    <p:extLst>
      <p:ext uri="{BB962C8B-B14F-4D97-AF65-F5344CB8AC3E}">
        <p14:creationId xmlns:p14="http://schemas.microsoft.com/office/powerpoint/2010/main" val="1192079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A50A0C4-C455-4FEE-AFE9-A9AE0CD8CB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16C372-9FEE-4B53-8E41-7CEB9E11574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Corporation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00893F-EAD2-4FC3-9574-1700429F51C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公司是一個獨立法律實體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26C0EA-15EC-46F5-BFFE-3E8100D3393B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BD138-35BB-442B-B60B-F8AE26723763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AD8BC7-16AC-48DD-ADC8-32B99527165A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法人與股東分離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460B83-3E3B-4286-AEC3-E60AF410ED8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公司可持有資產、借款、締約及涉訟。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180D3F-12D4-4240-8317-F2AF9D89213D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股東持有股份，股東與公司並非同一主體。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5CFF833-47DE-493E-ADBC-EA06F26903E9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董事會監督，經理人負責日常經營。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025B83-41A6-4238-AE07-7F44454446FF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有利於籌資的特性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A667A3-66D5-42F1-93AF-41AB2E66F171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股東通常享有限責任 Limited Liability。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A29F35-3379-42E6-B696-39D4409B666E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股份較容易移轉，組織較能持續存在。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F48C0A-60EA-4E48-9BBD-3F5232EE2FEF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可吸引多位投資人，也可由公司本身借款。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E21707-92B5-4AC6-827D-4CE72B4862C4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所有權 Ownership 與經營權 Management 可以分離。</a:t>
            </a:r>
          </a:p>
        </p:txBody>
      </p:sp>
    </p:spTree>
    <p:extLst>
      <p:ext uri="{BB962C8B-B14F-4D97-AF65-F5344CB8AC3E}">
        <p14:creationId xmlns:p14="http://schemas.microsoft.com/office/powerpoint/2010/main" val="708217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C6B3FA-0277-45E6-B941-F3CFAC8BD0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F19337-F68C-4836-BDB5-837795CB333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Limited Liability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D5C84C-BED5-4E6C-B535-6FA6031DE7E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有限責任的意思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3CFAA4-7490-42B9-93A8-77A6A4C2C383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0AF20A-19C3-4C4E-9910-1CC583C51E1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133FEE-1C5F-4FA1-896F-5DBE4373C41B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自編假設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3F0852-BE0B-42A2-AE3F-6D4FF20EE035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你投入 10 萬元購買公司股份。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BB6DC-27B8-42BB-B9FA-ABC53015119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公司經營失敗，尚有 100 萬元債務。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DCA05B-8F10-4BD8-A6F5-F1C9F2001D34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假設你只有股東身分，未提供個人保證。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495244-B03A-48F7-827E-C84C6F5E3664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判斷邊界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1062EC-C49B-4CCA-A9C1-5CC86D6BA99C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股份可能變得毫無價值，10 萬元可能全數損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失。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9787A4-ED17-4F58-8507-BA2BAC7BEE39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股東通常不因單純持股，就必須用個人財產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支付全部公司債務。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733500-C83D-4C10-9A1E-A1CB060010E2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個人保證、違法行為或其他例外，須另行判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A2A9DA-5C23-41A2-8CE4-545DEFB04DFF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有限責任與投資風險是不同概念。</a:t>
            </a:r>
          </a:p>
        </p:txBody>
      </p:sp>
    </p:spTree>
    <p:extLst>
      <p:ext uri="{BB962C8B-B14F-4D97-AF65-F5344CB8AC3E}">
        <p14:creationId xmlns:p14="http://schemas.microsoft.com/office/powerpoint/2010/main" val="1070434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D03879-AE63-4C9D-B09B-139CCED5B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5A5682-3B30-4B8C-9D96-50CCF6992A2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依教材中的美國典型情況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468090-580B-441B-9521-3BF6FEDEAC4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三種主要組織型態的財務比較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CDC59A-549B-4B3B-92B7-9DA7C7D3A12D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A19147-B7AC-48C9-B312-346663E54AE1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498981493"/>
              </p:ext>
            </p:extLst>
          </p:nvPr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2209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6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6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5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面向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獨資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所有權人責任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無限責任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普通合夥人無限責任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股東通常有限責任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權益籌資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依賴一人財力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依賴合夥人資源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可廣泛吸引股東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延續與移轉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較受所有權人影響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受合夥協議與人員變動影響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延續性與移轉較有利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所有權人直接決策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合夥人協議分工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所有權與經營權可能分離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典型所得稅負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歸入所有權人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歸入合夥人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可能雙重課稅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C735B43-2AD3-4E2A-AA25-E9AFEFA72994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雙重課稅 Double Taxation：公司利潤課稅，股利分配後股東可能再課稅。</a:t>
            </a:r>
          </a:p>
        </p:txBody>
      </p:sp>
    </p:spTree>
    <p:extLst>
      <p:ext uri="{BB962C8B-B14F-4D97-AF65-F5344CB8AC3E}">
        <p14:creationId xmlns:p14="http://schemas.microsoft.com/office/powerpoint/2010/main" val="919073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5896BE8-90C6-41DA-B222-EFD58D32E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7C2B99-E172-418A-8C26-F5A980B49F82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補充組織概念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1FE8B9-AD51-4092-80DF-44E809BDFA1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LLC 與其他公司形式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5D4DA7-F565-4D7F-BF7C-6894A070E2FB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587FD7-DB32-4BDB-83F4-FBC5C60B411B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FE5C40-6F7D-4D0E-813F-0B4C35CD0E98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有限責任公司 LLC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F0A7A-0175-45D8-AAAA-60A58A786CBD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Limited Liability Company 結合責任保障與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彈性組織安排。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374BBB-1398-4648-B245-9809455FDBC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美國聯邦所得稅分類取決於成員數及稅務選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擇。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5D2F62-1980-49CB-991A-039C4B05A2D9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法律組織形式與所得稅分類，要分開理解。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2B7C91-8962-44CD-8879-6A98E552E879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名稱與目的的差異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D71390-0491-491F-9CE3-8BCE4E390235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AG、PLC、Ltd. 等為不同國家的組織名稱，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法律細節各異。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CBF71-A62B-4C70-BC2F-CBBB4D784FB4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公益型公司 Benefit Corporation 仍可營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利，同時追求公共利益。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BFD21E-AC97-4191-8FDE-B2C44DF45C0E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課本強調其責任、透明度與公共目的。</a:t>
            </a:r>
          </a:p>
        </p:txBody>
      </p:sp>
    </p:spTree>
    <p:extLst>
      <p:ext uri="{BB962C8B-B14F-4D97-AF65-F5344CB8AC3E}">
        <p14:creationId xmlns:p14="http://schemas.microsoft.com/office/powerpoint/2010/main" val="963716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FDCC968-6F1B-44EB-B84F-D20BAE557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03E96C-644E-4D08-803C-A92542E819FC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Chapter Case: The McGee Cake Company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14846-5C26-4F7A-9B47-99D42D22C8DB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McGee 蛋糕公司的成長難題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B092BB-87DF-4AEB-B1B4-1AEECA578324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60A1B9-E139-4E9A-8C30-CB7A604A5827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BC68D8-41E5-4AA1-A1AC-360298A28A0B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BF0F84-A5F9-43CE-955F-8A0C1040DED6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創業與分工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7C6767-35D5-4087-AC17-6E51B9BDF65C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Doc 負責烘焙，Lyn 負責行銷與配送。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832488-790D-479D-BBE2-A65BBED249A0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62DE7F-F5CC-4526-A41B-F79694393E39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需求快速成長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671D3E-A892-45F8-84C2-7AE299AF41AE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媒體報導後訂單大增，兩人投入全職並增聘員工。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D02396-1D58-4500-90CA-45B5A0DA99C1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06A039-04C4-4711-A7DB-C8DB5D1F2127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瓶頸浮現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29923E-4768-475F-A737-A368A3811AD0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現有產能已滿，現金流也出現壓力；連鎖通路提出合作。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B21D5D-BDF9-496C-883A-EB28971EC982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CCD438-A14C-4465-9766-2B73394DD276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組織選擇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1496EB-C7B2-433A-AB08-5D36013B3DFF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目前採</a:t>
            </a: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合夥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應改成公司或維持現狀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969419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5899B04-A80A-41E6-8CB3-DBB047A74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720BDC-2F43-4B2C-924D-776D21D488DE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1.3　案例討論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213CAF-43FC-4FD7-B025-5F932A2C099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McGee 案例：選擇需要哪些條件？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8E7318-0AE9-4BE0-AF9D-7BDCA1007B53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DBBFB9-4EB1-4555-AD16-B8A986D3D851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E70252-F532-46B1-8CC1-FE3CF7599714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9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仍維持合夥，尋找出資合夥人</a:t>
            </a:r>
            <a:endParaRPr sz="292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3A6217-EDCE-4CAC-885A-B4C3BE97BA8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希望保留較集中的經營控制。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09462E-83AA-4A58-84FB-36203E44D51B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重視責任保障與組織彈性。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EF3F1B-4143-480E-8F27-795B1C05C1CA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評估稅務分類、行政成本及投資</a:t>
            </a:r>
            <a:r>
              <a:rPr lang="zh-TW" altLang="en-US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合夥</a:t>
            </a:r>
            <a:r>
              <a:rPr sz="240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人接受度</a:t>
            </a:r>
            <a:r>
              <a:rPr sz="24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112F18-E7B5-417E-AC48-F5824C94EEB9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可能考慮 Corporation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AA7268-6FED-4709-9FC1-EE909CCEEB52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計畫引進較多外部股東。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49997C-D073-4798-830D-E8E89F1EED2A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重視股份移轉與長期籌資安排。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62D4A3-FAAD-48F7-AEB7-7D7D7E2216E7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接受較正式的治理程序及可能的稅負成本。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BFB022-64B8-459E-99E9-4EFBDF64221E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先列出資金、責任及控制權需求，再比較組織形式。</a:t>
            </a:r>
          </a:p>
        </p:txBody>
      </p:sp>
    </p:spTree>
    <p:extLst>
      <p:ext uri="{BB962C8B-B14F-4D97-AF65-F5344CB8AC3E}">
        <p14:creationId xmlns:p14="http://schemas.microsoft.com/office/powerpoint/2010/main" val="481328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F337E09-874B-4099-BDC9-5EFBD6A30C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FBE0B-AF3F-41CE-BF6F-4DBE8E445B0E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1.4　Profit Maximization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FC57FA-88F2-4434-B169-4B1877F09C2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利潤最大化的限制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A975D4-7CCB-462E-9028-8673598FE0A3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2A12AB-99E1-4F12-BBEF-E4AB4247D00E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B9C21A-812F-48C3-823E-9D8ECDE86B26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3F939-4BE7-4788-B333-1118BB245D2E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利潤的定義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6046AD-F386-4F59-9E6C-A76B662CBA95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指會計淨利、每股盈餘，還是某種現金流？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D16FE1-0A2E-49AC-ACF5-6D622DC92D11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00327E-7BE8-4695-9CCD-749F117334BF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時間的差異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413B30-D983-489B-BDF3-BDEDBDDCD76F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是今年利潤、長期利潤，還是不同期間的平均？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456354-4F49-4310-A0E2-A89E9711E73E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069D33-133F-4312-8CE2-68A1EC1DA411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風險的差異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083B69-3480-476E-8D08-0842AA602312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相同預期利潤，可能伴隨不同的不確定性。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0EB2DF-62CF-4346-9AC3-320A5C72D03D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591A47-93F9-45BF-9BAD-5AFFDF909ED9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指標的取捨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86005D-9343-4ABA-A8E9-4BAD1C11D06A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壓低成本或提高市占率，不一定提高公司價值。</a:t>
            </a:r>
          </a:p>
        </p:txBody>
      </p:sp>
    </p:spTree>
    <p:extLst>
      <p:ext uri="{BB962C8B-B14F-4D97-AF65-F5344CB8AC3E}">
        <p14:creationId xmlns:p14="http://schemas.microsoft.com/office/powerpoint/2010/main" val="31717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A00E3FE-C719-4022-BA55-54F32265569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333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rPr>
              <a:t>1.4　The Goal of Financial Management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E53C4B-3DB1-4B6C-89BA-716AAB33B624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4B6275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36D63F-1CD4-4429-9C02-74A27E2E801B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1BC48B-BF07-4A7B-9332-10AD96958688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13868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8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財務管理的核心目標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FC6227-6733-410B-9A01-E7D8D41FDF42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38684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5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提高現有股東權益</a:t>
            </a:r>
          </a:p>
          <a:p>
            <a:pPr>
              <a:defRPr sz="5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56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的市場價值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9D6DC7-D0C9-4AD8-9399-E7AC5C9890F7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38684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D5B57B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D5B57B"/>
                </a:solidFill>
                <a:latin typeface="Noto Sans CJK TC"/>
                <a:ea typeface="Noto Sans CJK TC"/>
                <a:cs typeface="Noto Sans CJK TC"/>
              </a:rPr>
              <a:t>Maximize the market value of the existing owners’ equity.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64E1F3-C2C3-4578-8C7A-0E14F5AA75AF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3868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rPr>
              <a:t>對公司而言：最大化現有股票的每股當前價值。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132E56-52CB-4B6E-847F-18A01DD466E3}"/>
              </a:ext>
            </a:extLst>
          </p:cNvPr>
          <p:cNvSpPr>
            <a:spLocks noGrp="1"/>
          </p:cNvSpPr>
          <p:nvPr/>
        </p:nvSpPr>
        <p:spPr>
          <a:xfrm>
            <a:off x="685800" y="6276975"/>
            <a:ext cx="13868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rPr>
              <a:t>現在的價值，反映對未來現金流及風險的評估。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3ACD86-1308-47C7-B503-61781B825823}"/>
              </a:ext>
            </a:extLst>
          </p:cNvPr>
          <p:cNvSpPr>
            <a:spLocks noGrp="1"/>
          </p:cNvSpPr>
          <p:nvPr/>
        </p:nvSpPr>
        <p:spPr>
          <a:xfrm>
            <a:off x="685800" y="7019925"/>
            <a:ext cx="138684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E3EAF0"/>
                </a:solidFill>
                <a:latin typeface="Noto Sans CJK TC"/>
                <a:ea typeface="Noto Sans CJK TC"/>
                <a:cs typeface="Noto Sans CJK TC"/>
              </a:rPr>
              <a:t>未上市企業也能以股東權益價值評估決策。</a:t>
            </a:r>
          </a:p>
        </p:txBody>
      </p:sp>
    </p:spTree>
    <p:extLst>
      <p:ext uri="{BB962C8B-B14F-4D97-AF65-F5344CB8AC3E}">
        <p14:creationId xmlns:p14="http://schemas.microsoft.com/office/powerpoint/2010/main" val="648040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7F1B588-3960-4113-8057-DC96C39B63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4CBBFD-61B5-48BD-99C8-7D8EB1DB5C0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1.4　比較決策的後果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15069-F0DB-4A80-A6BD-97FADB7C8DD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短期指標與長期價值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F1FD1E-30AE-4B4B-865C-FFB57BCEFD40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1D0F6E-EEEA-4DE3-9C9F-463F0B9582C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0" cy="5372101"/>
        </p:xfrm>
        <a:graphic>
          <a:graphicData uri="http://schemas.openxmlformats.org/drawingml/2006/table">
            <a:tbl>
              <a:tblPr/>
              <a:tblGrid>
                <a:gridCol w="3681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假設決策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當期數字的變化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還需要評估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延後設備保養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當期費用下降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停機、維修與營收流失風險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大量打折搶市占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銷量與市占率提高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每筆交易是否有利潤與現金貢獻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投入員工訓練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當期費用上升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未來效率、服務品質與留任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放寬客戶付款期限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訂單或收入增加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收款速度、呆帳與周轉資金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BC9476E-31E6-4FE7-92B7-736E2055EFE6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比較決策時，要把指標連回未來現金流、時間與風險。</a:t>
            </a:r>
          </a:p>
        </p:txBody>
      </p:sp>
    </p:spTree>
    <p:extLst>
      <p:ext uri="{BB962C8B-B14F-4D97-AF65-F5344CB8AC3E}">
        <p14:creationId xmlns:p14="http://schemas.microsoft.com/office/powerpoint/2010/main" val="1524175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E0DCF8B-D418-436A-A884-A9DA811B0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63462F-F435-4ABC-9D0B-70524F0A37D2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1.4–1.5　Stakeholders and Ethics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508B9-D229-4815-A54F-F9ABEF22451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股東、利害關係人與企業倫理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7D3E74-4C48-4154-B4D5-4800801F7AB7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8DFCEA-9D9E-4FA0-9157-9C63AE81E669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1FE274-3BBB-427B-B1F7-BADE0D23BF6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誰受到企業決策影響？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04B0D6-3C61-4DBD-995F-7CA2493170C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 Shareholders 提供權益資金。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E157ED-706C-489B-8ED7-82F0918CAE6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債權人 Creditors 依契約提供融資。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E796E5-1121-46DA-9C37-72B0B8A52827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員工、客戶、供應商、政府與社區也有相關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利益。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3122F4-2B81-4655-A74D-87807BE23356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價值目標與行為界線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01D030-8751-488C-8F66-2A91A42A1B9C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違法、造假或隱瞞資訊會傷害交易與信任。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7956DE-7052-49D9-B954-003A08CD5736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客戶安全、員工待遇及環境影響需要納入判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斷。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A32866-4BFB-4651-9DF3-8CFB01ED2045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倫理衝突可能存在，應說明利益、成本與責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任。</a:t>
            </a:r>
          </a:p>
        </p:txBody>
      </p:sp>
    </p:spTree>
    <p:extLst>
      <p:ext uri="{BB962C8B-B14F-4D97-AF65-F5344CB8AC3E}">
        <p14:creationId xmlns:p14="http://schemas.microsoft.com/office/powerpoint/2010/main" val="72972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B0F8927-9A09-48D6-890C-3B099432FE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A7402F-7F74-4359-9E3F-7B791BB5E076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1.4　Sarbanes-Oxley Act (SOX, 2002)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3D0729-6382-41BD-956D-5827911558F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財務資訊與管理階層責任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–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沙賓法案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9C7F60-0D41-4952-8110-05DCF84D8095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CE0B84-2FC8-4330-8FDA-AE504A61FA3C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F7124-8DA2-4B47-8610-12EA53E6C5A7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2EF252-FD25-40A4-B7C5-91FDA5B46E1D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制度背景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AC0EC3-3ECE-4CE3-A912-188382A7EB79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企業財報醜聞促使美國強化財務報導與責任制度。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172EA4-C7B8-43D5-A1EE-F7A7688DEA2F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0D9441-007B-49FB-83E6-115C39E6EC80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高階主管責任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1D6E4A-F53E-436C-935B-1B4EAC5710B2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CEO、CFO 須對規定的定期報告作出認證。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3FB04D-FF89-4959-B290-8E6F0BD249BF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DD1430-DB75-409E-9F65-7509E2201973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治理意義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38DE9D-EAE8-4B95-908E-D02E4E7E362F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管理階層須對資訊、內部控制及揭露承擔責任。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F76460-F0BF-4F39-9BDA-0E8226EB79D6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8E314F-6EF1-41A7-964A-020F1E9FCCA1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制度成本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E86A8D5-F04F-4899-BA3D-07AEC2EED2A4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遵循要求增加成本，也旨在提升資訊可信度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D1E0A4-1D1E-5207-14B2-11BC22A70B63}"/>
              </a:ext>
            </a:extLst>
          </p:cNvPr>
          <p:cNvSpPr>
            <a:spLocks noGrp="1"/>
          </p:cNvSpPr>
          <p:nvPr/>
        </p:nvSpPr>
        <p:spPr>
          <a:xfrm>
            <a:off x="8457831" y="7353300"/>
            <a:ext cx="6234714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安隆案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(Enron)</a:t>
            </a:r>
            <a:b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</a:b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  <a:hlinkClick r:id="rId3"/>
              </a:rPr>
              <a:t>https://www.youtube.com/watch?v=NvslpOUDaHo</a:t>
            </a: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978692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00D96ED-E0CA-47E9-A24B-61CE4A3A47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03B2AF-5F0B-4609-A863-A185312EFAC9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1.5　Agency Relationship / Agency Problem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680119-34AD-466B-A6AE-E91BEDEEE544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所有權與經營權分離的代理問題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9E3003-EDC1-4107-89D1-B40D6DE6B3CE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590882-A5DA-4344-805C-771747DC4353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68C527-C9C3-4800-A8A4-8EB869ADF09D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代理關係 Agency Relationship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0492EB-8671-45BB-A48D-74390C186F89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委託人 Principal 請代理人 Agent 代為行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889FA4-6790-4AF8-9735-73AC5220AE48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在公司中，股東委託管理者經營公司。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E7193F-8B46-42CE-A8E1-9FF640392152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分工可運用專業，也使股東難以觀察每個決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策。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723871-5DAC-4E4A-8F91-377B47F385D3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利益衝突如何出現？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568AE4-96CB-4B60-B35C-94B72818E877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管理者可能重視薪酬、職位安全或個人權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力。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964093-120F-4833-95E1-2A20547C636E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股東希望管理決策提高其權益價值。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8CDA9F-DF76-4A59-B481-CEFE8FD539C1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資訊不對稱與誘因差異，可能導致代理問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題。</a:t>
            </a:r>
          </a:p>
        </p:txBody>
      </p:sp>
    </p:spTree>
    <p:extLst>
      <p:ext uri="{BB962C8B-B14F-4D97-AF65-F5344CB8AC3E}">
        <p14:creationId xmlns:p14="http://schemas.microsoft.com/office/powerpoint/2010/main" val="516572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6D9F1-3BAA-4303-835A-299A2BC84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B58AF9-B367-4823-866B-2FE66ACB984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1.5　Agency Costs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DD2621-9144-47A0-8B82-850EF95A351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代理成本的不同形式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A7AAE2-1303-407E-A757-C4EF3C1D51CC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EF9E91-B182-496E-84B7-189E6FC7389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3681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8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形式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例子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對股東的影響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管理者自利支出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不必要的豪華辦公室或特權消費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公司承擔成本，管理者享有利益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監督成本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查核、董事會監督及資訊系統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為降低衝突而支出資源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間接機會損失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管理者為保住職位而拒絕有利計畫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錯失本可提高價值的機會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0156C708-D435-452F-85D5-C76AD574A459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代理問題可能表現為多花錢，也可能表現為錯失機會。</a:t>
            </a:r>
          </a:p>
        </p:txBody>
      </p:sp>
    </p:spTree>
    <p:extLst>
      <p:ext uri="{BB962C8B-B14F-4D97-AF65-F5344CB8AC3E}">
        <p14:creationId xmlns:p14="http://schemas.microsoft.com/office/powerpoint/2010/main" val="2070790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EECA705-D9D1-4B2F-B9D8-FECF530BCA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D430E4-28A0-4C36-8C60-44AF5BA9F7F7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1.5　Managerial Compensation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8212C3-8FD0-45AE-8A56-05CA4DC2F60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管理者報酬與誘因設計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312ACE-9726-44EC-ADD1-E2A0C110C3A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48D681-E9F1-4275-A990-237B4193FE54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B40D3E-9940-4574-AA99-19CB639EA4B6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如何讓利益更接近？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EE7A6-0CBD-4F77-BA89-A8E3BA0E18D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績效獎金 Performance Bonus，將報酬與成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果連結。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0FFBC3-E5ED-4649-8627-CB35E75E9A4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持股及股票選擇權 Stock Options，讓報酬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與股權價值連動。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D183AD-7869-4F36-85DA-C785FED787E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升遷、聲譽與未來工作機會，也影響管理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者。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DE15A3-F78A-4289-9BC3-3C225903B37E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單一指標也可能被操弄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BCC58D-E431-4968-914D-A35F7D50EF64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只看營收，可能鼓勵過度折價或放寬信用。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883783-A6AE-49A3-BC52-A9716C7B60FB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只看今年盈餘，可能鼓勵延後必要支出。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7F0EEF-42CB-4280-9047-7D2527C528FE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需考慮衡量期間、風險與品質，並搭配監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督。</a:t>
            </a:r>
          </a:p>
        </p:txBody>
      </p:sp>
    </p:spTree>
    <p:extLst>
      <p:ext uri="{BB962C8B-B14F-4D97-AF65-F5344CB8AC3E}">
        <p14:creationId xmlns:p14="http://schemas.microsoft.com/office/powerpoint/2010/main" val="225793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0F11593-EBFF-4264-BB1E-EE61210D2E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94AAC0-3DBB-4A38-BE3F-6318715A9AB9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1.5　Corporate Control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99D239-2A81-4F1E-A6CE-5B9D848530B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股東如何影響公司管理？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52D923-AA2A-45C7-AFE7-CA9CE129DFF2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DA7A29-D045-4719-A85F-7684532CC693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5323FD-946B-4817-9AB2-302095256AF0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0BA7E7-8035-4AC9-BD7B-F521403384E0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董事會 Board of Directors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B1332C-692B-420F-A5E9-2419315BEE25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股東選任董事，董事會監督並任免高階管理者。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906B06-8220-4EE7-B721-11C0B2F9D854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7FF49B-8341-4EB8-815A-7ACE56D042ED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委託書爭奪 Proxy Fight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74760C-1E6B-46E9-9B77-075EFF195821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爭取其他股東的表決授權，影響董事選舉或公司決策。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934B3C-E2F8-4C48-B5A5-FE0006F0EA0A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05C40F-89C9-485D-BFAC-7BE60D26157C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接管 Takeover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33DA1C-62B9-4859-BE69-7E884F815E9A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其他企業取得控制權，可能更換管理團隊。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1BAB23-B49B-4BD0-8508-C106EA4BB175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CE262C-E391-4230-A1FD-2DB88CAC3D11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監督的限制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70B39D-F2E4-4142-9BBF-020C3D41A196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股權分散、資訊成本及制度安排，會影響控制效果。</a:t>
            </a:r>
          </a:p>
        </p:txBody>
      </p:sp>
    </p:spTree>
    <p:extLst>
      <p:ext uri="{BB962C8B-B14F-4D97-AF65-F5344CB8AC3E}">
        <p14:creationId xmlns:p14="http://schemas.microsoft.com/office/powerpoint/2010/main" val="1668988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55CF190-B4BF-4110-95EB-35E132AD14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AB7999-6ADE-41F7-AAD2-612B8CD497B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1.5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思考題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AA11A3-9293-4E51-9820-5E207F66838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拒絕高價收購，一定損害股東嗎？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DCA641-9D71-44D9-8456-28C6C55E36AD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5FC1AE-A567-4A53-9E75-2105E091606E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A12928-428E-4960-9DD3-D0053483D248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假設情境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48A4D4-9099-4652-B14D-04749C9BAE6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目前每股價格為 25 元。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A92A33-2DA3-4A58-8E2C-BB0CFCB83E8C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另一家公司提出每股 35 元收購全部股票。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A63C59-E223-44F9-BE79-AFBED412E21F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現任管理者積極反對，主張繼續獨立經營。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94655F-ED83-4C2F-8D5F-3989D8F2F285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判斷需要的證據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EF03F-BA3B-4BAA-BCA0-827861E864A1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可能理由一：管理者想保住職位。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28CF52-17A9-4635-A55A-A07646C566A3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可能理由二：合理價值高於報價，或交易存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在重大風險。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8C1BB1-8357-4F0C-8E4E-CAB1670AB495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需比較價值、交易條件、替代方案與管理者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利益。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78C884-D015-4930-9634-AD4D5558EB79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收購溢價是一項資訊，仍需檢視拒絕的理由與證據。</a:t>
            </a:r>
          </a:p>
        </p:txBody>
      </p:sp>
    </p:spTree>
    <p:extLst>
      <p:ext uri="{BB962C8B-B14F-4D97-AF65-F5344CB8AC3E}">
        <p14:creationId xmlns:p14="http://schemas.microsoft.com/office/powerpoint/2010/main" val="1761185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E7A9B63-EE47-4830-AC5D-707CE84B88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EC2DE8-388B-4A4F-8C0C-3B8BDF11462B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Cash Flows and Financial Markets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3ADC8A-22C1-43E7-9B98-FFF3E001008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企業與金融市場的現金循環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F81800-14BF-41F9-B4E0-0DFD32D165F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8662C4-CC38-49F1-A37B-19ABC618ED91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0721" y="1895475"/>
            <a:ext cx="7515007" cy="5810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8F00DAF-FC46-4B17-BD10-A059588311A0}"/>
              </a:ext>
            </a:extLst>
          </p:cNvPr>
          <p:cNvSpPr>
            <a:spLocks noGrp="1"/>
          </p:cNvSpPr>
          <p:nvPr/>
        </p:nvSpPr>
        <p:spPr>
          <a:xfrm>
            <a:off x="9525000" y="2057400"/>
            <a:ext cx="50292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圖中的六個步驟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384D02-40D2-428F-8AE1-A18465B80434}"/>
              </a:ext>
            </a:extLst>
          </p:cNvPr>
          <p:cNvSpPr>
            <a:spLocks noGrp="1"/>
          </p:cNvSpPr>
          <p:nvPr/>
        </p:nvSpPr>
        <p:spPr>
          <a:xfrm>
            <a:off x="9525000" y="2886075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A 發行證券，取得資金。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5BAAF4-BAB3-4DE2-93CA-8347790FB8DF}"/>
              </a:ext>
            </a:extLst>
          </p:cNvPr>
          <p:cNvSpPr>
            <a:spLocks noGrp="1"/>
          </p:cNvSpPr>
          <p:nvPr/>
        </p:nvSpPr>
        <p:spPr>
          <a:xfrm>
            <a:off x="9525000" y="3676650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B 將資金投入企業資產。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DB4FCD-DC39-494D-AAA0-2216CBA9E61A}"/>
              </a:ext>
            </a:extLst>
          </p:cNvPr>
          <p:cNvSpPr>
            <a:spLocks noGrp="1"/>
          </p:cNvSpPr>
          <p:nvPr/>
        </p:nvSpPr>
        <p:spPr>
          <a:xfrm>
            <a:off x="9525000" y="4467225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 資產與營運產生現金流。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659DCE-4F37-4C36-9339-45A030EC5C31}"/>
              </a:ext>
            </a:extLst>
          </p:cNvPr>
          <p:cNvSpPr>
            <a:spLocks noGrp="1"/>
          </p:cNvSpPr>
          <p:nvPr/>
        </p:nvSpPr>
        <p:spPr>
          <a:xfrm>
            <a:off x="9525000" y="5257800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D </a:t>
            </a:r>
            <a:r>
              <a:rPr sz="217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支付政府稅款</a:t>
            </a:r>
            <a:r>
              <a:rPr lang="zh-TW" altLang="en-US" sz="217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、利害關係人</a:t>
            </a:r>
            <a:r>
              <a:rPr sz="217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等。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19939C-5429-46A4-99D0-24913C1C30CD}"/>
              </a:ext>
            </a:extLst>
          </p:cNvPr>
          <p:cNvSpPr>
            <a:spLocks noGrp="1"/>
          </p:cNvSpPr>
          <p:nvPr/>
        </p:nvSpPr>
        <p:spPr>
          <a:xfrm>
            <a:off x="9525000" y="6048375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 保留部分資金再投資。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1AD1CB-5647-4E06-A90A-032EA9767CEC}"/>
              </a:ext>
            </a:extLst>
          </p:cNvPr>
          <p:cNvSpPr>
            <a:spLocks noGrp="1"/>
          </p:cNvSpPr>
          <p:nvPr/>
        </p:nvSpPr>
        <p:spPr>
          <a:xfrm>
            <a:off x="9525000" y="6838950"/>
            <a:ext cx="50292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F 支付利息、還本及股利。</a:t>
            </a:r>
          </a:p>
        </p:txBody>
      </p:sp>
    </p:spTree>
    <p:extLst>
      <p:ext uri="{BB962C8B-B14F-4D97-AF65-F5344CB8AC3E}">
        <p14:creationId xmlns:p14="http://schemas.microsoft.com/office/powerpoint/2010/main" val="11147526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BB26934-98FF-4DB4-A848-2CDAE16F6F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31C330-94B8-429A-ABC7-2103609EA33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自編假設，單位：新臺幣萬元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9AF0B4-39F5-41F5-8DE4-19F8236D83B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咖啡店的資金流向例子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6DD05B-A26B-4D6A-9CBE-B33BA163EE8C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1B4CDC-EFA1-48AC-9126-732C182E5356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405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6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時點與項目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說明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開店：籌資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股東出資 60，加上借款 40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開店：資金用途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設備裝潢 70，原料與備用現金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營運後：可分配現金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假設已扣日常營運現金支出，尚未支付下列項目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稅款與債權人付款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稅款 5，利息與還本合計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股利及再投資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 3，再投資 15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9BC126E-A2A2-4C44-9305-548E8F2A6551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營運後的現金分配：30 = 5 + 7 + 3 + 15。</a:t>
            </a:r>
          </a:p>
        </p:txBody>
      </p:sp>
    </p:spTree>
    <p:extLst>
      <p:ext uri="{BB962C8B-B14F-4D97-AF65-F5344CB8AC3E}">
        <p14:creationId xmlns:p14="http://schemas.microsoft.com/office/powerpoint/2010/main" val="8542833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8483D99-7480-4191-8CA8-7C52E2A8DC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161775-0B2E-4983-B408-4BC71CD864E4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Primary and Secondary Markets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5B8BC9-D414-4D07-B5F0-892ED5339A9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初級市場與次級市場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640D7F-D235-43C4-BB67-CCBCD00783E2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6D7A2C-2C1F-43C2-A0B3-9B8EBB88DA22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0" cy="5372100"/>
        </p:xfrm>
        <a:graphic>
          <a:graphicData uri="http://schemas.openxmlformats.org/drawingml/2006/table">
            <a:tbl>
              <a:tblPr/>
              <a:tblGrid>
                <a:gridCol w="2700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比較項目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初級市場 Primary Market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次級市場 Secondary Market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交易標的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新發行的證券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已發行的既有證券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典型出售者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發行證券的企業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原持有證券的投資人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資金流向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流入發行企業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流向出售證券的投資人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協助企業籌集資金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提供轉售機會及價格資訊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59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例子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認購公司新發行股票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向另一位投資人買入既有股票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0C92323-060F-4748-B98D-C56D3C5B7895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判斷市場類型時，先問：誰出售證券？誰收到這筆錢？</a:t>
            </a:r>
          </a:p>
        </p:txBody>
      </p:sp>
    </p:spTree>
    <p:extLst>
      <p:ext uri="{BB962C8B-B14F-4D97-AF65-F5344CB8AC3E}">
        <p14:creationId xmlns:p14="http://schemas.microsoft.com/office/powerpoint/2010/main" val="13747395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D7AF778-1E64-4021-9FFA-A7995C46E2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B8E44E-696E-491D-BBA9-D0AB65C99323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企業如何發行證券？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309451-9313-43FE-A978-CD558A9013D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公開發行、私募與 IPO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001BEC-40BB-442B-83C2-BDCA621160E0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31C8DF-3A9A-45C3-9B48-F11853A275F0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2E3336-CDC9-4FBA-9528-C54D79F2427B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發行對象與方式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BCBE59-1ABC-4280-AC8C-F0F6DB5526A7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公開發行 Public Offering，面向公眾發行證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券。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DC3893-433A-4250-A4B2-F6A42EB2D8AC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私募 Private Placement，面向特定投資人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協議募集。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1096C7-E29A-4A01-911C-B8BD39C56F5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資訊揭露、程序及發行成本會影響方式選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擇。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4E3F27-BBC7-49D8-98B1-F6590CEA92CC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首次公開發行 IPO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2AA426-CF21-4CD3-A2F0-3366DF52A8B0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Initial Public Offering，首次向公眾發售股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票。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154841-E1E1-4AFA-A035-6D801FA3A884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發行新股的所得流入公司。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D9332D-3C1D-4B2A-AFC1-291A9B17097F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若包含原股東出售舊股，該部分所得流入出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售股東。</a:t>
            </a:r>
          </a:p>
        </p:txBody>
      </p:sp>
    </p:spTree>
    <p:extLst>
      <p:ext uri="{BB962C8B-B14F-4D97-AF65-F5344CB8AC3E}">
        <p14:creationId xmlns:p14="http://schemas.microsoft.com/office/powerpoint/2010/main" val="161130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DF07B4B-1089-4B5B-AC39-CE75BDCFFD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DDAFEF-7EBE-4099-A567-27C889D38307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Broker, Dealer and Market Mechanisms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945566-6127-457F-B53D-2854F689E66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經紀人、自營商與交易方式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D5BDEF-F40E-4752-B088-F84CA49FBB45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AD4273-55DA-4371-9EE8-14CA657F096D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2009775"/>
          <a:ext cx="13868401" cy="5372101"/>
        </p:xfrm>
        <a:graphic>
          <a:graphicData uri="http://schemas.openxmlformats.org/drawingml/2006/table">
            <a:tbl>
              <a:tblPr/>
              <a:tblGrid>
                <a:gridCol w="392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6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名詞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主要角色或機制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可聯想的例子</a:t>
                      </a:r>
                    </a:p>
                  </a:txBody>
                  <a:tcPr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經紀人 Broker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替客戶安排交易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協助買方與賣方成交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自營商 Dealer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以自己的部位買賣並承擔風險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報出買價 Bid 與賣價 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自營商市場 Dealer Market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向提供報價的自營商交易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依報價買入或賣出</a:t>
                      </a:r>
                    </a:p>
                  </a:txBody>
                  <a:tcPr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2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競價市場 Auction Market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依規則集合或比對買賣委託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買賣訂單相互撮合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413EDF2B-5A19-490D-AF90-753D789DD992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角色與機制可以並存，現代市場也能以電子方式競價。</a:t>
            </a:r>
          </a:p>
        </p:txBody>
      </p:sp>
    </p:spTree>
    <p:extLst>
      <p:ext uri="{BB962C8B-B14F-4D97-AF65-F5344CB8AC3E}">
        <p14:creationId xmlns:p14="http://schemas.microsoft.com/office/powerpoint/2010/main" val="9609225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8E25AA-2DFB-41A6-89DC-F316A9B8F7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A7F971-2F8C-41EE-AD3F-AE544A2A1326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市場制度補充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787F03-4C40-46C0-B9C5-54CCF4664DD3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上市、OTC 與電子交易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4655FB-F92E-4F49-A7C1-748C7DF0B36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3C39A0-72AA-41A7-B303-2C998DA6E145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DEC94E-1E01-438B-B980-6130853C2FC1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527052-9D0D-4882-B015-E307C7C08968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上市 Listed 與店頭交易 OTC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C58E42-D90D-414C-8FC3-18BFF21D9D94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上市表示證券獲交易所接納掛牌，須符合相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關要求。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1524B7-751D-475F-91F3-AE9FF5C18CA6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OTC 是 Over-the-Counter，指場外交易安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排。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77807A-ED8C-4702-A76E-7F7D87453A15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電子交易描述技術，不能單靠它判斷市場類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BC4812-9D22-49C1-B253-F5951B49A153}"/>
              </a:ext>
            </a:extLst>
          </p:cNvPr>
          <p:cNvSpPr>
            <a:spLocks noGrp="1"/>
          </p:cNvSpPr>
          <p:nvPr/>
        </p:nvSpPr>
        <p:spPr>
          <a:xfrm>
            <a:off x="8001000" y="1981200"/>
            <a:ext cx="6553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Nasdaq 的閱讀提醒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730053-62D6-4B13-87B8-D4AD54ECA7EA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Nasdaq 最初源於電子報價系統。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CE2931-F7A7-4539-A919-695953250E26}"/>
              </a:ext>
            </a:extLst>
          </p:cNvPr>
          <p:cNvSpPr>
            <a:spLocks noGrp="1"/>
          </p:cNvSpPr>
          <p:nvPr/>
        </p:nvSpPr>
        <p:spPr>
          <a:xfrm>
            <a:off x="8001000" y="434340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2006 年已以美國全國性證券交易所身分運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作。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3CC163-8442-47BC-9345-C4F7346293CC}"/>
              </a:ext>
            </a:extLst>
          </p:cNvPr>
          <p:cNvSpPr>
            <a:spLocks noGrp="1"/>
          </p:cNvSpPr>
          <p:nvPr/>
        </p:nvSpPr>
        <p:spPr>
          <a:xfrm>
            <a:off x="8001000" y="5734050"/>
            <a:ext cx="65532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今日 Nasdaq 應理解為交易所，不能沿用舊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式 OTC 分類。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118136-B32A-4DFF-9683-D17FB4019BB9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138684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發行階段、交易場所與交易機制，是不同的分類角度。</a:t>
            </a:r>
          </a:p>
        </p:txBody>
      </p:sp>
    </p:spTree>
    <p:extLst>
      <p:ext uri="{BB962C8B-B14F-4D97-AF65-F5344CB8AC3E}">
        <p14:creationId xmlns:p14="http://schemas.microsoft.com/office/powerpoint/2010/main" val="20779731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6212B26-D6B7-4268-89C1-19F13459CB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8F4422-3652-41B3-81E3-812FF31AF7C8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1.6　課堂應用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6645D-4182-467F-856D-A81A060BEE59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金融市場的判斷練習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4B5498-8124-4567-A9C2-BDE48712CE87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ADC31B-5636-4C16-A148-713455CB176D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22899D-B444-42C2-9992-B5C41322030B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0F0927-A507-41E0-BB15-8652B5438051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200CAF-C693-48EE-AFFB-01A2E2CA1E95}"/>
              </a:ext>
            </a:extLst>
          </p:cNvPr>
          <p:cNvSpPr>
            <a:spLocks noGrp="1"/>
          </p:cNvSpPr>
          <p:nvPr/>
        </p:nvSpPr>
        <p:spPr>
          <a:xfrm>
            <a:off x="1714500" y="197167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66EC45-26CD-4E8D-BDE0-E0908622D02A}"/>
              </a:ext>
            </a:extLst>
          </p:cNvPr>
          <p:cNvSpPr>
            <a:spLocks noGrp="1"/>
          </p:cNvSpPr>
          <p:nvPr/>
        </p:nvSpPr>
        <p:spPr>
          <a:xfrm>
            <a:off x="1714500" y="251460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公司發行新股，你支付 5 萬元認購。誰取得資金？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E2842C-FA7D-4CF0-A2B6-32CBCD131327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55D7A4-987C-41ED-B635-A07164571579}"/>
              </a:ext>
            </a:extLst>
          </p:cNvPr>
          <p:cNvSpPr>
            <a:spLocks noGrp="1"/>
          </p:cNvSpPr>
          <p:nvPr/>
        </p:nvSpPr>
        <p:spPr>
          <a:xfrm>
            <a:off x="1714500" y="331470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A759E2-9105-4C14-BDD6-982E5B3B9B6F}"/>
              </a:ext>
            </a:extLst>
          </p:cNvPr>
          <p:cNvSpPr>
            <a:spLocks noGrp="1"/>
          </p:cNvSpPr>
          <p:nvPr/>
        </p:nvSpPr>
        <p:spPr>
          <a:xfrm>
            <a:off x="1714500" y="385762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你以 6 萬元把這批股票賣給另一位投資人。公司收到多少？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1119D1-2343-4F82-88DC-B8BEB8C8A3D6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135FD9-8EC1-4A50-BBCA-12093E641A33}"/>
              </a:ext>
            </a:extLst>
          </p:cNvPr>
          <p:cNvSpPr>
            <a:spLocks noGrp="1"/>
          </p:cNvSpPr>
          <p:nvPr/>
        </p:nvSpPr>
        <p:spPr>
          <a:xfrm>
            <a:off x="1714500" y="4657725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F76AA1-57D1-4527-B0A4-B4B53FCCD9BF}"/>
              </a:ext>
            </a:extLst>
          </p:cNvPr>
          <p:cNvSpPr>
            <a:spLocks noGrp="1"/>
          </p:cNvSpPr>
          <p:nvPr/>
        </p:nvSpPr>
        <p:spPr>
          <a:xfrm>
            <a:off x="1714500" y="5200650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公司股價上漲，是否代表公司銀行帳戶自動多了錢？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05EC55A-D272-4F4F-A186-0548C2A0D1FE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BD9556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7B5EE8-0411-49AF-BE2B-80B44356C9E7}"/>
              </a:ext>
            </a:extLst>
          </p:cNvPr>
          <p:cNvSpPr>
            <a:spLocks noGrp="1"/>
          </p:cNvSpPr>
          <p:nvPr/>
        </p:nvSpPr>
        <p:spPr>
          <a:xfrm>
            <a:off x="1714500" y="6000750"/>
            <a:ext cx="12839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情境 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4A0247-C5DC-4C99-BEE6-A4F916E41706}"/>
              </a:ext>
            </a:extLst>
          </p:cNvPr>
          <p:cNvSpPr>
            <a:spLocks noGrp="1"/>
          </p:cNvSpPr>
          <p:nvPr/>
        </p:nvSpPr>
        <p:spPr>
          <a:xfrm>
            <a:off x="1714500" y="6543675"/>
            <a:ext cx="127444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未來有機會轉售股票，會如何影響今天的認購意願？</a:t>
            </a:r>
          </a:p>
        </p:txBody>
      </p:sp>
    </p:spTree>
    <p:extLst>
      <p:ext uri="{BB962C8B-B14F-4D97-AF65-F5344CB8AC3E}">
        <p14:creationId xmlns:p14="http://schemas.microsoft.com/office/powerpoint/2010/main" val="5962139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2048</Words>
  <Application>Microsoft Office PowerPoint</Application>
  <DocSecurity>0</DocSecurity>
  <PresentationFormat>自訂</PresentationFormat>
  <Paragraphs>713</Paragraphs>
  <Slides>42</Slides>
  <Notes>42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5" baseType="lpstr">
      <vt:lpstr>Noto Sans CJK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林昌碩</cp:lastModifiedBy>
  <cp:revision>8</cp:revision>
  <dcterms:created xsi:type="dcterms:W3CDTF">2026-09-13T07:32:40Z</dcterms:created>
  <dcterms:modified xsi:type="dcterms:W3CDTF">2026-09-13T12:29:54Z</dcterms:modified>
</cp:coreProperties>
</file>