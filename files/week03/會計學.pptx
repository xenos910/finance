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7" r:id="rId2"/>
    <p:sldId id="284" r:id="rId3"/>
    <p:sldId id="285" r:id="rId4"/>
    <p:sldId id="286" r:id="rId5"/>
    <p:sldId id="287" r:id="rId6"/>
    <p:sldId id="288" r:id="rId7"/>
    <p:sldId id="289" r:id="rId8"/>
    <p:sldId id="260" r:id="rId9"/>
    <p:sldId id="290" r:id="rId10"/>
    <p:sldId id="259" r:id="rId11"/>
    <p:sldId id="291" r:id="rId12"/>
    <p:sldId id="262" r:id="rId13"/>
    <p:sldId id="263" r:id="rId14"/>
    <p:sldId id="264" r:id="rId15"/>
    <p:sldId id="265" r:id="rId16"/>
    <p:sldId id="266" r:id="rId17"/>
    <p:sldId id="267" r:id="rId18"/>
    <p:sldId id="292" r:id="rId19"/>
    <p:sldId id="378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79" r:id="rId35"/>
    <p:sldId id="380" r:id="rId36"/>
    <p:sldId id="38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昌碩" userId="f835a9ca-f231-4ac2-9887-24bf7a4c5c81" providerId="ADAL" clId="{A5C7E02A-03C2-402C-A3D8-3BDC995CC58B}"/>
    <pc:docChg chg="undo custSel addSld delSld modSld">
      <pc:chgData name="林昌碩" userId="f835a9ca-f231-4ac2-9887-24bf7a4c5c81" providerId="ADAL" clId="{A5C7E02A-03C2-402C-A3D8-3BDC995CC58B}" dt="2026-09-06T11:39:00.094" v="610" actId="20577"/>
      <pc:docMkLst>
        <pc:docMk/>
      </pc:docMkLst>
      <pc:sldChg chg="modSp mod">
        <pc:chgData name="林昌碩" userId="f835a9ca-f231-4ac2-9887-24bf7a4c5c81" providerId="ADAL" clId="{A5C7E02A-03C2-402C-A3D8-3BDC995CC58B}" dt="2026-09-06T10:32:54.190" v="290" actId="14100"/>
        <pc:sldMkLst>
          <pc:docMk/>
          <pc:sldMk cId="4179506413" sldId="257"/>
        </pc:sldMkLst>
        <pc:spChg chg="mod">
          <ac:chgData name="林昌碩" userId="f835a9ca-f231-4ac2-9887-24bf7a4c5c81" providerId="ADAL" clId="{A5C7E02A-03C2-402C-A3D8-3BDC995CC58B}" dt="2026-09-06T10:32:54.190" v="290" actId="14100"/>
          <ac:spMkLst>
            <pc:docMk/>
            <pc:sldMk cId="4179506413" sldId="257"/>
            <ac:spMk id="4" creationId="{33369E81-10F8-C85C-B54B-2D127CEC285B}"/>
          </ac:spMkLst>
        </pc:spChg>
      </pc:sldChg>
      <pc:sldChg chg="del">
        <pc:chgData name="林昌碩" userId="f835a9ca-f231-4ac2-9887-24bf7a4c5c81" providerId="ADAL" clId="{A5C7E02A-03C2-402C-A3D8-3BDC995CC58B}" dt="2026-09-03T14:56:32.775" v="191" actId="47"/>
        <pc:sldMkLst>
          <pc:docMk/>
          <pc:sldMk cId="2671676405" sldId="258"/>
        </pc:sldMkLst>
      </pc:sldChg>
      <pc:sldChg chg="del">
        <pc:chgData name="林昌碩" userId="f835a9ca-f231-4ac2-9887-24bf7a4c5c81" providerId="ADAL" clId="{A5C7E02A-03C2-402C-A3D8-3BDC995CC58B}" dt="2026-09-03T14:56:34.069" v="192" actId="47"/>
        <pc:sldMkLst>
          <pc:docMk/>
          <pc:sldMk cId="719378498" sldId="259"/>
        </pc:sldMkLst>
      </pc:sldChg>
      <pc:sldChg chg="del">
        <pc:chgData name="林昌碩" userId="f835a9ca-f231-4ac2-9887-24bf7a4c5c81" providerId="ADAL" clId="{A5C7E02A-03C2-402C-A3D8-3BDC995CC58B}" dt="2026-09-03T15:00:17.187" v="246" actId="47"/>
        <pc:sldMkLst>
          <pc:docMk/>
          <pc:sldMk cId="1109730367" sldId="261"/>
        </pc:sldMkLst>
      </pc:sldChg>
      <pc:sldChg chg="del">
        <pc:chgData name="林昌碩" userId="f835a9ca-f231-4ac2-9887-24bf7a4c5c81" providerId="ADAL" clId="{A5C7E02A-03C2-402C-A3D8-3BDC995CC58B}" dt="2026-09-03T15:00:26.541" v="247" actId="47"/>
        <pc:sldMkLst>
          <pc:docMk/>
          <pc:sldMk cId="1606300801" sldId="262"/>
        </pc:sldMkLst>
      </pc:sldChg>
      <pc:sldChg chg="del">
        <pc:chgData name="林昌碩" userId="f835a9ca-f231-4ac2-9887-24bf7a4c5c81" providerId="ADAL" clId="{A5C7E02A-03C2-402C-A3D8-3BDC995CC58B}" dt="2026-09-03T15:00:29.358" v="248" actId="47"/>
        <pc:sldMkLst>
          <pc:docMk/>
          <pc:sldMk cId="892249188" sldId="263"/>
        </pc:sldMkLst>
      </pc:sldChg>
      <pc:sldChg chg="del">
        <pc:chgData name="林昌碩" userId="f835a9ca-f231-4ac2-9887-24bf7a4c5c81" providerId="ADAL" clId="{A5C7E02A-03C2-402C-A3D8-3BDC995CC58B}" dt="2026-09-03T15:00:33.068" v="249" actId="47"/>
        <pc:sldMkLst>
          <pc:docMk/>
          <pc:sldMk cId="1464868104" sldId="264"/>
        </pc:sldMkLst>
      </pc:sldChg>
      <pc:sldChg chg="del">
        <pc:chgData name="林昌碩" userId="f835a9ca-f231-4ac2-9887-24bf7a4c5c81" providerId="ADAL" clId="{A5C7E02A-03C2-402C-A3D8-3BDC995CC58B}" dt="2026-09-03T15:00:35.954" v="250" actId="47"/>
        <pc:sldMkLst>
          <pc:docMk/>
          <pc:sldMk cId="3833023979" sldId="265"/>
        </pc:sldMkLst>
      </pc:sldChg>
      <pc:sldChg chg="del">
        <pc:chgData name="林昌碩" userId="f835a9ca-f231-4ac2-9887-24bf7a4c5c81" providerId="ADAL" clId="{A5C7E02A-03C2-402C-A3D8-3BDC995CC58B}" dt="2026-09-03T15:00:37.219" v="251" actId="47"/>
        <pc:sldMkLst>
          <pc:docMk/>
          <pc:sldMk cId="3247291811" sldId="266"/>
        </pc:sldMkLst>
      </pc:sldChg>
      <pc:sldChg chg="del">
        <pc:chgData name="林昌碩" userId="f835a9ca-f231-4ac2-9887-24bf7a4c5c81" providerId="ADAL" clId="{A5C7E02A-03C2-402C-A3D8-3BDC995CC58B}" dt="2026-09-03T15:00:41.462" v="252" actId="47"/>
        <pc:sldMkLst>
          <pc:docMk/>
          <pc:sldMk cId="1006825864" sldId="267"/>
        </pc:sldMkLst>
      </pc:sldChg>
      <pc:sldChg chg="modSp mod">
        <pc:chgData name="林昌碩" userId="f835a9ca-f231-4ac2-9887-24bf7a4c5c81" providerId="ADAL" clId="{A5C7E02A-03C2-402C-A3D8-3BDC995CC58B}" dt="2026-09-06T11:25:00.015" v="372" actId="20577"/>
        <pc:sldMkLst>
          <pc:docMk/>
          <pc:sldMk cId="3225290640" sldId="268"/>
        </pc:sldMkLst>
        <pc:graphicFrameChg chg="modGraphic">
          <ac:chgData name="林昌碩" userId="f835a9ca-f231-4ac2-9887-24bf7a4c5c81" providerId="ADAL" clId="{A5C7E02A-03C2-402C-A3D8-3BDC995CC58B}" dt="2026-09-06T11:25:00.015" v="372" actId="20577"/>
          <ac:graphicFrameMkLst>
            <pc:docMk/>
            <pc:sldMk cId="3225290640" sldId="268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27:08.614" v="410" actId="20577"/>
        <pc:sldMkLst>
          <pc:docMk/>
          <pc:sldMk cId="1985317599" sldId="269"/>
        </pc:sldMkLst>
        <pc:graphicFrameChg chg="mod modGraphic">
          <ac:chgData name="林昌碩" userId="f835a9ca-f231-4ac2-9887-24bf7a4c5c81" providerId="ADAL" clId="{A5C7E02A-03C2-402C-A3D8-3BDC995CC58B}" dt="2026-09-06T11:27:08.614" v="410" actId="20577"/>
          <ac:graphicFrameMkLst>
            <pc:docMk/>
            <pc:sldMk cId="1985317599" sldId="269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34:43.341" v="505" actId="14734"/>
        <pc:sldMkLst>
          <pc:docMk/>
          <pc:sldMk cId="322957285" sldId="272"/>
        </pc:sldMkLst>
        <pc:graphicFrameChg chg="mod modGraphic">
          <ac:chgData name="林昌碩" userId="f835a9ca-f231-4ac2-9887-24bf7a4c5c81" providerId="ADAL" clId="{A5C7E02A-03C2-402C-A3D8-3BDC995CC58B}" dt="2026-09-06T11:34:43.341" v="505" actId="14734"/>
          <ac:graphicFrameMkLst>
            <pc:docMk/>
            <pc:sldMk cId="322957285" sldId="272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29:22.454" v="448" actId="20577"/>
        <pc:sldMkLst>
          <pc:docMk/>
          <pc:sldMk cId="2066300092" sldId="273"/>
        </pc:sldMkLst>
        <pc:graphicFrameChg chg="mod modGraphic">
          <ac:chgData name="林昌碩" userId="f835a9ca-f231-4ac2-9887-24bf7a4c5c81" providerId="ADAL" clId="{A5C7E02A-03C2-402C-A3D8-3BDC995CC58B}" dt="2026-09-06T11:29:22.454" v="448" actId="20577"/>
          <ac:graphicFrameMkLst>
            <pc:docMk/>
            <pc:sldMk cId="2066300092" sldId="273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31:45.934" v="475" actId="20577"/>
        <pc:sldMkLst>
          <pc:docMk/>
          <pc:sldMk cId="1323888464" sldId="274"/>
        </pc:sldMkLst>
        <pc:graphicFrameChg chg="mod modGraphic">
          <ac:chgData name="林昌碩" userId="f835a9ca-f231-4ac2-9887-24bf7a4c5c81" providerId="ADAL" clId="{A5C7E02A-03C2-402C-A3D8-3BDC995CC58B}" dt="2026-09-06T11:31:45.934" v="475" actId="20577"/>
          <ac:graphicFrameMkLst>
            <pc:docMk/>
            <pc:sldMk cId="1323888464" sldId="274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34:53.621" v="507"/>
        <pc:sldMkLst>
          <pc:docMk/>
          <pc:sldMk cId="135815687" sldId="275"/>
        </pc:sldMkLst>
        <pc:graphicFrameChg chg="mod modGraphic">
          <ac:chgData name="林昌碩" userId="f835a9ca-f231-4ac2-9887-24bf7a4c5c81" providerId="ADAL" clId="{A5C7E02A-03C2-402C-A3D8-3BDC995CC58B}" dt="2026-09-06T11:34:53.621" v="507"/>
          <ac:graphicFrameMkLst>
            <pc:docMk/>
            <pc:sldMk cId="135815687" sldId="275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36:54.094" v="552" actId="20577"/>
        <pc:sldMkLst>
          <pc:docMk/>
          <pc:sldMk cId="1572924365" sldId="277"/>
        </pc:sldMkLst>
        <pc:graphicFrameChg chg="mod modGraphic">
          <ac:chgData name="林昌碩" userId="f835a9ca-f231-4ac2-9887-24bf7a4c5c81" providerId="ADAL" clId="{A5C7E02A-03C2-402C-A3D8-3BDC995CC58B}" dt="2026-09-06T11:36:54.094" v="552" actId="20577"/>
          <ac:graphicFrameMkLst>
            <pc:docMk/>
            <pc:sldMk cId="1572924365" sldId="277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37:57.874" v="571"/>
        <pc:sldMkLst>
          <pc:docMk/>
          <pc:sldMk cId="1450889366" sldId="278"/>
        </pc:sldMkLst>
        <pc:graphicFrameChg chg="mod modGraphic">
          <ac:chgData name="林昌碩" userId="f835a9ca-f231-4ac2-9887-24bf7a4c5c81" providerId="ADAL" clId="{A5C7E02A-03C2-402C-A3D8-3BDC995CC58B}" dt="2026-09-06T11:37:57.874" v="571"/>
          <ac:graphicFrameMkLst>
            <pc:docMk/>
            <pc:sldMk cId="1450889366" sldId="278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6T11:39:00.094" v="610" actId="20577"/>
        <pc:sldMkLst>
          <pc:docMk/>
          <pc:sldMk cId="576673212" sldId="280"/>
        </pc:sldMkLst>
        <pc:graphicFrameChg chg="modGraphic">
          <ac:chgData name="林昌碩" userId="f835a9ca-f231-4ac2-9887-24bf7a4c5c81" providerId="ADAL" clId="{A5C7E02A-03C2-402C-A3D8-3BDC995CC58B}" dt="2026-09-06T11:39:00.094" v="610" actId="20577"/>
          <ac:graphicFrameMkLst>
            <pc:docMk/>
            <pc:sldMk cId="576673212" sldId="280"/>
            <ac:graphicFrameMk id="4" creationId="{C0235F42-2663-8C24-3B80-1F9E453EE999}"/>
          </ac:graphicFrameMkLst>
        </pc:graphicFrameChg>
      </pc:sldChg>
      <pc:sldChg chg="modSp mod">
        <pc:chgData name="林昌碩" userId="f835a9ca-f231-4ac2-9887-24bf7a4c5c81" providerId="ADAL" clId="{A5C7E02A-03C2-402C-A3D8-3BDC995CC58B}" dt="2026-09-03T15:02:35.767" v="279" actId="20577"/>
        <pc:sldMkLst>
          <pc:docMk/>
          <pc:sldMk cId="549667396" sldId="281"/>
        </pc:sldMkLst>
        <pc:spChg chg="mod">
          <ac:chgData name="林昌碩" userId="f835a9ca-f231-4ac2-9887-24bf7a4c5c81" providerId="ADAL" clId="{A5C7E02A-03C2-402C-A3D8-3BDC995CC58B}" dt="2026-09-03T15:02:35.767" v="279" actId="20577"/>
          <ac:spMkLst>
            <pc:docMk/>
            <pc:sldMk cId="549667396" sldId="281"/>
            <ac:spMk id="3" creationId="{8BF01BFD-F826-5242-A18C-0A67A7AE0ED3}"/>
          </ac:spMkLst>
        </pc:spChg>
      </pc:sldChg>
      <pc:sldChg chg="modSp new mod">
        <pc:chgData name="林昌碩" userId="f835a9ca-f231-4ac2-9887-24bf7a4c5c81" providerId="ADAL" clId="{A5C7E02A-03C2-402C-A3D8-3BDC995CC58B}" dt="2026-09-03T14:54:50.172" v="190" actId="20577"/>
        <pc:sldMkLst>
          <pc:docMk/>
          <pc:sldMk cId="4068517979" sldId="284"/>
        </pc:sldMkLst>
        <pc:spChg chg="mod">
          <ac:chgData name="林昌碩" userId="f835a9ca-f231-4ac2-9887-24bf7a4c5c81" providerId="ADAL" clId="{A5C7E02A-03C2-402C-A3D8-3BDC995CC58B}" dt="2026-09-03T13:56:41.526" v="1"/>
          <ac:spMkLst>
            <pc:docMk/>
            <pc:sldMk cId="4068517979" sldId="284"/>
            <ac:spMk id="2" creationId="{0ED6F3BE-B803-B5EC-1617-C466331829B3}"/>
          </ac:spMkLst>
        </pc:spChg>
        <pc:spChg chg="mod">
          <ac:chgData name="林昌碩" userId="f835a9ca-f231-4ac2-9887-24bf7a4c5c81" providerId="ADAL" clId="{A5C7E02A-03C2-402C-A3D8-3BDC995CC58B}" dt="2026-09-03T14:54:50.172" v="190" actId="20577"/>
          <ac:spMkLst>
            <pc:docMk/>
            <pc:sldMk cId="4068517979" sldId="284"/>
            <ac:spMk id="3" creationId="{2203A6F3-7591-BB93-B004-F94F06846F10}"/>
          </ac:spMkLst>
        </pc:spChg>
      </pc:sldChg>
      <pc:sldChg chg="modSp add mod">
        <pc:chgData name="林昌碩" userId="f835a9ca-f231-4ac2-9887-24bf7a4c5c81" providerId="ADAL" clId="{A5C7E02A-03C2-402C-A3D8-3BDC995CC58B}" dt="2026-09-06T10:33:48.154" v="293" actId="14100"/>
        <pc:sldMkLst>
          <pc:docMk/>
          <pc:sldMk cId="3865237457" sldId="285"/>
        </pc:sldMkLst>
        <pc:spChg chg="mod">
          <ac:chgData name="林昌碩" userId="f835a9ca-f231-4ac2-9887-24bf7a4c5c81" providerId="ADAL" clId="{A5C7E02A-03C2-402C-A3D8-3BDC995CC58B}" dt="2026-09-06T10:33:48.154" v="293" actId="14100"/>
          <ac:spMkLst>
            <pc:docMk/>
            <pc:sldMk cId="3865237457" sldId="285"/>
            <ac:spMk id="4" creationId="{33369E81-10F8-C85C-B54B-2D127CEC285B}"/>
          </ac:spMkLst>
        </pc:spChg>
      </pc:sldChg>
      <pc:sldChg chg="addSp delSp modSp new mod modAnim">
        <pc:chgData name="林昌碩" userId="f835a9ca-f231-4ac2-9887-24bf7a4c5c81" providerId="ADAL" clId="{A5C7E02A-03C2-402C-A3D8-3BDC995CC58B}" dt="2026-09-06T10:35:33.604" v="295"/>
        <pc:sldMkLst>
          <pc:docMk/>
          <pc:sldMk cId="2103117887" sldId="286"/>
        </pc:sldMkLst>
        <pc:spChg chg="del mod">
          <ac:chgData name="林昌碩" userId="f835a9ca-f231-4ac2-9887-24bf7a4c5c81" providerId="ADAL" clId="{A5C7E02A-03C2-402C-A3D8-3BDC995CC58B}" dt="2026-09-03T14:45:03.929" v="127" actId="478"/>
          <ac:spMkLst>
            <pc:docMk/>
            <pc:sldMk cId="2103117887" sldId="286"/>
            <ac:spMk id="2" creationId="{FCE54425-9445-3B5D-E4AD-B98C58C919B9}"/>
          </ac:spMkLst>
        </pc:spChg>
        <pc:spChg chg="mod">
          <ac:chgData name="林昌碩" userId="f835a9ca-f231-4ac2-9887-24bf7a4c5c81" providerId="ADAL" clId="{A5C7E02A-03C2-402C-A3D8-3BDC995CC58B}" dt="2026-09-03T14:31:32.014" v="107" actId="403"/>
          <ac:spMkLst>
            <pc:docMk/>
            <pc:sldMk cId="2103117887" sldId="286"/>
            <ac:spMk id="3" creationId="{9FD39236-3E69-60C4-639E-E2D9278A90CF}"/>
          </ac:spMkLst>
        </pc:spChg>
        <pc:spChg chg="add del mod">
          <ac:chgData name="林昌碩" userId="f835a9ca-f231-4ac2-9887-24bf7a4c5c81" providerId="ADAL" clId="{A5C7E02A-03C2-402C-A3D8-3BDC995CC58B}" dt="2026-09-03T14:45:05.466" v="128" actId="478"/>
          <ac:spMkLst>
            <pc:docMk/>
            <pc:sldMk cId="2103117887" sldId="286"/>
            <ac:spMk id="5" creationId="{3248BBAB-59C7-2FA6-F387-83D6B01ACE8D}"/>
          </ac:spMkLst>
        </pc:spChg>
      </pc:sldChg>
      <pc:sldChg chg="add del">
        <pc:chgData name="林昌碩" userId="f835a9ca-f231-4ac2-9887-24bf7a4c5c81" providerId="ADAL" clId="{A5C7E02A-03C2-402C-A3D8-3BDC995CC58B}" dt="2026-09-03T14:47:00.678" v="130" actId="2696"/>
        <pc:sldMkLst>
          <pc:docMk/>
          <pc:sldMk cId="785758491" sldId="287"/>
        </pc:sldMkLst>
      </pc:sldChg>
      <pc:sldChg chg="modSp add mod">
        <pc:chgData name="林昌碩" userId="f835a9ca-f231-4ac2-9887-24bf7a4c5c81" providerId="ADAL" clId="{A5C7E02A-03C2-402C-A3D8-3BDC995CC58B}" dt="2026-09-03T14:47:28.029" v="175" actId="6549"/>
        <pc:sldMkLst>
          <pc:docMk/>
          <pc:sldMk cId="955206565" sldId="287"/>
        </pc:sldMkLst>
        <pc:spChg chg="mod">
          <ac:chgData name="林昌碩" userId="f835a9ca-f231-4ac2-9887-24bf7a4c5c81" providerId="ADAL" clId="{A5C7E02A-03C2-402C-A3D8-3BDC995CC58B}" dt="2026-09-03T14:47:28.029" v="175" actId="6549"/>
          <ac:spMkLst>
            <pc:docMk/>
            <pc:sldMk cId="955206565" sldId="287"/>
            <ac:spMk id="4" creationId="{33369E81-10F8-C85C-B54B-2D127CEC285B}"/>
          </ac:spMkLst>
        </pc:spChg>
      </pc:sldChg>
      <pc:sldChg chg="addSp delSp modSp new mod">
        <pc:chgData name="林昌碩" userId="f835a9ca-f231-4ac2-9887-24bf7a4c5c81" providerId="ADAL" clId="{A5C7E02A-03C2-402C-A3D8-3BDC995CC58B}" dt="2026-09-03T14:51:38.436" v="186" actId="14734"/>
        <pc:sldMkLst>
          <pc:docMk/>
          <pc:sldMk cId="3040123477" sldId="288"/>
        </pc:sldMkLst>
        <pc:spChg chg="del">
          <ac:chgData name="林昌碩" userId="f835a9ca-f231-4ac2-9887-24bf7a4c5c81" providerId="ADAL" clId="{A5C7E02A-03C2-402C-A3D8-3BDC995CC58B}" dt="2026-09-03T14:50:59.590" v="180" actId="478"/>
          <ac:spMkLst>
            <pc:docMk/>
            <pc:sldMk cId="3040123477" sldId="288"/>
            <ac:spMk id="2" creationId="{7120535F-781F-974C-C373-C7781433124E}"/>
          </ac:spMkLst>
        </pc:spChg>
        <pc:spChg chg="add del">
          <ac:chgData name="林昌碩" userId="f835a9ca-f231-4ac2-9887-24bf7a4c5c81" providerId="ADAL" clId="{A5C7E02A-03C2-402C-A3D8-3BDC995CC58B}" dt="2026-09-03T14:50:57.249" v="179" actId="3680"/>
          <ac:spMkLst>
            <pc:docMk/>
            <pc:sldMk cId="3040123477" sldId="288"/>
            <ac:spMk id="3" creationId="{B95796AC-5031-D8A0-9250-41F15D1CA532}"/>
          </ac:spMkLst>
        </pc:spChg>
        <pc:graphicFrameChg chg="add del mod ord modGraphic">
          <ac:chgData name="林昌碩" userId="f835a9ca-f231-4ac2-9887-24bf7a4c5c81" providerId="ADAL" clId="{A5C7E02A-03C2-402C-A3D8-3BDC995CC58B}" dt="2026-09-03T14:50:50.566" v="178" actId="3680"/>
          <ac:graphicFrameMkLst>
            <pc:docMk/>
            <pc:sldMk cId="3040123477" sldId="288"/>
            <ac:graphicFrameMk id="4" creationId="{D8FDEA5D-E2D0-3AA5-B57A-CAE8E8D6F119}"/>
          </ac:graphicFrameMkLst>
        </pc:graphicFrameChg>
        <pc:graphicFrameChg chg="add mod ord modGraphic">
          <ac:chgData name="林昌碩" userId="f835a9ca-f231-4ac2-9887-24bf7a4c5c81" providerId="ADAL" clId="{A5C7E02A-03C2-402C-A3D8-3BDC995CC58B}" dt="2026-09-03T14:51:38.436" v="186" actId="14734"/>
          <ac:graphicFrameMkLst>
            <pc:docMk/>
            <pc:sldMk cId="3040123477" sldId="288"/>
            <ac:graphicFrameMk id="5" creationId="{A6B6B95E-D762-1F9E-723E-2BE1A8652ECD}"/>
          </ac:graphicFrameMkLst>
        </pc:graphicFrameChg>
      </pc:sldChg>
      <pc:sldChg chg="modSp add mod">
        <pc:chgData name="林昌碩" userId="f835a9ca-f231-4ac2-9887-24bf7a4c5c81" providerId="ADAL" clId="{A5C7E02A-03C2-402C-A3D8-3BDC995CC58B}" dt="2026-09-06T11:11:08.380" v="298" actId="242"/>
        <pc:sldMkLst>
          <pc:docMk/>
          <pc:sldMk cId="3479654675" sldId="289"/>
        </pc:sldMkLst>
        <pc:spChg chg="mod">
          <ac:chgData name="林昌碩" userId="f835a9ca-f231-4ac2-9887-24bf7a4c5c81" providerId="ADAL" clId="{A5C7E02A-03C2-402C-A3D8-3BDC995CC58B}" dt="2026-09-06T11:11:08.380" v="298" actId="242"/>
          <ac:spMkLst>
            <pc:docMk/>
            <pc:sldMk cId="3479654675" sldId="289"/>
            <ac:spMk id="4" creationId="{33369E81-10F8-C85C-B54B-2D127CEC285B}"/>
          </ac:spMkLst>
        </pc:spChg>
      </pc:sldChg>
      <pc:sldChg chg="modSp add mod">
        <pc:chgData name="林昌碩" userId="f835a9ca-f231-4ac2-9887-24bf7a4c5c81" providerId="ADAL" clId="{A5C7E02A-03C2-402C-A3D8-3BDC995CC58B}" dt="2026-09-06T11:12:02.654" v="301" actId="242"/>
        <pc:sldMkLst>
          <pc:docMk/>
          <pc:sldMk cId="861401167" sldId="290"/>
        </pc:sldMkLst>
        <pc:spChg chg="mod">
          <ac:chgData name="林昌碩" userId="f835a9ca-f231-4ac2-9887-24bf7a4c5c81" providerId="ADAL" clId="{A5C7E02A-03C2-402C-A3D8-3BDC995CC58B}" dt="2026-09-06T11:12:02.654" v="301" actId="242"/>
          <ac:spMkLst>
            <pc:docMk/>
            <pc:sldMk cId="861401167" sldId="290"/>
            <ac:spMk id="4" creationId="{33369E81-10F8-C85C-B54B-2D127CEC285B}"/>
          </ac:spMkLst>
        </pc:spChg>
      </pc:sldChg>
      <pc:sldChg chg="add del">
        <pc:chgData name="林昌碩" userId="f835a9ca-f231-4ac2-9887-24bf7a4c5c81" providerId="ADAL" clId="{A5C7E02A-03C2-402C-A3D8-3BDC995CC58B}" dt="2026-09-06T10:32:40.130" v="288" actId="47"/>
        <pc:sldMkLst>
          <pc:docMk/>
          <pc:sldMk cId="3054455853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B1B1A-D4B6-4ADF-B07A-0D0E13863EDA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A6920-DD9F-4D64-B6D3-1315A95C5D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8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Font typeface="Symbol"/>
              <a:buNone/>
              <a:tabLst>
                <a:tab pos="457200" algn="l"/>
              </a:tabLst>
            </a:pPr>
            <a:endParaRPr sz="1800" kern="100" dirty="0"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4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sz="1800" dirty="0">
              <a:latin typeface="Aptos"/>
              <a:ea typeface="Aptos"/>
              <a:cs typeface="Apto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79461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947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44216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10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25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49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58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26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080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84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10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0C788F2-FDDF-4D68-8667-D62AA49C5A03}" type="datetimeFigureOut">
              <a:rPr lang="zh-TW" altLang="en-US" smtClean="0"/>
              <a:t>2026/9/21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44B7635-9039-44B3-88C6-630F51D7EF9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065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3369E81-10F8-C85C-B54B-2D127CEC2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130300"/>
            <a:ext cx="8361229" cy="4572000"/>
          </a:xfrm>
        </p:spPr>
        <p:txBody>
          <a:bodyPr anchor="ctr"/>
          <a:lstStyle/>
          <a:p>
            <a:r>
              <a:rPr lang="zh-TW" altLang="en-US" sz="5400" dirty="0"/>
              <a:t>會計 </a:t>
            </a:r>
            <a:r>
              <a:rPr lang="en-US" altLang="zh-TW" sz="5400" dirty="0"/>
              <a:t>ACCOUNTING</a:t>
            </a:r>
            <a:r>
              <a:rPr lang="zh-TW" altLang="en-US" sz="5400" dirty="0"/>
              <a:t> 是什麼？</a:t>
            </a:r>
          </a:p>
        </p:txBody>
      </p:sp>
    </p:spTree>
    <p:extLst>
      <p:ext uri="{BB962C8B-B14F-4D97-AF65-F5344CB8AC3E}">
        <p14:creationId xmlns:p14="http://schemas.microsoft.com/office/powerpoint/2010/main" val="417950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D6F3BE-B803-B5EC-1617-C46633182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Accounting</a:t>
            </a:r>
            <a:r>
              <a:rPr lang="zh-TW" altLang="en-US" dirty="0"/>
              <a:t>：企業的語言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3A6F3-7591-BB93-B004-F94F0684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3200" dirty="0"/>
              <a:t>會計不只是「記帳」，而是：</a:t>
            </a:r>
            <a:endParaRPr lang="en-US" altLang="zh-TW" sz="3200" dirty="0"/>
          </a:p>
          <a:p>
            <a:pPr marL="530352" lvl="1" indent="0">
              <a:buNone/>
            </a:pPr>
            <a:endParaRPr lang="en-US" altLang="zh-TW" sz="3200" dirty="0"/>
          </a:p>
          <a:p>
            <a:pPr marL="530352" lvl="1" indent="0">
              <a:buNone/>
            </a:pPr>
            <a:r>
              <a:rPr lang="zh-TW" altLang="en-US" sz="3200" dirty="0"/>
              <a:t>將企業發生的經濟活動，轉換成可以理解、比較與決策的資訊。</a:t>
            </a:r>
            <a:endParaRPr lang="en-US" altLang="zh-TW" sz="3200" dirty="0"/>
          </a:p>
          <a:p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406851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3369E81-10F8-C85C-B54B-2D127CEC2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130300"/>
            <a:ext cx="8879872" cy="4572000"/>
          </a:xfrm>
        </p:spPr>
        <p:txBody>
          <a:bodyPr anchor="ctr"/>
          <a:lstStyle/>
          <a:p>
            <a:r>
              <a:rPr lang="zh-TW" altLang="en-US" sz="6000" dirty="0"/>
              <a:t>會計學回答了什麼問題？</a:t>
            </a:r>
          </a:p>
        </p:txBody>
      </p:sp>
    </p:spTree>
    <p:extLst>
      <p:ext uri="{BB962C8B-B14F-4D97-AF65-F5344CB8AC3E}">
        <p14:creationId xmlns:p14="http://schemas.microsoft.com/office/powerpoint/2010/main" val="386523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D39236-3E69-60C4-639E-E2D9278A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sz="4800" dirty="0"/>
              <a:t>企業擁有多少錢？</a:t>
            </a:r>
            <a:endParaRPr lang="en-US" altLang="zh-TW" sz="4800" dirty="0"/>
          </a:p>
          <a:p>
            <a:pPr marL="0" indent="0" algn="ctr">
              <a:buNone/>
            </a:pPr>
            <a:endParaRPr lang="en-US" altLang="zh-TW" sz="4800" dirty="0"/>
          </a:p>
          <a:p>
            <a:pPr marL="0" indent="0" algn="ctr">
              <a:buNone/>
            </a:pPr>
            <a:r>
              <a:rPr lang="zh-TW" altLang="en-US" sz="4800" dirty="0"/>
              <a:t>企業賺了多少錢？</a:t>
            </a:r>
            <a:endParaRPr lang="en-US" altLang="zh-TW" sz="4800" dirty="0"/>
          </a:p>
          <a:p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0311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3369E81-10F8-C85C-B54B-2D127CEC2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879872" cy="2212046"/>
          </a:xfrm>
        </p:spPr>
        <p:txBody>
          <a:bodyPr/>
          <a:lstStyle/>
          <a:p>
            <a:r>
              <a:rPr lang="zh-TW" altLang="en-US" sz="6000" dirty="0"/>
              <a:t>哪些人關心這些問題？</a:t>
            </a:r>
          </a:p>
        </p:txBody>
      </p:sp>
    </p:spTree>
    <p:extLst>
      <p:ext uri="{BB962C8B-B14F-4D97-AF65-F5344CB8AC3E}">
        <p14:creationId xmlns:p14="http://schemas.microsoft.com/office/powerpoint/2010/main" val="955206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A6B6B95E-D762-1F9E-723E-2BE1A8652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525341"/>
              </p:ext>
            </p:extLst>
          </p:nvPr>
        </p:nvGraphicFramePr>
        <p:xfrm>
          <a:off x="1371600" y="533400"/>
          <a:ext cx="9601200" cy="5289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>
                  <a:extLst>
                    <a:ext uri="{9D8B030D-6E8A-4147-A177-3AD203B41FA5}">
                      <a16:colId xmlns:a16="http://schemas.microsoft.com/office/drawing/2014/main" val="4122876562"/>
                    </a:ext>
                  </a:extLst>
                </a:gridCol>
                <a:gridCol w="6210300">
                  <a:extLst>
                    <a:ext uri="{9D8B030D-6E8A-4147-A177-3AD203B41FA5}">
                      <a16:colId xmlns:a16="http://schemas.microsoft.com/office/drawing/2014/main" val="2609963291"/>
                    </a:ext>
                  </a:extLst>
                </a:gridCol>
              </a:tblGrid>
              <a:tr h="661194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資訊使用者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/>
                        <a:t>最關心的問題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954065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經營者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哪些產品最賺錢？成本能否降低？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615867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投資人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公司是否值得投資？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91018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/>
                        <a:t>銀行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公司能不能按時還款？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056409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/>
                        <a:t>供應商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是否可以讓公司賒購？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909756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/>
                        <a:t>員工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公司是否穩定？能否加薪？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304297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/>
                        <a:t>政府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是否依法申報及繳稅？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499231"/>
                  </a:ext>
                </a:extLst>
              </a:tr>
              <a:tr h="661194">
                <a:tc>
                  <a:txBody>
                    <a:bodyPr/>
                    <a:lstStyle/>
                    <a:p>
                      <a:r>
                        <a:rPr lang="zh-TW" altLang="en-US" sz="2400"/>
                        <a:t>顧客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公司是否能長期提供產品或服務？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801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12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3369E81-10F8-C85C-B54B-2D127CEC2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130300"/>
            <a:ext cx="8879872" cy="4584700"/>
          </a:xfrm>
        </p:spPr>
        <p:txBody>
          <a:bodyPr anchor="ctr"/>
          <a:lstStyle/>
          <a:p>
            <a:r>
              <a:rPr lang="zh-TW" altLang="en-US" sz="6000" dirty="0"/>
              <a:t>會計學如何回答這些問題？</a:t>
            </a:r>
          </a:p>
        </p:txBody>
      </p:sp>
    </p:spTree>
    <p:extLst>
      <p:ext uri="{BB962C8B-B14F-4D97-AF65-F5344CB8AC3E}">
        <p14:creationId xmlns:p14="http://schemas.microsoft.com/office/powerpoint/2010/main" val="347965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06E2CC-01A5-3033-50CD-194E5BBA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會計學的三大活動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6E52E5-5DA2-A095-0289-EA9678AA0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認列 </a:t>
            </a:r>
            <a:r>
              <a:rPr lang="en-US" altLang="zh-TW" sz="3200" dirty="0"/>
              <a:t>(Recognition)</a:t>
            </a:r>
            <a:r>
              <a:rPr lang="zh-TW" altLang="en-US" sz="3200" dirty="0"/>
              <a:t>：判斷是否為財務資訊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記錄 </a:t>
            </a:r>
            <a:r>
              <a:rPr lang="en-US" altLang="zh-TW" sz="3200" dirty="0"/>
              <a:t>(Recording)</a:t>
            </a:r>
            <a:r>
              <a:rPr lang="zh-TW" altLang="en-US" sz="3200" dirty="0"/>
              <a:t>：將影響逐筆記錄、分類、彙總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報導 </a:t>
            </a:r>
            <a:r>
              <a:rPr lang="en-US" altLang="zh-TW" sz="3200" dirty="0"/>
              <a:t>(Reporting)</a:t>
            </a:r>
            <a:r>
              <a:rPr lang="zh-TW" altLang="en-US" sz="3200" dirty="0"/>
              <a:t>：以財務報表溝通資訊</a:t>
            </a:r>
          </a:p>
        </p:txBody>
      </p:sp>
    </p:spTree>
    <p:extLst>
      <p:ext uri="{BB962C8B-B14F-4D97-AF65-F5344CB8AC3E}">
        <p14:creationId xmlns:p14="http://schemas.microsoft.com/office/powerpoint/2010/main" val="426716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3369E81-10F8-C85C-B54B-2D127CEC2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123950"/>
            <a:ext cx="8879872" cy="4584700"/>
          </a:xfrm>
        </p:spPr>
        <p:txBody>
          <a:bodyPr anchor="ctr"/>
          <a:lstStyle/>
          <a:p>
            <a:r>
              <a:rPr lang="zh-TW" altLang="en-US" sz="6000" dirty="0"/>
              <a:t>會計學如何運作？</a:t>
            </a:r>
          </a:p>
        </p:txBody>
      </p:sp>
    </p:spTree>
    <p:extLst>
      <p:ext uri="{BB962C8B-B14F-4D97-AF65-F5344CB8AC3E}">
        <p14:creationId xmlns:p14="http://schemas.microsoft.com/office/powerpoint/2010/main" val="86140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386C1E2F-A643-4E64-81B3-DB3228E7287C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什麼是商業交易？</a:t>
            </a:r>
          </a:p>
        </p:txBody>
      </p:sp>
      <p:sp>
        <p:nvSpPr>
          <p:cNvPr id="2" name="交易（Transaction）會影響">
            <a:extLst>
              <a:ext uri="{FF2B5EF4-FFF2-40B4-BE49-F238E27FC236}">
                <a16:creationId xmlns:a16="http://schemas.microsoft.com/office/drawing/2014/main" id="{1CB4D0E1-BEF4-4A87-BB50-4A2791761E3E}"/>
              </a:ext>
            </a:extLst>
          </p:cNvPr>
          <p:cNvSpPr>
            <a:spLocks noGrp="1"/>
          </p:cNvSpPr>
          <p:nvPr/>
        </p:nvSpPr>
        <p:spPr>
          <a:xfrm>
            <a:off x="1371600" y="1724025"/>
            <a:ext cx="9810750" cy="4404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</a:t>
            </a:r>
            <a:r>
              <a:rPr lang="zh-TW" altLang="en-US"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Transaction</a:t>
            </a:r>
            <a:r>
              <a:rPr lang="en-US" altLang="zh-TW"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會</a:t>
            </a:r>
            <a:r>
              <a:rPr sz="25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影響企業財務</a:t>
            </a: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，且</a:t>
            </a:r>
            <a:r>
              <a:rPr sz="25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金額</a:t>
            </a: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可</a:t>
            </a:r>
            <a:r>
              <a:rPr lang="zh-TW" altLang="en-US"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以</a:t>
            </a:r>
            <a:r>
              <a:rPr sz="25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可靠衡量</a:t>
            </a:r>
            <a:r>
              <a:rPr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3" name="交易使企業的資源或對資源的請求權發生">
            <a:extLst>
              <a:ext uri="{FF2B5EF4-FFF2-40B4-BE49-F238E27FC236}">
                <a16:creationId xmlns:a16="http://schemas.microsoft.com/office/drawing/2014/main" id="{95CF5AAC-16C4-4D7F-8E59-AE8885E32DD0}"/>
              </a:ext>
            </a:extLst>
          </p:cNvPr>
          <p:cNvSpPr>
            <a:spLocks noGrp="1"/>
          </p:cNvSpPr>
          <p:nvPr/>
        </p:nvSpPr>
        <p:spPr>
          <a:xfrm>
            <a:off x="1371600" y="2393061"/>
            <a:ext cx="9810750" cy="4404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交易使企業的</a:t>
            </a:r>
            <a:r>
              <a:rPr sz="25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資源</a:t>
            </a: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或對資源的</a:t>
            </a:r>
            <a:r>
              <a:rPr sz="25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請求權</a:t>
            </a: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發生</a:t>
            </a:r>
            <a:r>
              <a:rPr sz="25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變動</a:t>
            </a:r>
            <a:r>
              <a:rPr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4" name="例：提供服務、購買設備、借款、支付薪">
            <a:extLst>
              <a:ext uri="{FF2B5EF4-FFF2-40B4-BE49-F238E27FC236}">
                <a16:creationId xmlns:a16="http://schemas.microsoft.com/office/drawing/2014/main" id="{72302C85-47DD-4722-A624-B153D53FAD03}"/>
              </a:ext>
            </a:extLst>
          </p:cNvPr>
          <p:cNvSpPr>
            <a:spLocks noGrp="1"/>
          </p:cNvSpPr>
          <p:nvPr/>
        </p:nvSpPr>
        <p:spPr>
          <a:xfrm>
            <a:off x="1371600" y="3062097"/>
            <a:ext cx="9810750" cy="4404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例：提供服務、購買設備、借款、支付薪資。</a:t>
            </a:r>
          </a:p>
        </p:txBody>
      </p:sp>
      <p:sp>
        <p:nvSpPr>
          <p:cNvPr id="5" name="記錄時須反映交易的完整影響，不能只記">
            <a:extLst>
              <a:ext uri="{FF2B5EF4-FFF2-40B4-BE49-F238E27FC236}">
                <a16:creationId xmlns:a16="http://schemas.microsoft.com/office/drawing/2014/main" id="{29C09D59-E605-4429-97E9-392AF8D5D559}"/>
              </a:ext>
            </a:extLst>
          </p:cNvPr>
          <p:cNvSpPr>
            <a:spLocks noGrp="1"/>
          </p:cNvSpPr>
          <p:nvPr/>
        </p:nvSpPr>
        <p:spPr>
          <a:xfrm>
            <a:off x="1371600" y="3731133"/>
            <a:ext cx="9810750" cy="4404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記錄時須反映交易的完整影響，不能只記錄現金收付</a:t>
            </a:r>
            <a:r>
              <a:rPr sz="25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37904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1DF2F340-79F9-4500-9DDF-42A4D06509A9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哪些事件需要入帳？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1371600" y="1752600"/>
          <a:ext cx="9810750" cy="3003804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634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事件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是否入帳？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判斷理由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申請貸款，尚未動用</a:t>
                      </a:r>
                      <a:endParaRPr sz="202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不入帳</a:t>
                      </a:r>
                      <a:endParaRPr sz="202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尚未取得資金或產生借款</a:t>
                      </a:r>
                      <a:endParaRPr sz="202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02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貸款</a:t>
                      </a:r>
                      <a:r>
                        <a:rPr sz="202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銀行撥款給公司</a:t>
                      </a:r>
                      <a:endParaRPr sz="202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入帳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現金與借款負債同時增加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收到訂單，尚未交貨或收款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不入帳</a:t>
                      </a:r>
                      <a:endParaRPr sz="202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尚未履約，也未收取款項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完成服務，客戶下月付款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入帳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應收帳款與服務收入增加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634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股東以私人存款裝修住宅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公司不入帳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屬於股東個人交易</a:t>
                      </a:r>
                      <a:endParaRPr sz="202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99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2CE8A3BC-0C92-4A31-AA92-D184BE11A290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帳戶與會計等式</a:t>
            </a:r>
          </a:p>
        </p:txBody>
      </p:sp>
      <p:sp>
        <p:nvSpPr>
          <p:cNvPr id="2" name="帳戶（Account）：彙整特定項目">
            <a:extLst>
              <a:ext uri="{FF2B5EF4-FFF2-40B4-BE49-F238E27FC236}">
                <a16:creationId xmlns:a16="http://schemas.microsoft.com/office/drawing/2014/main" id="{2063AEEC-D158-48F7-AC91-16EC9D4AB46D}"/>
              </a:ext>
            </a:extLst>
          </p:cNvPr>
          <p:cNvSpPr>
            <a:spLocks noGrp="1"/>
          </p:cNvSpPr>
          <p:nvPr/>
        </p:nvSpPr>
        <p:spPr>
          <a:xfrm>
            <a:off x="1371600" y="1724025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帳戶</a:t>
            </a:r>
            <a:r>
              <a:rPr lang="zh-TW" altLang="en-US"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Account</a:t>
            </a:r>
            <a:r>
              <a:rPr lang="en-US" altLang="zh-TW"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：</a:t>
            </a: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彙整特定項目在一段期間內的增加、減少與餘額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3" name="五大要素：資產 Assets、負債 ">
            <a:extLst>
              <a:ext uri="{FF2B5EF4-FFF2-40B4-BE49-F238E27FC236}">
                <a16:creationId xmlns:a16="http://schemas.microsoft.com/office/drawing/2014/main" id="{F9643283-1D60-4EBA-9952-5D66874825BD}"/>
              </a:ext>
            </a:extLst>
          </p:cNvPr>
          <p:cNvSpPr>
            <a:spLocks noGrp="1"/>
          </p:cNvSpPr>
          <p:nvPr/>
        </p:nvSpPr>
        <p:spPr>
          <a:xfrm>
            <a:off x="1371600" y="2380107"/>
            <a:ext cx="9810750" cy="8549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五大要素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：</a:t>
            </a:r>
            <a:endParaRPr lang="en-US" sz="2475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  <a:p>
            <a:pPr algn="ctr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資產</a:t>
            </a:r>
            <a:r>
              <a:rPr sz="2475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Assets</a:t>
            </a: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、</a:t>
            </a: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負債</a:t>
            </a:r>
            <a:r>
              <a:rPr sz="2475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Liabilities</a:t>
            </a: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、</a:t>
            </a: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</a:t>
            </a:r>
            <a:r>
              <a:rPr sz="2475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Equity</a:t>
            </a:r>
            <a:br>
              <a:rPr lang="en-US" sz="2475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</a:b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收益</a:t>
            </a:r>
            <a:r>
              <a:rPr sz="2475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Income</a:t>
            </a:r>
            <a:r>
              <a:rPr lang="zh-TW" altLang="en-US" sz="2475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、</a:t>
            </a:r>
            <a:r>
              <a:rPr sz="2475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費損</a:t>
            </a:r>
            <a:r>
              <a:rPr sz="2475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Expenses</a:t>
            </a:r>
            <a:endParaRPr sz="2475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資產 = 負債 + 權益&#10;Asset">
            <a:extLst>
              <a:ext uri="{FF2B5EF4-FFF2-40B4-BE49-F238E27FC236}">
                <a16:creationId xmlns:a16="http://schemas.microsoft.com/office/drawing/2014/main" id="{CA5AB3FA-A04D-491C-BD11-BA2978C93152}"/>
              </a:ext>
            </a:extLst>
          </p:cNvPr>
          <p:cNvSpPr>
            <a:spLocks noGrp="1"/>
          </p:cNvSpPr>
          <p:nvPr/>
        </p:nvSpPr>
        <p:spPr>
          <a:xfrm>
            <a:off x="1371600" y="4073271"/>
            <a:ext cx="9810750" cy="8549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資產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= </a:t>
            </a: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負債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+ </a:t>
            </a: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</a:t>
            </a:r>
            <a:endParaRPr sz="2475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  <a:p>
            <a:pPr algn="ctr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Assets = Liabilities + Equity</a:t>
            </a:r>
          </a:p>
        </p:txBody>
      </p:sp>
      <p:sp>
        <p:nvSpPr>
          <p:cNvPr id="5" name="收益增加權益，費損減少權益。帳戶明細">
            <a:extLst>
              <a:ext uri="{FF2B5EF4-FFF2-40B4-BE49-F238E27FC236}">
                <a16:creationId xmlns:a16="http://schemas.microsoft.com/office/drawing/2014/main" id="{A2E97C15-D904-44FF-A1E4-B7E6D214C96B}"/>
              </a:ext>
            </a:extLst>
          </p:cNvPr>
          <p:cNvSpPr>
            <a:spLocks noGrp="1"/>
          </p:cNvSpPr>
          <p:nvPr/>
        </p:nvSpPr>
        <p:spPr>
          <a:xfrm>
            <a:off x="1371600" y="5404485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收益增加權益，費損減少權益</a:t>
            </a: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7815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248DCE45-0824-4639-918C-2FEDE5E3444E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資產帳戶</a:t>
            </a:r>
            <a:r>
              <a:rPr lang="zh-TW" altLang="en-US"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(Assets)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資產是企業控制、且能產生經濟效益的資">
            <a:extLst>
              <a:ext uri="{FF2B5EF4-FFF2-40B4-BE49-F238E27FC236}">
                <a16:creationId xmlns:a16="http://schemas.microsoft.com/office/drawing/2014/main" id="{2DE909EC-09B7-40DE-AD6F-41264985BF92}"/>
              </a:ext>
            </a:extLst>
          </p:cNvPr>
          <p:cNvSpPr>
            <a:spLocks noGrp="1"/>
          </p:cNvSpPr>
          <p:nvPr/>
        </p:nvSpPr>
        <p:spPr>
          <a:xfrm>
            <a:off x="1371600" y="1685925"/>
            <a:ext cx="9810750" cy="388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資產是企業</a:t>
            </a:r>
            <a:r>
              <a:rPr sz="22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控制</a:t>
            </a: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、且能產生</a:t>
            </a:r>
            <a:r>
              <a:rPr sz="22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經濟效益</a:t>
            </a: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的資源</a:t>
            </a:r>
            <a:r>
              <a:rPr sz="22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371600" y="2245995"/>
          <a:ext cx="9804150" cy="3384000"/>
        </p:xfrm>
        <a:graphic>
          <a:graphicData uri="http://schemas.openxmlformats.org/drawingml/2006/table">
            <a:tbl>
              <a:tblPr/>
              <a:tblGrid>
                <a:gridCol w="389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帳戶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意義與例子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企業持有的貨幣與可動用的銀行存款等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應收帳款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Accounts Receivable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已出售商品或提供服務，但尚未收到的款項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應收票據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Notes Receivable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取得書面付款承諾，通常載明到期日與利率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存貨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Inventory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準備出售的商品，或生產中的原料、在製品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78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72846904-F7F3-42FB-9923-857B3CE2DCB2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資產帳戶</a:t>
            </a:r>
            <a:r>
              <a:rPr lang="en-US"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(Assets)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371600" y="1752600"/>
          <a:ext cx="9810750" cy="4104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帳戶</a:t>
                      </a:r>
                      <a:r>
                        <a:rPr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意義與例子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用品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Supplies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供企業營運使用、尚未耗用的辦公用品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預付費用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Prepaid Expenses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先付款但效益尚未用完</a:t>
                      </a:r>
                      <a:endParaRPr lang="en-US"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例如預付租金、保險費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Investments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持有其他企業的股票或債券等資產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不動產、廠房及設備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Property, Plant and Equipment (PPE)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供營運使用且預期使用超過一期</a:t>
                      </a:r>
                      <a:endParaRPr lang="en-US"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例如土地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Land、建築物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Buildings、設備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Equipment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63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F2453A9F-8600-4F51-A607-12D3FB3D8DBB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負債帳戶</a:t>
            </a:r>
            <a:r>
              <a:rPr lang="en-US"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(</a:t>
            </a:r>
            <a:r>
              <a:rPr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Liabilities</a:t>
            </a:r>
            <a:r>
              <a:rPr lang="en-US" sz="300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負債是企業因過去事項而承擔的現時義務">
            <a:extLst>
              <a:ext uri="{FF2B5EF4-FFF2-40B4-BE49-F238E27FC236}">
                <a16:creationId xmlns:a16="http://schemas.microsoft.com/office/drawing/2014/main" id="{3839DD66-16CC-4769-B5B0-C1DA198F4EA1}"/>
              </a:ext>
            </a:extLst>
          </p:cNvPr>
          <p:cNvSpPr>
            <a:spLocks noGrp="1"/>
          </p:cNvSpPr>
          <p:nvPr/>
        </p:nvSpPr>
        <p:spPr>
          <a:xfrm>
            <a:off x="1371600" y="1685925"/>
            <a:ext cx="9810750" cy="388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負債是企業因</a:t>
            </a:r>
            <a:r>
              <a:rPr sz="22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過去事項</a:t>
            </a: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而承擔的</a:t>
            </a:r>
            <a:r>
              <a:rPr sz="22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現時義務</a:t>
            </a:r>
            <a:r>
              <a:rPr sz="22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371600" y="2245995"/>
          <a:ext cx="9810750" cy="2844000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帳戶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意義與例子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應付帳款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Accounts Payable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賒購商品、用品或服務後，尚未支付的款項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應付票據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Notes Payable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簽發票據承諾未來付款，通常附有利息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應計負債 Accrued Liabilities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費用已發生但尚未支付</a:t>
                      </a:r>
                      <a:r>
                        <a:rPr lang="zh-TW" altLang="en-US"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，</a:t>
                      </a:r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例如應付薪資</a:t>
                      </a:r>
                      <a:r>
                        <a:rPr lang="en-US"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Salary </a:t>
                      </a:r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Payable、應付利息</a:t>
                      </a:r>
                      <a:r>
                        <a:rPr lang="en-US"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Interest</a:t>
                      </a:r>
                      <a:r>
                        <a:rPr lang="en-US"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Payable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186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5261A2C5-597E-4FBB-B5BF-3CEF5FD88648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權益帳戶</a:t>
            </a:r>
            <a:r>
              <a:rPr lang="en-US"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(</a:t>
            </a:r>
            <a:r>
              <a:rPr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Equity</a:t>
            </a:r>
            <a:r>
              <a:rPr lang="en-US" sz="300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權益是資產扣除負債後，歸屬業主的剩餘">
            <a:extLst>
              <a:ext uri="{FF2B5EF4-FFF2-40B4-BE49-F238E27FC236}">
                <a16:creationId xmlns:a16="http://schemas.microsoft.com/office/drawing/2014/main" id="{6B989B28-7D2C-46F0-AAE1-DA7F53F16174}"/>
              </a:ext>
            </a:extLst>
          </p:cNvPr>
          <p:cNvSpPr>
            <a:spLocks noGrp="1"/>
          </p:cNvSpPr>
          <p:nvPr/>
        </p:nvSpPr>
        <p:spPr>
          <a:xfrm>
            <a:off x="1371600" y="1685925"/>
            <a:ext cx="9810750" cy="388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權益是資產扣除負債後，歸屬</a:t>
            </a:r>
            <a:r>
              <a:rPr sz="225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業主的剩餘權益</a:t>
            </a:r>
            <a:r>
              <a:rPr sz="22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371600" y="2245995"/>
          <a:ext cx="9810750" cy="2627604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帳戶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意義與影響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股本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Share Capital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股東投入公司並取得股份的金額，增加權益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586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保留盈餘 Retained Earnings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累積淨利減累積淨損及股利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；</a:t>
                      </a:r>
                      <a:endParaRPr lang="en-US"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虧損累積時可能為負數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18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股利 Dividends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分配給股東的金額，減少保留盈餘與權益</a:t>
                      </a:r>
                      <a:endParaRPr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權益是資產扣除負債後，歸屬業主的剩餘">
            <a:extLst>
              <a:ext uri="{FF2B5EF4-FFF2-40B4-BE49-F238E27FC236}">
                <a16:creationId xmlns:a16="http://schemas.microsoft.com/office/drawing/2014/main" id="{91F1AD12-402E-255A-0C38-67A2BD82FC54}"/>
              </a:ext>
            </a:extLst>
          </p:cNvPr>
          <p:cNvSpPr>
            <a:spLocks noGrp="1"/>
          </p:cNvSpPr>
          <p:nvPr/>
        </p:nvSpPr>
        <p:spPr>
          <a:xfrm>
            <a:off x="1371600" y="5101893"/>
            <a:ext cx="9810750" cy="11084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</a:t>
            </a:r>
            <a:r>
              <a:rPr lang="zh-TW" altLang="en-US" sz="225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可以為負值，</a:t>
            </a:r>
            <a:r>
              <a:rPr lang="zh-TW" altLang="en-US" sz="22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負淨值表示累積虧損已侵蝕股東投入的資本</a:t>
            </a:r>
            <a:endParaRPr lang="en-US" altLang="zh-TW" sz="225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2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保留盈餘可以為負值，通常稱為「累積虧損」 </a:t>
            </a:r>
            <a:r>
              <a:rPr lang="en-US" altLang="zh-TW" sz="225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(Accumulated Deficit</a:t>
            </a:r>
            <a:r>
              <a:rPr lang="en-US" altLang="zh-TW" sz="225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</a:p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25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公司必須先彌補累積虧損，才可以將剩餘盈餘分配為股利</a:t>
            </a:r>
            <a:endParaRPr lang="en-US" altLang="zh-TW" sz="225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endParaRPr sz="225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3346801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F69657AA-5C83-45E8-8B6E-D530435C262D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收益與費損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1371600" y="1752600"/>
          <a:ext cx="9810750" cy="44640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常見帳戶與影響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收益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Income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增加權益，</a:t>
                      </a:r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包含收入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Revenue </a:t>
                      </a:r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與利益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Gains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Revenue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Sales </a:t>
                      </a:r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Revenue、服務收入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Service Revenue、</a:t>
                      </a:r>
                    </a:p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利息收入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Interest Income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、租金收入 </a:t>
                      </a:r>
                      <a:r>
                        <a:rPr 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Rental Income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利益 Gains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例如出售營業用土地的處分利益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Gain on Sale of Land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費損 Expenses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減少權益，例如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銷貨成本 </a:t>
                      </a:r>
                      <a:r>
                        <a:rPr 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Cost of Goods Sold、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薪資費用 </a:t>
                      </a:r>
                      <a:r>
                        <a:rPr lang="en-US" altLang="zh-TW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Salary Expense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、租金費用 </a:t>
                      </a:r>
                      <a:r>
                        <a:rPr lang="en-US" altLang="zh-TW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Rent Expense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、水電費 </a:t>
                      </a:r>
                      <a:r>
                        <a:rPr lang="en-US" altLang="zh-TW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Utilities Expense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、廣告費 </a:t>
                      </a:r>
                      <a:r>
                        <a:rPr 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Advertising Expense、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保險費 </a:t>
                      </a:r>
                      <a:r>
                        <a:rPr 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Insurance Expense、</a:t>
                      </a:r>
                      <a:r>
                        <a:rPr lang="zh-TW" alt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所得稅費用 </a:t>
                      </a:r>
                      <a:r>
                        <a:rPr lang="en-US"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Income Tax Expense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655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C8F1759C-BDCC-45D2-8092-F6167CBAA600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權益與保留盈餘的關係</a:t>
            </a:r>
          </a:p>
        </p:txBody>
      </p:sp>
      <p:sp>
        <p:nvSpPr>
          <p:cNvPr id="2" name="本章簡化模型：期末權益 = 期末股本">
            <a:extLst>
              <a:ext uri="{FF2B5EF4-FFF2-40B4-BE49-F238E27FC236}">
                <a16:creationId xmlns:a16="http://schemas.microsoft.com/office/drawing/2014/main" id="{BF957B6D-8EEC-4424-879A-1711AAFCAC3A}"/>
              </a:ext>
            </a:extLst>
          </p:cNvPr>
          <p:cNvSpPr>
            <a:spLocks noGrp="1"/>
          </p:cNvSpPr>
          <p:nvPr/>
        </p:nvSpPr>
        <p:spPr>
          <a:xfrm>
            <a:off x="1371600" y="1724025"/>
            <a:ext cx="9810750" cy="4145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期末權益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= </a:t>
            </a:r>
            <a:r>
              <a:rPr sz="24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期末股本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+ </a:t>
            </a:r>
            <a:r>
              <a:rPr sz="24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期末保留盈餘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3" name="期末保留盈餘 = 期初保留盈餘 + ">
            <a:extLst>
              <a:ext uri="{FF2B5EF4-FFF2-40B4-BE49-F238E27FC236}">
                <a16:creationId xmlns:a16="http://schemas.microsoft.com/office/drawing/2014/main" id="{5A42965B-4B7F-4E03-BD7D-599D129259E6}"/>
              </a:ext>
            </a:extLst>
          </p:cNvPr>
          <p:cNvSpPr>
            <a:spLocks noGrp="1"/>
          </p:cNvSpPr>
          <p:nvPr/>
        </p:nvSpPr>
        <p:spPr>
          <a:xfrm>
            <a:off x="1371600" y="2367153"/>
            <a:ext cx="9810750" cy="4145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期末保留盈餘 = 期初保留盈餘 + 本期淨利 − 本期股利。</a:t>
            </a:r>
          </a:p>
        </p:txBody>
      </p:sp>
      <p:sp>
        <p:nvSpPr>
          <p:cNvPr id="4" name="本期淨利（Net Income）= ">
            <a:extLst>
              <a:ext uri="{FF2B5EF4-FFF2-40B4-BE49-F238E27FC236}">
                <a16:creationId xmlns:a16="http://schemas.microsoft.com/office/drawing/2014/main" id="{EF8F6025-A753-471C-ADBD-662F6BF0DB72}"/>
              </a:ext>
            </a:extLst>
          </p:cNvPr>
          <p:cNvSpPr>
            <a:spLocks noGrp="1"/>
          </p:cNvSpPr>
          <p:nvPr/>
        </p:nvSpPr>
        <p:spPr>
          <a:xfrm>
            <a:off x="1371600" y="3010281"/>
            <a:ext cx="9810750" cy="4145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本期淨利</a:t>
            </a:r>
            <a:r>
              <a:rPr lang="zh-TW" altLang="en-US"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Net Income</a:t>
            </a:r>
            <a:r>
              <a:rPr lang="en-US" altLang="zh-TW"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= </a:t>
            </a:r>
            <a:r>
              <a:rPr sz="24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收益</a:t>
            </a:r>
            <a:r>
              <a:rPr lang="zh-TW" altLang="en-US"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− </a:t>
            </a:r>
            <a:r>
              <a:rPr sz="24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費損</a:t>
            </a:r>
            <a:r>
              <a:rPr sz="24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5" name="股東投入與股利屬業主交易，不列入本期">
            <a:extLst>
              <a:ext uri="{FF2B5EF4-FFF2-40B4-BE49-F238E27FC236}">
                <a16:creationId xmlns:a16="http://schemas.microsoft.com/office/drawing/2014/main" id="{352BB0CC-C9C7-4CD9-99E8-B94E28490D3A}"/>
              </a:ext>
            </a:extLst>
          </p:cNvPr>
          <p:cNvSpPr>
            <a:spLocks noGrp="1"/>
          </p:cNvSpPr>
          <p:nvPr/>
        </p:nvSpPr>
        <p:spPr>
          <a:xfrm>
            <a:off x="1371600" y="3653409"/>
            <a:ext cx="9810750" cy="4145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股東投入與股利屬業主交易，不列入本期損益。</a:t>
            </a:r>
          </a:p>
        </p:txBody>
      </p:sp>
      <p:sp>
        <p:nvSpPr>
          <p:cNvPr id="6" name="分析等式時可直接呈現保留盈餘的變動；">
            <a:extLst>
              <a:ext uri="{FF2B5EF4-FFF2-40B4-BE49-F238E27FC236}">
                <a16:creationId xmlns:a16="http://schemas.microsoft.com/office/drawing/2014/main" id="{2FB129D5-DAE8-4611-ABE3-5A9ABF48DB87}"/>
              </a:ext>
            </a:extLst>
          </p:cNvPr>
          <p:cNvSpPr>
            <a:spLocks noGrp="1"/>
          </p:cNvSpPr>
          <p:nvPr/>
        </p:nvSpPr>
        <p:spPr>
          <a:xfrm>
            <a:off x="1371600" y="4296537"/>
            <a:ext cx="9810750" cy="8290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分析等式時可直接呈現保留盈餘的變動；正式記帳先使用收入、費用與股</a:t>
            </a:r>
          </a:p>
          <a:p>
            <a:pPr algn="l">
              <a:def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利帳戶。</a:t>
            </a:r>
          </a:p>
        </p:txBody>
      </p:sp>
    </p:spTree>
    <p:extLst>
      <p:ext uri="{BB962C8B-B14F-4D97-AF65-F5344CB8AC3E}">
        <p14:creationId xmlns:p14="http://schemas.microsoft.com/office/powerpoint/2010/main" val="3905404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4AC85EAC-2C49-E1D8-A4CB-88F17805B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" t="2649" r="5136" b="9826"/>
          <a:stretch/>
        </p:blipFill>
        <p:spPr>
          <a:xfrm>
            <a:off x="1210380" y="707231"/>
            <a:ext cx="10533945" cy="54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0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2D0CFB5D-FFFE-4073-A2A2-F647CF90235D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RedLotus 案例：交易分析步驟</a:t>
            </a:r>
          </a:p>
        </p:txBody>
      </p:sp>
      <p:sp>
        <p:nvSpPr>
          <p:cNvPr id="2" name="案例期間：20X8 年 4 月。沿用">
            <a:extLst>
              <a:ext uri="{FF2B5EF4-FFF2-40B4-BE49-F238E27FC236}">
                <a16:creationId xmlns:a16="http://schemas.microsoft.com/office/drawing/2014/main" id="{B067D2EF-FA3F-4ADB-84C4-ADAD6F7D82BE}"/>
              </a:ext>
            </a:extLst>
          </p:cNvPr>
          <p:cNvSpPr>
            <a:spLocks noGrp="1"/>
          </p:cNvSpPr>
          <p:nvPr/>
        </p:nvSpPr>
        <p:spPr>
          <a:xfrm>
            <a:off x="1371600" y="1724025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案例期間：20X8 年 4 月。</a:t>
            </a:r>
          </a:p>
        </p:txBody>
      </p:sp>
      <p:sp>
        <p:nvSpPr>
          <p:cNvPr id="3" name="第一步：判斷是否屬於公司的交易。">
            <a:extLst>
              <a:ext uri="{FF2B5EF4-FFF2-40B4-BE49-F238E27FC236}">
                <a16:creationId xmlns:a16="http://schemas.microsoft.com/office/drawing/2014/main" id="{31BDA497-A9C5-488C-8489-2A8B9497F105}"/>
              </a:ext>
            </a:extLst>
          </p:cNvPr>
          <p:cNvSpPr>
            <a:spLocks noGrp="1"/>
          </p:cNvSpPr>
          <p:nvPr/>
        </p:nvSpPr>
        <p:spPr>
          <a:xfrm>
            <a:off x="1371600" y="2380107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第一步：判斷是否屬於公司的交易。</a:t>
            </a:r>
          </a:p>
        </p:txBody>
      </p:sp>
      <p:sp>
        <p:nvSpPr>
          <p:cNvPr id="4" name="第二步：找出受影響的帳戶，判斷其類別">
            <a:extLst>
              <a:ext uri="{FF2B5EF4-FFF2-40B4-BE49-F238E27FC236}">
                <a16:creationId xmlns:a16="http://schemas.microsoft.com/office/drawing/2014/main" id="{B4DC5435-E219-4DFB-91D2-BBA7463B3258}"/>
              </a:ext>
            </a:extLst>
          </p:cNvPr>
          <p:cNvSpPr>
            <a:spLocks noGrp="1"/>
          </p:cNvSpPr>
          <p:nvPr/>
        </p:nvSpPr>
        <p:spPr>
          <a:xfrm>
            <a:off x="1371600" y="3036189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第二步：找出受影響的帳戶，判斷其類別。</a:t>
            </a:r>
          </a:p>
        </p:txBody>
      </p:sp>
      <p:sp>
        <p:nvSpPr>
          <p:cNvPr id="5" name="第三步：決定增加或減少，並核對金額。">
            <a:extLst>
              <a:ext uri="{FF2B5EF4-FFF2-40B4-BE49-F238E27FC236}">
                <a16:creationId xmlns:a16="http://schemas.microsoft.com/office/drawing/2014/main" id="{0AF7895D-E68A-452E-B8E9-C75CB93618EB}"/>
              </a:ext>
            </a:extLst>
          </p:cNvPr>
          <p:cNvSpPr>
            <a:spLocks noGrp="1"/>
          </p:cNvSpPr>
          <p:nvPr/>
        </p:nvSpPr>
        <p:spPr>
          <a:xfrm>
            <a:off x="1371600" y="3692271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第三步：決定增加或減少，並核對金額。</a:t>
            </a:r>
          </a:p>
        </p:txBody>
      </p:sp>
      <p:sp>
        <p:nvSpPr>
          <p:cNvPr id="6" name="第四步：檢查交易後是否仍滿足「資產 ">
            <a:extLst>
              <a:ext uri="{FF2B5EF4-FFF2-40B4-BE49-F238E27FC236}">
                <a16:creationId xmlns:a16="http://schemas.microsoft.com/office/drawing/2014/main" id="{6A8C1458-9DF5-42DD-9927-570D49A2CEDD}"/>
              </a:ext>
            </a:extLst>
          </p:cNvPr>
          <p:cNvSpPr>
            <a:spLocks noGrp="1"/>
          </p:cNvSpPr>
          <p:nvPr/>
        </p:nvSpPr>
        <p:spPr>
          <a:xfrm>
            <a:off x="1371600" y="4348353"/>
            <a:ext cx="9810750" cy="4274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第四步：檢查交易後是否仍滿足「資產 = 負債 + 權益」。</a:t>
            </a:r>
          </a:p>
        </p:txBody>
      </p:sp>
    </p:spTree>
    <p:extLst>
      <p:ext uri="{BB962C8B-B14F-4D97-AF65-F5344CB8AC3E}">
        <p14:creationId xmlns:p14="http://schemas.microsoft.com/office/powerpoint/2010/main" val="35952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CD0B306C-552D-4992-9067-450F4C40F8C3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</a:t>
            </a:r>
            <a:r>
              <a:rPr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1：股東投入資金</a:t>
            </a:r>
          </a:p>
        </p:txBody>
      </p:sp>
      <p:sp>
        <p:nvSpPr>
          <p:cNvPr id="2" name="股東投入 $50,000，RedLo">
            <a:extLst>
              <a:ext uri="{FF2B5EF4-FFF2-40B4-BE49-F238E27FC236}">
                <a16:creationId xmlns:a16="http://schemas.microsoft.com/office/drawing/2014/main" id="{16B3FE66-6666-477A-B0CE-36DCFDEB250E}"/>
              </a:ext>
            </a:extLst>
          </p:cNvPr>
          <p:cNvSpPr>
            <a:spLocks noGrp="1"/>
          </p:cNvSpPr>
          <p:nvPr/>
        </p:nvSpPr>
        <p:spPr>
          <a:xfrm>
            <a:off x="1371600" y="1714499"/>
            <a:ext cx="9810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defRPr sz="232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sz="23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Zaheer and a few friends invest $50,000 to open </a:t>
            </a:r>
            <a:r>
              <a:rPr lang="en-US" sz="23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RedLotus</a:t>
            </a:r>
            <a:r>
              <a:rPr lang="en-US" sz="23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Security, and the business issues common stock to the stockholders. </a:t>
            </a:r>
            <a:endParaRPr sz="2325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+50,000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股本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Share Capital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+50,000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+50,000 = 0 +">
            <a:extLst>
              <a:ext uri="{FF2B5EF4-FFF2-40B4-BE49-F238E27FC236}">
                <a16:creationId xmlns:a16="http://schemas.microsoft.com/office/drawing/2014/main" id="{E8358BB4-F949-42A3-A672-96EBB3C51A62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等式變動：+50,000 = 0 + 50,000</a:t>
            </a:r>
          </a:p>
        </p:txBody>
      </p:sp>
      <p:sp>
        <p:nvSpPr>
          <p:cNvPr id="5" name="股東出資增加股本，不是服務收入。">
            <a:extLst>
              <a:ext uri="{FF2B5EF4-FFF2-40B4-BE49-F238E27FC236}">
                <a16:creationId xmlns:a16="http://schemas.microsoft.com/office/drawing/2014/main" id="{F5A203BE-C043-4221-B2F4-43D88C0554A8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股東出資增加股本，不是服務收入。</a:t>
            </a:r>
          </a:p>
        </p:txBody>
      </p:sp>
      <p:sp>
        <p:nvSpPr>
          <p:cNvPr id="6" name="交易後：資產 50,000 = 負債">
            <a:extLst>
              <a:ext uri="{FF2B5EF4-FFF2-40B4-BE49-F238E27FC236}">
                <a16:creationId xmlns:a16="http://schemas.microsoft.com/office/drawing/2014/main" id="{2E58943E-83E0-4A83-BD50-2FC1C6169BEA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50,000 = 負債 0 + 權益 50,000</a:t>
            </a:r>
          </a:p>
        </p:txBody>
      </p:sp>
    </p:spTree>
    <p:extLst>
      <p:ext uri="{BB962C8B-B14F-4D97-AF65-F5344CB8AC3E}">
        <p14:creationId xmlns:p14="http://schemas.microsoft.com/office/powerpoint/2010/main" val="3499402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5A71BE05-5DB0-45AE-A4F4-F8CF68E4E354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2：以現金購買土地</a:t>
            </a:r>
          </a:p>
        </p:txBody>
      </p:sp>
      <p:sp>
        <p:nvSpPr>
          <p:cNvPr id="2" name="支付 $40,000 現金購買營業用">
            <a:extLst>
              <a:ext uri="{FF2B5EF4-FFF2-40B4-BE49-F238E27FC236}">
                <a16:creationId xmlns:a16="http://schemas.microsoft.com/office/drawing/2014/main" id="{67794938-CADC-45C6-9F8B-2B34E5D2C7BC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8430449" cy="3577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defRPr sz="232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sz="23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RedLotus</a:t>
            </a:r>
            <a:r>
              <a:rPr lang="en-US" sz="23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purchases land for a new location and pays cash of $40,000.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土地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Land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+40,000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−40,000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0 = 0 + 0">
            <a:extLst>
              <a:ext uri="{FF2B5EF4-FFF2-40B4-BE49-F238E27FC236}">
                <a16:creationId xmlns:a16="http://schemas.microsoft.com/office/drawing/2014/main" id="{6BF4F82E-8430-476F-8F44-3D1DA6141605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等式變動：0 = 0 + 0</a:t>
            </a:r>
          </a:p>
        </p:txBody>
      </p:sp>
      <p:sp>
        <p:nvSpPr>
          <p:cNvPr id="5" name="只是資產組成改變；土地尚未耗用，不能">
            <a:extLst>
              <a:ext uri="{FF2B5EF4-FFF2-40B4-BE49-F238E27FC236}">
                <a16:creationId xmlns:a16="http://schemas.microsoft.com/office/drawing/2014/main" id="{BDDC874D-F6EA-4C6E-B503-E692D601AA99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只是資產組成改變；土地尚未耗用，不能直接列為費用。</a:t>
            </a:r>
          </a:p>
        </p:txBody>
      </p:sp>
      <p:sp>
        <p:nvSpPr>
          <p:cNvPr id="6" name="交易後：資產 50,000 = 負債">
            <a:extLst>
              <a:ext uri="{FF2B5EF4-FFF2-40B4-BE49-F238E27FC236}">
                <a16:creationId xmlns:a16="http://schemas.microsoft.com/office/drawing/2014/main" id="{2E6292C6-315E-433C-8B91-6C1D8BCCA6C8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50,000 = 負債 0 + 權益 50,000</a:t>
            </a:r>
          </a:p>
        </p:txBody>
      </p:sp>
    </p:spTree>
    <p:extLst>
      <p:ext uri="{BB962C8B-B14F-4D97-AF65-F5344CB8AC3E}">
        <p14:creationId xmlns:p14="http://schemas.microsoft.com/office/powerpoint/2010/main" val="2775667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79BD01CA-BB91-4BDD-A65B-D5390FE581FD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3：賒購用品</a:t>
            </a:r>
          </a:p>
        </p:txBody>
      </p:sp>
      <p:sp>
        <p:nvSpPr>
          <p:cNvPr id="2" name="購買用品 $3,700，約定 30 ">
            <a:extLst>
              <a:ext uri="{FF2B5EF4-FFF2-40B4-BE49-F238E27FC236}">
                <a16:creationId xmlns:a16="http://schemas.microsoft.com/office/drawing/2014/main" id="{041633DE-809A-48D2-BC58-062CBB109BF1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/>
              <a:t>The business buys supplies on account, agreeing to pay $3,700 within 30 days.</a:t>
            </a:r>
            <a:endParaRPr lang="zh-TW" altLang="en-US" sz="2400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用品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Supplies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應付帳款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Accounts Payable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+3,700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+3,700 = +3,7">
            <a:extLst>
              <a:ext uri="{FF2B5EF4-FFF2-40B4-BE49-F238E27FC236}">
                <a16:creationId xmlns:a16="http://schemas.microsoft.com/office/drawing/2014/main" id="{4131B3A0-C95D-4502-B803-39AE275B8C33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等式變動：+3,700 = +3,700 + 0</a:t>
            </a:r>
          </a:p>
        </p:txBody>
      </p:sp>
      <p:sp>
        <p:nvSpPr>
          <p:cNvPr id="5" name="賒購（On Account）先認列資">
            <a:extLst>
              <a:ext uri="{FF2B5EF4-FFF2-40B4-BE49-F238E27FC236}">
                <a16:creationId xmlns:a16="http://schemas.microsoft.com/office/drawing/2014/main" id="{BE3655D5-BC9D-4815-BB03-A437A27C2AA9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賒購</a:t>
            </a:r>
            <a:r>
              <a:rPr lang="zh-TW" altLang="en-US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On Account</a:t>
            </a:r>
            <a:r>
              <a:rPr lang="en-US" altLang="zh-TW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1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先認列資產與負債，當下沒有現金流出</a:t>
            </a:r>
            <a:r>
              <a:rPr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6" name="交易後：資產 53,700 = 負債">
            <a:extLst>
              <a:ext uri="{FF2B5EF4-FFF2-40B4-BE49-F238E27FC236}">
                <a16:creationId xmlns:a16="http://schemas.microsoft.com/office/drawing/2014/main" id="{AC4946FD-6EC1-40C9-AB46-B3E69ACA1BC8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53,700 = 負債 3,700 + 權益 50,000</a:t>
            </a:r>
          </a:p>
        </p:txBody>
      </p:sp>
    </p:spTree>
    <p:extLst>
      <p:ext uri="{BB962C8B-B14F-4D97-AF65-F5344CB8AC3E}">
        <p14:creationId xmlns:p14="http://schemas.microsoft.com/office/powerpoint/2010/main" val="535359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D33BEC7D-BBA6-4A9F-ACCD-8D16EE47F3C1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4：提供服務並收現</a:t>
            </a:r>
          </a:p>
        </p:txBody>
      </p:sp>
      <p:sp>
        <p:nvSpPr>
          <p:cNvPr id="2" name="完成服務，同時收到現金 $7,000">
            <a:extLst>
              <a:ext uri="{FF2B5EF4-FFF2-40B4-BE49-F238E27FC236}">
                <a16:creationId xmlns:a16="http://schemas.microsoft.com/office/drawing/2014/main" id="{ECD1EB70-4506-43EB-9860-F3A14F0FCD08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 err="1"/>
              <a:t>RedLotus</a:t>
            </a:r>
            <a:r>
              <a:rPr lang="en-US" altLang="zh-TW" sz="2400" dirty="0"/>
              <a:t> earns $7,000 of service revenue by providing services for customers.</a:t>
            </a:r>
            <a:endParaRPr lang="zh-TW" altLang="en-US" sz="2400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+7,000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服務收入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Service Revenue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收益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+7,000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+7,000 = 0 + ">
            <a:extLst>
              <a:ext uri="{FF2B5EF4-FFF2-40B4-BE49-F238E27FC236}">
                <a16:creationId xmlns:a16="http://schemas.microsoft.com/office/drawing/2014/main" id="{D68E6305-32B0-45D1-BF93-9BD72A109B84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等式變動：+7,000 = 0 + 7,000</a:t>
            </a:r>
          </a:p>
        </p:txBody>
      </p:sp>
      <p:sp>
        <p:nvSpPr>
          <p:cNvPr id="5" name="因為已完成服務而認列收入，收入增加權">
            <a:extLst>
              <a:ext uri="{FF2B5EF4-FFF2-40B4-BE49-F238E27FC236}">
                <a16:creationId xmlns:a16="http://schemas.microsoft.com/office/drawing/2014/main" id="{0C65688D-5D63-4FA2-96FA-6D1FD463C09E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因為已完成服務而認列收入，收入增加權益。</a:t>
            </a:r>
          </a:p>
        </p:txBody>
      </p:sp>
      <p:sp>
        <p:nvSpPr>
          <p:cNvPr id="6" name="交易後：資產 60,700 = 負債">
            <a:extLst>
              <a:ext uri="{FF2B5EF4-FFF2-40B4-BE49-F238E27FC236}">
                <a16:creationId xmlns:a16="http://schemas.microsoft.com/office/drawing/2014/main" id="{69B2705E-4D22-451F-A3B6-D4727A8033B1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60,700 = 負債 3,700 + 權益 57,000</a:t>
            </a:r>
          </a:p>
        </p:txBody>
      </p:sp>
    </p:spTree>
    <p:extLst>
      <p:ext uri="{BB962C8B-B14F-4D97-AF65-F5344CB8AC3E}">
        <p14:creationId xmlns:p14="http://schemas.microsoft.com/office/powerpoint/2010/main" val="3185227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8EB53DAC-199D-458B-BFE9-3F85ED1C0361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5：提供服務，稍後收款</a:t>
            </a:r>
          </a:p>
        </p:txBody>
      </p:sp>
      <p:sp>
        <p:nvSpPr>
          <p:cNvPr id="2" name="為 UPS 完成 $3,000 的服">
            <a:extLst>
              <a:ext uri="{FF2B5EF4-FFF2-40B4-BE49-F238E27FC236}">
                <a16:creationId xmlns:a16="http://schemas.microsoft.com/office/drawing/2014/main" id="{18F59687-4F83-4766-BDF7-E37453C4BC36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11079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 err="1"/>
              <a:t>RedLotus</a:t>
            </a:r>
            <a:r>
              <a:rPr lang="en-US" altLang="zh-TW" sz="2400" dirty="0"/>
              <a:t> performs services on account, which means that </a:t>
            </a:r>
            <a:r>
              <a:rPr lang="en-US" altLang="zh-TW" sz="2400" dirty="0" err="1"/>
              <a:t>RedLotus</a:t>
            </a:r>
            <a:r>
              <a:rPr lang="en-US" altLang="zh-TW" sz="2400" dirty="0"/>
              <a:t> lets some customers pay later. </a:t>
            </a:r>
            <a:r>
              <a:rPr lang="en-US" altLang="zh-TW" sz="2400" dirty="0" err="1"/>
              <a:t>RedLotus</a:t>
            </a:r>
            <a:r>
              <a:rPr lang="en-US" altLang="zh-TW" sz="2400" dirty="0"/>
              <a:t> provides services for UPS who promises to pay $3000 within 1 month.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919421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應收帳款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Accounts Receivable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+3,000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服務收入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Service Revenue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收益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+3,000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+3,000 = 0 + ">
            <a:extLst>
              <a:ext uri="{FF2B5EF4-FFF2-40B4-BE49-F238E27FC236}">
                <a16:creationId xmlns:a16="http://schemas.microsoft.com/office/drawing/2014/main" id="{D1B72000-FB0D-44F2-A0B1-A539CD7DD27A}"/>
              </a:ext>
            </a:extLst>
          </p:cNvPr>
          <p:cNvSpPr>
            <a:spLocks noGrp="1"/>
          </p:cNvSpPr>
          <p:nvPr/>
        </p:nvSpPr>
        <p:spPr>
          <a:xfrm>
            <a:off x="1371600" y="4593624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</a:t>
            </a:r>
            <a:r>
              <a:rPr sz="2400" b="1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：+3,000 = 0 + 3,000</a:t>
            </a:r>
          </a:p>
        </p:txBody>
      </p:sp>
      <p:sp>
        <p:nvSpPr>
          <p:cNvPr id="5" name="已完成服務，即使尚未收款，也要認列應">
            <a:extLst>
              <a:ext uri="{FF2B5EF4-FFF2-40B4-BE49-F238E27FC236}">
                <a16:creationId xmlns:a16="http://schemas.microsoft.com/office/drawing/2014/main" id="{2DA4CEB7-5D2D-4A42-913C-DB4D77FBA96D}"/>
              </a:ext>
            </a:extLst>
          </p:cNvPr>
          <p:cNvSpPr>
            <a:spLocks noGrp="1"/>
          </p:cNvSpPr>
          <p:nvPr/>
        </p:nvSpPr>
        <p:spPr>
          <a:xfrm>
            <a:off x="1371600" y="5324669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已完成服務，即使尚未收款，也要認列應收帳款與收入</a:t>
            </a:r>
            <a:r>
              <a:rPr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6" name="交易後：資產 63,700 = 負債">
            <a:extLst>
              <a:ext uri="{FF2B5EF4-FFF2-40B4-BE49-F238E27FC236}">
                <a16:creationId xmlns:a16="http://schemas.microsoft.com/office/drawing/2014/main" id="{3990890D-E069-4D67-B8E3-80CC57CF2209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63,700 = 負債 3,700 + 權益 60,000</a:t>
            </a:r>
          </a:p>
        </p:txBody>
      </p:sp>
      <p:sp>
        <p:nvSpPr>
          <p:cNvPr id="7" name="slide-number">
            <a:extLst>
              <a:ext uri="{FF2B5EF4-FFF2-40B4-BE49-F238E27FC236}">
                <a16:creationId xmlns:a16="http://schemas.microsoft.com/office/drawing/2014/main" id="{110CDC61-8756-4268-9064-4BC7C3A2DBA3}"/>
              </a:ext>
            </a:extLst>
          </p:cNvPr>
          <p:cNvSpPr>
            <a:spLocks noGrp="1"/>
          </p:cNvSpPr>
          <p:nvPr/>
        </p:nvSpPr>
        <p:spPr>
          <a:xfrm>
            <a:off x="10648950" y="6496050"/>
            <a:ext cx="552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350" b="0">
                <a:solidFill>
                  <a:srgbClr val="66654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6654F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5520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3ADA39B4-787A-4592-9CAE-CD071CE83BE3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6：支付營業費用</a:t>
            </a:r>
          </a:p>
        </p:txBody>
      </p:sp>
      <p:sp>
        <p:nvSpPr>
          <p:cNvPr id="2" name="支付設備租金 $1,100、薪資 $">
            <a:extLst>
              <a:ext uri="{FF2B5EF4-FFF2-40B4-BE49-F238E27FC236}">
                <a16:creationId xmlns:a16="http://schemas.microsoft.com/office/drawing/2014/main" id="{76795389-00F5-4AE0-B5F6-CA3C27A16C27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/>
              <a:t>During the month, </a:t>
            </a:r>
            <a:r>
              <a:rPr lang="en-US" altLang="zh-TW" sz="2400" dirty="0" err="1"/>
              <a:t>RedLotus</a:t>
            </a:r>
            <a:r>
              <a:rPr lang="en-US" altLang="zh-TW" sz="2400" dirty="0"/>
              <a:t> Security, pays $2,700 for the following expenses: rent $1,100; employee salaries, $1,200; and utilities, $400.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租金、薪資及水電費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費用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+2,700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−2,700 = 0 − ">
            <a:extLst>
              <a:ext uri="{FF2B5EF4-FFF2-40B4-BE49-F238E27FC236}">
                <a16:creationId xmlns:a16="http://schemas.microsoft.com/office/drawing/2014/main" id="{1AE2F6AA-5041-42FE-8F1E-BD644A9FB4FB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等式變動：−2,700 = 0 − 2,700</a:t>
            </a:r>
          </a:p>
        </p:txBody>
      </p:sp>
      <p:sp>
        <p:nvSpPr>
          <p:cNvPr id="5" name="費用增加會減少本期淨利與權益，三項費">
            <a:extLst>
              <a:ext uri="{FF2B5EF4-FFF2-40B4-BE49-F238E27FC236}">
                <a16:creationId xmlns:a16="http://schemas.microsoft.com/office/drawing/2014/main" id="{3B588482-7184-42A1-8121-2406C4C64B1C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費用增加會減少本期淨利與權益，三項費用應分別記錄。</a:t>
            </a:r>
          </a:p>
        </p:txBody>
      </p:sp>
      <p:sp>
        <p:nvSpPr>
          <p:cNvPr id="6" name="交易後：資產 61,000 = 負債">
            <a:extLst>
              <a:ext uri="{FF2B5EF4-FFF2-40B4-BE49-F238E27FC236}">
                <a16:creationId xmlns:a16="http://schemas.microsoft.com/office/drawing/2014/main" id="{919BEA69-3F41-497E-B13B-0A4B773A4541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61,000 = 負債 3,700 + 權益 57,300</a:t>
            </a:r>
          </a:p>
        </p:txBody>
      </p:sp>
    </p:spTree>
    <p:extLst>
      <p:ext uri="{BB962C8B-B14F-4D97-AF65-F5344CB8AC3E}">
        <p14:creationId xmlns:p14="http://schemas.microsoft.com/office/powerpoint/2010/main" val="3881586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B7E2F279-2085-43B1-B677-55CB3468F6EA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7：償還部分應付帳款</a:t>
            </a:r>
          </a:p>
        </p:txBody>
      </p:sp>
      <p:sp>
        <p:nvSpPr>
          <p:cNvPr id="2" name="支付 $1,900，償還交易 3 的">
            <a:extLst>
              <a:ext uri="{FF2B5EF4-FFF2-40B4-BE49-F238E27FC236}">
                <a16:creationId xmlns:a16="http://schemas.microsoft.com/office/drawing/2014/main" id="{5DA27069-C4E4-4720-A91B-49A2A6FCF837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 err="1"/>
              <a:t>RedLotus</a:t>
            </a:r>
            <a:r>
              <a:rPr lang="en-US" altLang="zh-TW" sz="2400" dirty="0"/>
              <a:t> pays $1,900 on account, which means to make a payment toward an account payable.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應付帳款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Accounts Payable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−1,900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−1,900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−1,900 = −1,9">
            <a:extLst>
              <a:ext uri="{FF2B5EF4-FFF2-40B4-BE49-F238E27FC236}">
                <a16:creationId xmlns:a16="http://schemas.microsoft.com/office/drawing/2014/main" id="{153819CF-0437-42AD-A896-FE7B2230D155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等式變動：−1,900 = −1,900 + 0</a:t>
            </a:r>
          </a:p>
        </p:txBody>
      </p:sp>
      <p:sp>
        <p:nvSpPr>
          <p:cNvPr id="5" name="這次是在償還負債，不再認列費用；應付">
            <a:extLst>
              <a:ext uri="{FF2B5EF4-FFF2-40B4-BE49-F238E27FC236}">
                <a16:creationId xmlns:a16="http://schemas.microsoft.com/office/drawing/2014/main" id="{63606AE0-AC23-42A4-A5F5-810B274AE2C7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這次是在償還負債，不再認列費用；應付帳款剩 $1,800。</a:t>
            </a:r>
          </a:p>
        </p:txBody>
      </p:sp>
      <p:sp>
        <p:nvSpPr>
          <p:cNvPr id="6" name="交易後：資產 59,100 = 負債">
            <a:extLst>
              <a:ext uri="{FF2B5EF4-FFF2-40B4-BE49-F238E27FC236}">
                <a16:creationId xmlns:a16="http://schemas.microsoft.com/office/drawing/2014/main" id="{0EC923C4-773D-4707-A845-0A73DFB01F0E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59,100 = 負債 1,800 + 權益 57,300</a:t>
            </a:r>
          </a:p>
        </p:txBody>
      </p:sp>
    </p:spTree>
    <p:extLst>
      <p:ext uri="{BB962C8B-B14F-4D97-AF65-F5344CB8AC3E}">
        <p14:creationId xmlns:p14="http://schemas.microsoft.com/office/powerpoint/2010/main" val="2879769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C36246F2-BFEC-4D5C-A2E7-E6D1CA181CE9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8：股東個人支出</a:t>
            </a:r>
          </a:p>
        </p:txBody>
      </p:sp>
      <p:sp>
        <p:nvSpPr>
          <p:cNvPr id="2" name="主要股東用私人資金 $3,000 裝">
            <a:extLst>
              <a:ext uri="{FF2B5EF4-FFF2-40B4-BE49-F238E27FC236}">
                <a16:creationId xmlns:a16="http://schemas.microsoft.com/office/drawing/2014/main" id="{4D8F878D-D525-4E34-A3BF-085F144AD8CB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/>
              <a:t>Zaheer, the major stockholder of </a:t>
            </a:r>
            <a:r>
              <a:rPr lang="en-US" altLang="zh-TW" sz="2400" dirty="0" err="1"/>
              <a:t>RedLotus</a:t>
            </a:r>
            <a:r>
              <a:rPr lang="en-US" altLang="zh-TW" sz="2400" dirty="0"/>
              <a:t>, paid $30,000 out of his personal bank account to remodel his home.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04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公司帳戶</a:t>
                      </a:r>
                      <a:endParaRPr sz="21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無影響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等式變動：0 = 0 + 0">
            <a:extLst>
              <a:ext uri="{FF2B5EF4-FFF2-40B4-BE49-F238E27FC236}">
                <a16:creationId xmlns:a16="http://schemas.microsoft.com/office/drawing/2014/main" id="{FE9E638F-2C3A-4F4D-A174-1D4BEF12002C}"/>
              </a:ext>
            </a:extLst>
          </p:cNvPr>
          <p:cNvSpPr>
            <a:spLocks noGrp="1"/>
          </p:cNvSpPr>
          <p:nvPr/>
        </p:nvSpPr>
        <p:spPr>
          <a:xfrm>
            <a:off x="1371600" y="3787902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等式變動：0 = 0 + 0</a:t>
            </a:r>
          </a:p>
        </p:txBody>
      </p:sp>
      <p:sp>
        <p:nvSpPr>
          <p:cNvPr id="5" name="報導個體（Reporting Ent">
            <a:extLst>
              <a:ext uri="{FF2B5EF4-FFF2-40B4-BE49-F238E27FC236}">
                <a16:creationId xmlns:a16="http://schemas.microsoft.com/office/drawing/2014/main" id="{DBE9C9F5-F8D0-4321-A53A-F6AE4EB62A21}"/>
              </a:ext>
            </a:extLst>
          </p:cNvPr>
          <p:cNvSpPr>
            <a:spLocks noGrp="1"/>
          </p:cNvSpPr>
          <p:nvPr/>
        </p:nvSpPr>
        <p:spPr>
          <a:xfrm>
            <a:off x="1371600" y="4397502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報導個體</a:t>
            </a:r>
            <a:r>
              <a:rPr lang="zh-TW" altLang="en-US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Reporting Entity</a:t>
            </a:r>
            <a:r>
              <a:rPr lang="en-US" altLang="zh-TW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17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區分公司與股東。公司不作分錄</a:t>
            </a:r>
            <a:r>
              <a:rPr sz="217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6" name="交易後：資產 59,100 = 負債">
            <a:extLst>
              <a:ext uri="{FF2B5EF4-FFF2-40B4-BE49-F238E27FC236}">
                <a16:creationId xmlns:a16="http://schemas.microsoft.com/office/drawing/2014/main" id="{A9F7096C-623F-4F44-AE5B-ED9494EACC21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59,100 = 負債 1,800 + 權益 57,300</a:t>
            </a:r>
          </a:p>
        </p:txBody>
      </p:sp>
    </p:spTree>
    <p:extLst>
      <p:ext uri="{BB962C8B-B14F-4D97-AF65-F5344CB8AC3E}">
        <p14:creationId xmlns:p14="http://schemas.microsoft.com/office/powerpoint/2010/main" val="4125712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B6AC3667-9026-4303-99FC-F244E5E48997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9：收回應收帳款</a:t>
            </a:r>
          </a:p>
        </p:txBody>
      </p:sp>
      <p:sp>
        <p:nvSpPr>
          <p:cNvPr id="2" name="收到 UPS 支付的 $1,000，">
            <a:extLst>
              <a:ext uri="{FF2B5EF4-FFF2-40B4-BE49-F238E27FC236}">
                <a16:creationId xmlns:a16="http://schemas.microsoft.com/office/drawing/2014/main" id="{2D94ED55-36B2-49B9-8E73-07B065EACD51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/>
              <a:t>In transaction 5, </a:t>
            </a:r>
            <a:r>
              <a:rPr lang="en-US" altLang="zh-TW" sz="2400" dirty="0" err="1"/>
              <a:t>RedLotus</a:t>
            </a:r>
            <a:r>
              <a:rPr lang="en-US" altLang="zh-TW" sz="2400" dirty="0"/>
              <a:t> performed services for UPS on account. The business now collects $1,000 from UPS.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+1,000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應收帳款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Accounts Receivable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0 = 0 + 0">
            <a:extLst>
              <a:ext uri="{FF2B5EF4-FFF2-40B4-BE49-F238E27FC236}">
                <a16:creationId xmlns:a16="http://schemas.microsoft.com/office/drawing/2014/main" id="{A792A027-E9B3-493B-8B9E-C960A38F9C5E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等式變動：0 = 0 + 0</a:t>
            </a:r>
          </a:p>
        </p:txBody>
      </p:sp>
      <p:sp>
        <p:nvSpPr>
          <p:cNvPr id="5" name="服務收入已在交易 5 認列，收款時不">
            <a:extLst>
              <a:ext uri="{FF2B5EF4-FFF2-40B4-BE49-F238E27FC236}">
                <a16:creationId xmlns:a16="http://schemas.microsoft.com/office/drawing/2014/main" id="{4828B021-B45B-4ABA-B75C-5DB1657B04DC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服務收入已在交易 5 認列，收款時不能再認列一次。</a:t>
            </a:r>
          </a:p>
        </p:txBody>
      </p:sp>
      <p:sp>
        <p:nvSpPr>
          <p:cNvPr id="6" name="交易後：資產 59,100 = 負債">
            <a:extLst>
              <a:ext uri="{FF2B5EF4-FFF2-40B4-BE49-F238E27FC236}">
                <a16:creationId xmlns:a16="http://schemas.microsoft.com/office/drawing/2014/main" id="{A922233E-2482-47FD-B51D-4E20C921569F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59,100 = 負債 1,800 + 權益 57,300</a:t>
            </a:r>
          </a:p>
        </p:txBody>
      </p:sp>
    </p:spTree>
    <p:extLst>
      <p:ext uri="{BB962C8B-B14F-4D97-AF65-F5344CB8AC3E}">
        <p14:creationId xmlns:p14="http://schemas.microsoft.com/office/powerpoint/2010/main" val="3732728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02A134F4-8AA4-421D-8E14-DEDA26197447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10：出售一半土地</a:t>
            </a:r>
          </a:p>
        </p:txBody>
      </p:sp>
      <p:sp>
        <p:nvSpPr>
          <p:cNvPr id="2" name="出售成本 $20,000 的土地，收">
            <a:extLst>
              <a:ext uri="{FF2B5EF4-FFF2-40B4-BE49-F238E27FC236}">
                <a16:creationId xmlns:a16="http://schemas.microsoft.com/office/drawing/2014/main" id="{38C718DF-21EF-4F53-B5F4-45A3374AD7E4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 err="1"/>
              <a:t>RedLotus</a:t>
            </a:r>
            <a:r>
              <a:rPr lang="en-US" altLang="zh-TW" sz="2400" dirty="0"/>
              <a:t> sells half of the land it bought for $20,000. </a:t>
            </a:r>
            <a:r>
              <a:rPr lang="en-US" altLang="zh-TW" sz="2400" dirty="0" err="1"/>
              <a:t>RedLotus</a:t>
            </a:r>
            <a:r>
              <a:rPr lang="en-US" altLang="zh-TW" sz="2400" dirty="0"/>
              <a:t> receives $22,000 cash and makes a $2,000 gain.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212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</a:t>
                      </a:r>
                      <a:r>
                        <a:rPr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+22,000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土地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Land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−20,000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出售土地利益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Gain on Sale of Land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收益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+2,000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等式變動：+2,000 = 0 + ">
            <a:extLst>
              <a:ext uri="{FF2B5EF4-FFF2-40B4-BE49-F238E27FC236}">
                <a16:creationId xmlns:a16="http://schemas.microsoft.com/office/drawing/2014/main" id="{11CCB312-BB09-4026-9FB8-B021B560A570}"/>
              </a:ext>
            </a:extLst>
          </p:cNvPr>
          <p:cNvSpPr>
            <a:spLocks noGrp="1"/>
          </p:cNvSpPr>
          <p:nvPr/>
        </p:nvSpPr>
        <p:spPr>
          <a:xfrm>
            <a:off x="1371600" y="4813554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等式變動：+2,000 = 0 + 2,000</a:t>
            </a:r>
          </a:p>
        </p:txBody>
      </p:sp>
      <p:sp>
        <p:nvSpPr>
          <p:cNvPr id="5" name="利益 = 售價 $22,000 − ">
            <a:extLst>
              <a:ext uri="{FF2B5EF4-FFF2-40B4-BE49-F238E27FC236}">
                <a16:creationId xmlns:a16="http://schemas.microsoft.com/office/drawing/2014/main" id="{CA864F4D-34C2-41F8-851F-1FF2A51A67EA}"/>
              </a:ext>
            </a:extLst>
          </p:cNvPr>
          <p:cNvSpPr>
            <a:spLocks noGrp="1"/>
          </p:cNvSpPr>
          <p:nvPr/>
        </p:nvSpPr>
        <p:spPr>
          <a:xfrm>
            <a:off x="1371600" y="5423154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利益 = 售價 $22,000 − 帳面金額 $20,000 = $2,000。</a:t>
            </a:r>
          </a:p>
        </p:txBody>
      </p:sp>
      <p:sp>
        <p:nvSpPr>
          <p:cNvPr id="6" name="交易後：資產 61,100 = 負債">
            <a:extLst>
              <a:ext uri="{FF2B5EF4-FFF2-40B4-BE49-F238E27FC236}">
                <a16:creationId xmlns:a16="http://schemas.microsoft.com/office/drawing/2014/main" id="{39FB2A48-52FA-4ECA-8F3F-4F5C05E44924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61,100 = 負債 1,800 + 權益 59,300</a:t>
            </a:r>
          </a:p>
        </p:txBody>
      </p:sp>
    </p:spTree>
    <p:extLst>
      <p:ext uri="{BB962C8B-B14F-4D97-AF65-F5344CB8AC3E}">
        <p14:creationId xmlns:p14="http://schemas.microsoft.com/office/powerpoint/2010/main" val="3588255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AFB6F1DB-0B3C-4097-8043-8A86B779C308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 11：宣告並支付股利</a:t>
            </a:r>
          </a:p>
        </p:txBody>
      </p:sp>
      <p:sp>
        <p:nvSpPr>
          <p:cNvPr id="2" name="公司宣告並立即支付現金股利 $2,1">
            <a:extLst>
              <a:ext uri="{FF2B5EF4-FFF2-40B4-BE49-F238E27FC236}">
                <a16:creationId xmlns:a16="http://schemas.microsoft.com/office/drawing/2014/main" id="{C5407CDC-379E-442E-9450-1D4F25BE5FA5}"/>
              </a:ext>
            </a:extLst>
          </p:cNvPr>
          <p:cNvSpPr>
            <a:spLocks noGrp="1"/>
          </p:cNvSpPr>
          <p:nvPr/>
        </p:nvSpPr>
        <p:spPr>
          <a:xfrm>
            <a:off x="1371600" y="1714500"/>
            <a:ext cx="981075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altLang="zh-TW" sz="2400" dirty="0" err="1"/>
              <a:t>RedLotus</a:t>
            </a:r>
            <a:r>
              <a:rPr lang="en-US" altLang="zh-TW" sz="2400" dirty="0"/>
              <a:t> Security, declares a dividend and pays the stockholders $2,100 cash. 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71600" y="2590800"/>
          <a:ext cx="9810750" cy="15840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受影響帳戶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增減金額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Cash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−2,100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股利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Dividends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權益減項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+2,100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等式變動：−2,100 = 0 − ">
            <a:extLst>
              <a:ext uri="{FF2B5EF4-FFF2-40B4-BE49-F238E27FC236}">
                <a16:creationId xmlns:a16="http://schemas.microsoft.com/office/drawing/2014/main" id="{342C3BDB-4845-4E7C-9296-D36ACB759977}"/>
              </a:ext>
            </a:extLst>
          </p:cNvPr>
          <p:cNvSpPr>
            <a:spLocks noGrp="1"/>
          </p:cNvSpPr>
          <p:nvPr/>
        </p:nvSpPr>
        <p:spPr>
          <a:xfrm>
            <a:off x="1371600" y="4300728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等式變動：−2,100 = 0 − 2,100</a:t>
            </a:r>
          </a:p>
        </p:txBody>
      </p:sp>
      <p:sp>
        <p:nvSpPr>
          <p:cNvPr id="5" name="股利是盈餘分配，減少權益，但不減少本">
            <a:extLst>
              <a:ext uri="{FF2B5EF4-FFF2-40B4-BE49-F238E27FC236}">
                <a16:creationId xmlns:a16="http://schemas.microsoft.com/office/drawing/2014/main" id="{266D5487-0D7D-419C-8D80-EEC6CD342A0D}"/>
              </a:ext>
            </a:extLst>
          </p:cNvPr>
          <p:cNvSpPr>
            <a:spLocks noGrp="1"/>
          </p:cNvSpPr>
          <p:nvPr/>
        </p:nvSpPr>
        <p:spPr>
          <a:xfrm>
            <a:off x="1371600" y="4910328"/>
            <a:ext cx="9810750" cy="375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股利是盈餘分配，減少權益，但不減少本期淨利。</a:t>
            </a:r>
          </a:p>
        </p:txBody>
      </p:sp>
      <p:sp>
        <p:nvSpPr>
          <p:cNvPr id="6" name="交易後：資產 59,000 = 負債">
            <a:extLst>
              <a:ext uri="{FF2B5EF4-FFF2-40B4-BE49-F238E27FC236}">
                <a16:creationId xmlns:a16="http://schemas.microsoft.com/office/drawing/2014/main" id="{745A522A-420D-4881-8B11-B1DA88CC3F35}"/>
              </a:ext>
            </a:extLst>
          </p:cNvPr>
          <p:cNvSpPr>
            <a:spLocks noGrp="1"/>
          </p:cNvSpPr>
          <p:nvPr/>
        </p:nvSpPr>
        <p:spPr>
          <a:xfrm>
            <a:off x="1371600" y="5991225"/>
            <a:ext cx="9810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897B61"/>
                </a:solidFill>
                <a:latin typeface="Noto Sans CJK TC"/>
                <a:ea typeface="Noto Sans CJK TC"/>
                <a:cs typeface="Noto Sans CJK TC"/>
              </a:rPr>
              <a:t>交易後：資產 59,000 = 負債 1,800 + 權益 57,200</a:t>
            </a:r>
          </a:p>
        </p:txBody>
      </p:sp>
    </p:spTree>
    <p:extLst>
      <p:ext uri="{BB962C8B-B14F-4D97-AF65-F5344CB8AC3E}">
        <p14:creationId xmlns:p14="http://schemas.microsoft.com/office/powerpoint/2010/main" val="299947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2A0B3A81-DA66-4B0A-86A6-CDE72C6C7608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交易分析彙總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371600" y="1752600"/>
          <a:ext cx="9810750" cy="417652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4058">
                <a:tc rowSpan="2"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</a:rPr>
                        <a:t>交易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324392"/>
                  </a:ext>
                </a:extLst>
              </a:tr>
              <a:tr h="4640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用品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土地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股本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保留盈餘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−40,000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−2,700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−2,700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餘額</a:t>
                      </a:r>
                      <a:endParaRPr sz="18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14,300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7,300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交易 6 合併顯示三項費用；資產合計">
            <a:extLst>
              <a:ext uri="{FF2B5EF4-FFF2-40B4-BE49-F238E27FC236}">
                <a16:creationId xmlns:a16="http://schemas.microsoft.com/office/drawing/2014/main" id="{5B28E190-28DF-4CF8-9A47-A3DE469519F0}"/>
              </a:ext>
            </a:extLst>
          </p:cNvPr>
          <p:cNvSpPr>
            <a:spLocks noGrp="1"/>
          </p:cNvSpPr>
          <p:nvPr/>
        </p:nvSpPr>
        <p:spPr>
          <a:xfrm>
            <a:off x="1371600" y="6167538"/>
            <a:ext cx="9810750" cy="3497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6 </a:t>
            </a: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合併顯示三項費用；資產合計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61,000 = </a:t>
            </a: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負債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3,700 + </a:t>
            </a: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57,300。</a:t>
            </a:r>
          </a:p>
        </p:txBody>
      </p:sp>
    </p:spTree>
    <p:extLst>
      <p:ext uri="{BB962C8B-B14F-4D97-AF65-F5344CB8AC3E}">
        <p14:creationId xmlns:p14="http://schemas.microsoft.com/office/powerpoint/2010/main" val="1209522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53432D53-5B54-4D52-BFFA-4C6473E950D0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交易分析彙總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371600" y="1752600"/>
          <a:ext cx="9810750" cy="417652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4058">
                <a:tc rowSpan="2"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</a:rPr>
                        <a:t>交易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83114"/>
                  </a:ext>
                </a:extLst>
              </a:tr>
              <a:tr h="4640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用品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土地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股本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保留盈餘</a:t>
                      </a:r>
                      <a:endParaRPr sz="18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承前</a:t>
                      </a:r>
                      <a:endParaRPr sz="18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14,300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7,300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−1,900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−1,900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22,000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−2,100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−2,100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058"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</a:t>
                      </a:r>
                      <a:endParaRPr sz="1800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33,300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1,800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7,200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交易 8 不入帳；期末資產 59,0">
            <a:extLst>
              <a:ext uri="{FF2B5EF4-FFF2-40B4-BE49-F238E27FC236}">
                <a16:creationId xmlns:a16="http://schemas.microsoft.com/office/drawing/2014/main" id="{26D84DCD-46CE-4366-89E4-2D1FE596DDC2}"/>
              </a:ext>
            </a:extLst>
          </p:cNvPr>
          <p:cNvSpPr>
            <a:spLocks noGrp="1"/>
          </p:cNvSpPr>
          <p:nvPr/>
        </p:nvSpPr>
        <p:spPr>
          <a:xfrm>
            <a:off x="1371600" y="6074670"/>
            <a:ext cx="9810750" cy="3497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交易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8 </a:t>
            </a: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不入帳；期末資產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59,000 = </a:t>
            </a: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負債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1,800 + </a:t>
            </a:r>
            <a:r>
              <a:rPr sz="2025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權益</a:t>
            </a:r>
            <a:r>
              <a:rPr sz="2025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 57,200。</a:t>
            </a:r>
          </a:p>
        </p:txBody>
      </p:sp>
    </p:spTree>
    <p:extLst>
      <p:ext uri="{BB962C8B-B14F-4D97-AF65-F5344CB8AC3E}">
        <p14:creationId xmlns:p14="http://schemas.microsoft.com/office/powerpoint/2010/main" val="440883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CCDEA9C7-E167-4406-B760-F63C3CEA6764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300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本期</a:t>
            </a:r>
            <a:r>
              <a:rPr sz="3000" b="0" dirty="0" err="1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損益</a:t>
            </a:r>
            <a:r>
              <a:rPr lang="zh-TW" altLang="en-US" sz="3000" b="0" dirty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、保留盈餘與期末權益</a:t>
            </a:r>
            <a:endParaRPr sz="3000" b="0" dirty="0">
              <a:solidFill>
                <a:srgbClr val="191B0E"/>
              </a:solidFill>
              <a:latin typeface="Noto Sans CJK TC"/>
              <a:ea typeface="Noto Sans CJK TC"/>
              <a:cs typeface="Noto Sans CJK TC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371600" y="1752600"/>
          <a:ext cx="9810750" cy="3589782"/>
        </p:xfrm>
        <a:graphic>
          <a:graphicData uri="http://schemas.openxmlformats.org/drawingml/2006/table">
            <a:tbl>
              <a:tblPr/>
              <a:tblGrid>
                <a:gridCol w="728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 </a:t>
                      </a:r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月金額</a:t>
                      </a:r>
                      <a:r>
                        <a:rPr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$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服務收入</a:t>
                      </a:r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Service Revenue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10,000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加：出售土地利益 Gain on Sale of Land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2,000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減：租金、薪資及水電費 Expenses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2,700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本期淨利 Net Income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9,300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期末保留盈餘：0 + 9,300 − 2,100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7,200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82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期末權益：股本 50,000 + 保留盈餘 7,200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57,200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066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DAE1EF83-A4BD-4294-8793-B7ECF2723A6A}"/>
              </a:ext>
            </a:extLst>
          </p:cNvPr>
          <p:cNvSpPr>
            <a:spLocks noGrp="1"/>
          </p:cNvSpPr>
          <p:nvPr/>
        </p:nvSpPr>
        <p:spPr>
          <a:xfrm>
            <a:off x="1371600" y="647700"/>
            <a:ext cx="99060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財務狀況與現金流量</a:t>
            </a:r>
          </a:p>
        </p:txBody>
      </p:sp>
      <p:sp>
        <p:nvSpPr>
          <p:cNvPr id="2" name="借款、出資、買賣資產與收付賒欠，都可">
            <a:extLst>
              <a:ext uri="{FF2B5EF4-FFF2-40B4-BE49-F238E27FC236}">
                <a16:creationId xmlns:a16="http://schemas.microsoft.com/office/drawing/2014/main" id="{71DAC24E-2836-4CA9-A898-58B190DCB1CC}"/>
              </a:ext>
            </a:extLst>
          </p:cNvPr>
          <p:cNvSpPr>
            <a:spLocks noGrp="1"/>
          </p:cNvSpPr>
          <p:nvPr/>
        </p:nvSpPr>
        <p:spPr>
          <a:xfrm>
            <a:off x="1371600" y="1685925"/>
            <a:ext cx="9810750" cy="3886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91B0E"/>
                </a:solidFill>
                <a:latin typeface="Noto Sans CJK TC"/>
                <a:ea typeface="Noto Sans CJK TC"/>
                <a:cs typeface="Noto Sans CJK TC"/>
              </a:rPr>
              <a:t>借款、出資、買賣資產與收付賒欠，都可能造成現金與淨利不同。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371600" y="2245995"/>
          <a:ext cx="9810750" cy="2807208"/>
        </p:xfrm>
        <a:graphic>
          <a:graphicData uri="http://schemas.openxmlformats.org/drawingml/2006/table">
            <a:tbl>
              <a:tblPr/>
              <a:tblGrid>
                <a:gridCol w="5150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018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財務報表 Financial Statements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本案例顯示什麼？</a:t>
                      </a:r>
                    </a:p>
                  </a:txBody>
                  <a:tcPr marL="114300" marR="95250" marT="28575" marB="28575" anchor="ctr">
                    <a:solidFill>
                      <a:srgbClr val="897B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586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資產負債表 Balance Sheet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59,000；負債 1,800；</a:t>
                      </a:r>
                      <a:endParaRPr lang="en-US"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</a:t>
                      </a:r>
                      <a:r>
                        <a:rPr lang="zh-TW" altLang="en-US"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57,200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586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現金流量表 Statement of Cash Flows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現金流入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80,000，流出 46,700，</a:t>
                      </a:r>
                      <a:endParaRPr lang="en-US" sz="2175" b="0" dirty="0">
                        <a:solidFill>
                          <a:srgbClr val="191B0E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淨增加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33,300</a:t>
                      </a:r>
                    </a:p>
                  </a:txBody>
                  <a:tcPr marL="114300" marR="95250" marT="28575" marB="28575" anchor="ctr">
                    <a:solidFill>
                      <a:srgbClr val="E6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18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現金與淨利的差異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 dirty="0" err="1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期末現金</a:t>
                      </a:r>
                      <a:r>
                        <a:rPr sz="2175" b="0" dirty="0">
                          <a:solidFill>
                            <a:srgbClr val="191B0E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33,300；本期淨利 9,300</a:t>
                      </a:r>
                    </a:p>
                  </a:txBody>
                  <a:tcPr marL="114300" marR="95250" marT="28575" marB="28575" anchor="ctr">
                    <a:solidFill>
                      <a:srgbClr val="F7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-number">
            <a:extLst>
              <a:ext uri="{FF2B5EF4-FFF2-40B4-BE49-F238E27FC236}">
                <a16:creationId xmlns:a16="http://schemas.microsoft.com/office/drawing/2014/main" id="{FB298DEF-7E01-4F14-A9F8-89DC8BE540C6}"/>
              </a:ext>
            </a:extLst>
          </p:cNvPr>
          <p:cNvSpPr>
            <a:spLocks noGrp="1"/>
          </p:cNvSpPr>
          <p:nvPr/>
        </p:nvSpPr>
        <p:spPr>
          <a:xfrm>
            <a:off x="10648950" y="6496050"/>
            <a:ext cx="552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350" b="0">
                <a:solidFill>
                  <a:srgbClr val="66654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6654F"/>
                </a:solidFill>
                <a:latin typeface="Noto Sans CJK TC"/>
                <a:ea typeface="Noto Sans CJK TC"/>
                <a:cs typeface="Noto Sans CJK T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19074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EF35AB9-FC1A-2B6A-882A-B693C37D6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894" y="523"/>
            <a:ext cx="6077412" cy="68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09981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裁剪</Template>
  <TotalTime>969</TotalTime>
  <Words>1526</Words>
  <Application>Microsoft Office PowerPoint</Application>
  <PresentationFormat>寬螢幕</PresentationFormat>
  <Paragraphs>406</Paragraphs>
  <Slides>36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2" baseType="lpstr">
      <vt:lpstr>MS Gothic</vt:lpstr>
      <vt:lpstr>Noto Sans CJK TC</vt:lpstr>
      <vt:lpstr>Aptos</vt:lpstr>
      <vt:lpstr>Franklin Gothic Book</vt:lpstr>
      <vt:lpstr>Symbol</vt:lpstr>
      <vt:lpstr>裁剪</vt:lpstr>
      <vt:lpstr>會計 ACCOUNTING 是什麼？</vt:lpstr>
      <vt:lpstr>Accounting：企業的語言</vt:lpstr>
      <vt:lpstr>會計學回答了什麼問題？</vt:lpstr>
      <vt:lpstr>PowerPoint 簡報</vt:lpstr>
      <vt:lpstr>哪些人關心這些問題？</vt:lpstr>
      <vt:lpstr>PowerPoint 簡報</vt:lpstr>
      <vt:lpstr>會計學如何回答這些問題？</vt:lpstr>
      <vt:lpstr>會計學的三大活動</vt:lpstr>
      <vt:lpstr>會計學如何運作？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林昌碩</dc:creator>
  <cp:lastModifiedBy>林昌碩</cp:lastModifiedBy>
  <cp:revision>9</cp:revision>
  <dcterms:created xsi:type="dcterms:W3CDTF">2025-08-23T11:00:35Z</dcterms:created>
  <dcterms:modified xsi:type="dcterms:W3CDTF">2026-09-21T05:17:40Z</dcterms:modified>
</cp:coreProperties>
</file>